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54864"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457200"/>
            <a:ext cx="3291840" cy="640080"/>
          </a:xfrm>
          <a:prstGeom prst="rect">
            <a:avLst/>
          </a:prstGeom>
          <a:noFill/>
        </p:spPr>
        <p:txBody>
          <a:bodyPr wrap="square">
            <a:spAutoFit/>
          </a:bodyPr>
          <a:lstStyle/>
          <a:p>
            <a:pPr algn="l"/>
            <a:r>
              <a:rPr sz="1300" b="1" i="0">
                <a:solidFill>
                  <a:srgbClr val="FFFFFF"/>
                </a:solidFill>
                <a:latin typeface="Zen Kaku Gothic New"/>
              </a:rPr>
              <a:t>SEVENRICH 会計事務所</a:t>
            </a:r>
          </a:p>
        </p:txBody>
      </p:sp>
      <p:sp>
        <p:nvSpPr>
          <p:cNvPr id="5" name="TextBox 4"/>
          <p:cNvSpPr txBox="1"/>
          <p:nvPr/>
        </p:nvSpPr>
        <p:spPr>
          <a:xfrm>
            <a:off x="365760" y="1371600"/>
            <a:ext cx="3291840" cy="1828800"/>
          </a:xfrm>
          <a:prstGeom prst="rect">
            <a:avLst/>
          </a:prstGeom>
          <a:noFill/>
        </p:spPr>
        <p:txBody>
          <a:bodyPr wrap="square">
            <a:spAutoFit/>
          </a:bodyPr>
          <a:lstStyle/>
          <a:p>
            <a:pPr algn="l"/>
            <a:r>
              <a:rPr sz="2800" b="1" i="0">
                <a:solidFill>
                  <a:srgbClr val="FFFFFF"/>
                </a:solidFill>
                <a:latin typeface="Zen Kaku Gothic New"/>
              </a:rPr>
              <a:t>新規顧客向け
ガイドブック</a:t>
            </a:r>
          </a:p>
        </p:txBody>
      </p:sp>
      <p:sp>
        <p:nvSpPr>
          <p:cNvPr id="6" name="TextBox 5"/>
          <p:cNvSpPr txBox="1"/>
          <p:nvPr/>
        </p:nvSpPr>
        <p:spPr>
          <a:xfrm>
            <a:off x="365760" y="3383280"/>
            <a:ext cx="3291840" cy="914400"/>
          </a:xfrm>
          <a:prstGeom prst="rect">
            <a:avLst/>
          </a:prstGeom>
          <a:noFill/>
        </p:spPr>
        <p:txBody>
          <a:bodyPr wrap="square">
            <a:spAutoFit/>
          </a:bodyPr>
          <a:lstStyle/>
          <a:p>
            <a:pPr algn="l"/>
            <a:r>
              <a:rPr sz="1200" b="0" i="0">
                <a:solidFill>
                  <a:srgbClr val="888888"/>
                </a:solidFill>
                <a:latin typeface="Zen Kaku Gothic New"/>
              </a:rPr>
              <a:t>会社設立後に知っておくべき
税務・経理の基本</a:t>
            </a:r>
          </a:p>
        </p:txBody>
      </p:sp>
      <p:sp>
        <p:nvSpPr>
          <p:cNvPr id="7" name="TextBox 6"/>
          <p:cNvSpPr txBox="1"/>
          <p:nvPr/>
        </p:nvSpPr>
        <p:spPr>
          <a:xfrm>
            <a:off x="365760" y="6126480"/>
            <a:ext cx="3291840" cy="457200"/>
          </a:xfrm>
          <a:prstGeom prst="rect">
            <a:avLst/>
          </a:prstGeom>
          <a:noFill/>
        </p:spPr>
        <p:txBody>
          <a:bodyPr wrap="square">
            <a:spAutoFit/>
          </a:bodyPr>
          <a:lstStyle/>
          <a:p>
            <a:pPr algn="l"/>
            <a:r>
              <a:rPr sz="1000" b="0" i="0">
                <a:solidFill>
                  <a:srgbClr val="888888"/>
                </a:solidFill>
                <a:latin typeface="Zen Kaku Gothic New"/>
              </a:rPr>
              <a:t>2026年版</a:t>
            </a:r>
          </a:p>
        </p:txBody>
      </p:sp>
      <p:sp>
        <p:nvSpPr>
          <p:cNvPr id="8" name="TextBox 7"/>
          <p:cNvSpPr txBox="1"/>
          <p:nvPr/>
        </p:nvSpPr>
        <p:spPr>
          <a:xfrm>
            <a:off x="4206240" y="548640"/>
            <a:ext cx="7315200" cy="457200"/>
          </a:xfrm>
          <a:prstGeom prst="rect">
            <a:avLst/>
          </a:prstGeom>
          <a:noFill/>
        </p:spPr>
        <p:txBody>
          <a:bodyPr wrap="square">
            <a:spAutoFit/>
          </a:bodyPr>
          <a:lstStyle/>
          <a:p>
            <a:pPr algn="l"/>
            <a:r>
              <a:rPr sz="1100" b="1" i="0">
                <a:solidFill>
                  <a:srgbClr val="CC0000"/>
                </a:solidFill>
                <a:latin typeface="Zen Kaku Gothic New"/>
              </a:rPr>
              <a:t>CONTENTS</a:t>
            </a:r>
          </a:p>
        </p:txBody>
      </p:sp>
      <p:sp>
        <p:nvSpPr>
          <p:cNvPr id="9" name="Rectangle 8"/>
          <p:cNvSpPr/>
          <p:nvPr/>
        </p:nvSpPr>
        <p:spPr>
          <a:xfrm>
            <a:off x="4206240" y="1097280"/>
            <a:ext cx="7680960" cy="8046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170432"/>
            <a:ext cx="548640" cy="411480"/>
          </a:xfrm>
          <a:prstGeom prst="rect">
            <a:avLst/>
          </a:prstGeom>
          <a:noFill/>
        </p:spPr>
        <p:txBody>
          <a:bodyPr wrap="square">
            <a:spAutoFit/>
          </a:bodyPr>
          <a:lstStyle/>
          <a:p>
            <a:pPr algn="l"/>
            <a:r>
              <a:rPr sz="1800" b="1" i="0">
                <a:solidFill>
                  <a:srgbClr val="CC0000"/>
                </a:solidFill>
                <a:latin typeface="Zen Kaku Gothic New"/>
              </a:rPr>
              <a:t>01</a:t>
            </a:r>
          </a:p>
        </p:txBody>
      </p:sp>
      <p:sp>
        <p:nvSpPr>
          <p:cNvPr id="11" name="TextBox 10"/>
          <p:cNvSpPr txBox="1"/>
          <p:nvPr/>
        </p:nvSpPr>
        <p:spPr>
          <a:xfrm>
            <a:off x="5029200" y="1152144"/>
            <a:ext cx="6583680" cy="384048"/>
          </a:xfrm>
          <a:prstGeom prst="rect">
            <a:avLst/>
          </a:prstGeom>
          <a:noFill/>
        </p:spPr>
        <p:txBody>
          <a:bodyPr wrap="square">
            <a:spAutoFit/>
          </a:bodyPr>
          <a:lstStyle/>
          <a:p>
            <a:pPr algn="l"/>
            <a:r>
              <a:rPr sz="1400" b="1" i="0">
                <a:solidFill>
                  <a:srgbClr val="1A1A1A"/>
                </a:solidFill>
                <a:latin typeface="Zen Kaku Gothic New"/>
              </a:rPr>
              <a:t>設立後の対応チェックリスト</a:t>
            </a:r>
          </a:p>
        </p:txBody>
      </p:sp>
      <p:sp>
        <p:nvSpPr>
          <p:cNvPr id="12" name="TextBox 11"/>
          <p:cNvSpPr txBox="1"/>
          <p:nvPr/>
        </p:nvSpPr>
        <p:spPr>
          <a:xfrm>
            <a:off x="5029200" y="1536192"/>
            <a:ext cx="6583680" cy="320040"/>
          </a:xfrm>
          <a:prstGeom prst="rect">
            <a:avLst/>
          </a:prstGeom>
          <a:noFill/>
        </p:spPr>
        <p:txBody>
          <a:bodyPr wrap="square">
            <a:spAutoFit/>
          </a:bodyPr>
          <a:lstStyle/>
          <a:p>
            <a:pPr algn="l"/>
            <a:r>
              <a:rPr sz="900" b="0" i="0">
                <a:solidFill>
                  <a:srgbClr val="444444"/>
                </a:solidFill>
                <a:latin typeface="Zen Kaku Gothic New"/>
              </a:rPr>
              <a:t>設立直後〜3ヶ月以内に行う各種手続きの一覧</a:t>
            </a:r>
          </a:p>
        </p:txBody>
      </p:sp>
      <p:sp>
        <p:nvSpPr>
          <p:cNvPr id="13" name="Rectangle 12"/>
          <p:cNvSpPr/>
          <p:nvPr/>
        </p:nvSpPr>
        <p:spPr>
          <a:xfrm>
            <a:off x="4206240" y="2011680"/>
            <a:ext cx="7680960" cy="8046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2084832"/>
            <a:ext cx="548640" cy="411480"/>
          </a:xfrm>
          <a:prstGeom prst="rect">
            <a:avLst/>
          </a:prstGeom>
          <a:noFill/>
        </p:spPr>
        <p:txBody>
          <a:bodyPr wrap="square">
            <a:spAutoFit/>
          </a:bodyPr>
          <a:lstStyle/>
          <a:p>
            <a:pPr algn="l"/>
            <a:r>
              <a:rPr sz="1800" b="1" i="0">
                <a:solidFill>
                  <a:srgbClr val="CC0000"/>
                </a:solidFill>
                <a:latin typeface="Zen Kaku Gothic New"/>
              </a:rPr>
              <a:t>02</a:t>
            </a:r>
          </a:p>
        </p:txBody>
      </p:sp>
      <p:sp>
        <p:nvSpPr>
          <p:cNvPr id="15" name="TextBox 14"/>
          <p:cNvSpPr txBox="1"/>
          <p:nvPr/>
        </p:nvSpPr>
        <p:spPr>
          <a:xfrm>
            <a:off x="5029200" y="2066544"/>
            <a:ext cx="6583680" cy="384048"/>
          </a:xfrm>
          <a:prstGeom prst="rect">
            <a:avLst/>
          </a:prstGeom>
          <a:noFill/>
        </p:spPr>
        <p:txBody>
          <a:bodyPr wrap="square">
            <a:spAutoFit/>
          </a:bodyPr>
          <a:lstStyle/>
          <a:p>
            <a:pPr algn="l"/>
            <a:r>
              <a:rPr sz="1400" b="1" i="0">
                <a:solidFill>
                  <a:srgbClr val="1A1A1A"/>
                </a:solidFill>
                <a:latin typeface="Zen Kaku Gothic New"/>
              </a:rPr>
              <a:t>月次の社内業務チェックリスト</a:t>
            </a:r>
          </a:p>
        </p:txBody>
      </p:sp>
      <p:sp>
        <p:nvSpPr>
          <p:cNvPr id="16" name="TextBox 15"/>
          <p:cNvSpPr txBox="1"/>
          <p:nvPr/>
        </p:nvSpPr>
        <p:spPr>
          <a:xfrm>
            <a:off x="5029200" y="2450592"/>
            <a:ext cx="6583680" cy="320040"/>
          </a:xfrm>
          <a:prstGeom prst="rect">
            <a:avLst/>
          </a:prstGeom>
          <a:noFill/>
        </p:spPr>
        <p:txBody>
          <a:bodyPr wrap="square">
            <a:spAutoFit/>
          </a:bodyPr>
          <a:lstStyle/>
          <a:p>
            <a:pPr algn="l"/>
            <a:r>
              <a:rPr sz="900" b="0" i="0">
                <a:solidFill>
                  <a:srgbClr val="444444"/>
                </a:solidFill>
                <a:latin typeface="Zen Kaku Gothic New"/>
              </a:rPr>
              <a:t>毎月・毎週・日次で行うべき経理・労務業務の一覧</a:t>
            </a:r>
          </a:p>
        </p:txBody>
      </p:sp>
      <p:sp>
        <p:nvSpPr>
          <p:cNvPr id="17" name="Rectangle 16"/>
          <p:cNvSpPr/>
          <p:nvPr/>
        </p:nvSpPr>
        <p:spPr>
          <a:xfrm>
            <a:off x="4206240" y="2926080"/>
            <a:ext cx="7680960" cy="8046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2999232"/>
            <a:ext cx="548640" cy="411480"/>
          </a:xfrm>
          <a:prstGeom prst="rect">
            <a:avLst/>
          </a:prstGeom>
          <a:noFill/>
        </p:spPr>
        <p:txBody>
          <a:bodyPr wrap="square">
            <a:spAutoFit/>
          </a:bodyPr>
          <a:lstStyle/>
          <a:p>
            <a:pPr algn="l"/>
            <a:r>
              <a:rPr sz="1800" b="1" i="0">
                <a:solidFill>
                  <a:srgbClr val="CC0000"/>
                </a:solidFill>
                <a:latin typeface="Zen Kaku Gothic New"/>
              </a:rPr>
              <a:t>03</a:t>
            </a:r>
          </a:p>
        </p:txBody>
      </p:sp>
      <p:sp>
        <p:nvSpPr>
          <p:cNvPr id="19" name="TextBox 18"/>
          <p:cNvSpPr txBox="1"/>
          <p:nvPr/>
        </p:nvSpPr>
        <p:spPr>
          <a:xfrm>
            <a:off x="5029200" y="2980944"/>
            <a:ext cx="6583680" cy="384048"/>
          </a:xfrm>
          <a:prstGeom prst="rect">
            <a:avLst/>
          </a:prstGeom>
          <a:noFill/>
        </p:spPr>
        <p:txBody>
          <a:bodyPr wrap="square">
            <a:spAutoFit/>
          </a:bodyPr>
          <a:lstStyle/>
          <a:p>
            <a:pPr algn="l"/>
            <a:r>
              <a:rPr sz="1400" b="1" i="0">
                <a:solidFill>
                  <a:srgbClr val="1A1A1A"/>
                </a:solidFill>
                <a:latin typeface="Zen Kaku Gothic New"/>
              </a:rPr>
              <a:t>年間の税務スケジュール</a:t>
            </a:r>
          </a:p>
        </p:txBody>
      </p:sp>
      <p:sp>
        <p:nvSpPr>
          <p:cNvPr id="20" name="TextBox 19"/>
          <p:cNvSpPr txBox="1"/>
          <p:nvPr/>
        </p:nvSpPr>
        <p:spPr>
          <a:xfrm>
            <a:off x="5029200" y="3364992"/>
            <a:ext cx="6583680" cy="320040"/>
          </a:xfrm>
          <a:prstGeom prst="rect">
            <a:avLst/>
          </a:prstGeom>
          <a:noFill/>
        </p:spPr>
        <p:txBody>
          <a:bodyPr wrap="square">
            <a:spAutoFit/>
          </a:bodyPr>
          <a:lstStyle/>
          <a:p>
            <a:pPr algn="l"/>
            <a:r>
              <a:rPr sz="900" b="0" i="0">
                <a:solidFill>
                  <a:srgbClr val="444444"/>
                </a:solidFill>
                <a:latin typeface="Zen Kaku Gothic New"/>
              </a:rPr>
              <a:t>主要税目の申告・納付カレンダー（3月決算法人の例）</a:t>
            </a:r>
          </a:p>
        </p:txBody>
      </p:sp>
      <p:sp>
        <p:nvSpPr>
          <p:cNvPr id="21" name="Rectangle 20"/>
          <p:cNvSpPr/>
          <p:nvPr/>
        </p:nvSpPr>
        <p:spPr>
          <a:xfrm>
            <a:off x="4206240" y="3840480"/>
            <a:ext cx="7680960" cy="8046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3913632"/>
            <a:ext cx="548640" cy="411480"/>
          </a:xfrm>
          <a:prstGeom prst="rect">
            <a:avLst/>
          </a:prstGeom>
          <a:noFill/>
        </p:spPr>
        <p:txBody>
          <a:bodyPr wrap="square">
            <a:spAutoFit/>
          </a:bodyPr>
          <a:lstStyle/>
          <a:p>
            <a:pPr algn="l"/>
            <a:r>
              <a:rPr sz="1800" b="1" i="0">
                <a:solidFill>
                  <a:srgbClr val="CC0000"/>
                </a:solidFill>
                <a:latin typeface="Zen Kaku Gothic New"/>
              </a:rPr>
              <a:t>04</a:t>
            </a:r>
          </a:p>
        </p:txBody>
      </p:sp>
      <p:sp>
        <p:nvSpPr>
          <p:cNvPr id="23" name="TextBox 22"/>
          <p:cNvSpPr txBox="1"/>
          <p:nvPr/>
        </p:nvSpPr>
        <p:spPr>
          <a:xfrm>
            <a:off x="5029200" y="3895344"/>
            <a:ext cx="6583680" cy="384048"/>
          </a:xfrm>
          <a:prstGeom prst="rect">
            <a:avLst/>
          </a:prstGeom>
          <a:noFill/>
        </p:spPr>
        <p:txBody>
          <a:bodyPr wrap="square">
            <a:spAutoFit/>
          </a:bodyPr>
          <a:lstStyle/>
          <a:p>
            <a:pPr algn="l"/>
            <a:r>
              <a:rPr sz="1400" b="1" i="0">
                <a:solidFill>
                  <a:srgbClr val="1A1A1A"/>
                </a:solidFill>
                <a:latin typeface="Zen Kaku Gothic New"/>
              </a:rPr>
              <a:t>消費税の基本</a:t>
            </a:r>
          </a:p>
        </p:txBody>
      </p:sp>
      <p:sp>
        <p:nvSpPr>
          <p:cNvPr id="24" name="TextBox 23"/>
          <p:cNvSpPr txBox="1"/>
          <p:nvPr/>
        </p:nvSpPr>
        <p:spPr>
          <a:xfrm>
            <a:off x="5029200" y="4279392"/>
            <a:ext cx="6583680" cy="320040"/>
          </a:xfrm>
          <a:prstGeom prst="rect">
            <a:avLst/>
          </a:prstGeom>
          <a:noFill/>
        </p:spPr>
        <p:txBody>
          <a:bodyPr wrap="square">
            <a:spAutoFit/>
          </a:bodyPr>
          <a:lstStyle/>
          <a:p>
            <a:pPr algn="l"/>
            <a:r>
              <a:rPr sz="900" b="0" i="0">
                <a:solidFill>
                  <a:srgbClr val="444444"/>
                </a:solidFill>
                <a:latin typeface="Zen Kaku Gothic New"/>
              </a:rPr>
              <a:t>課税・免税の判定とインボイス制度の概要</a:t>
            </a:r>
          </a:p>
        </p:txBody>
      </p:sp>
      <p:sp>
        <p:nvSpPr>
          <p:cNvPr id="25" name="Rectangle 24"/>
          <p:cNvSpPr/>
          <p:nvPr/>
        </p:nvSpPr>
        <p:spPr>
          <a:xfrm>
            <a:off x="4206240" y="4754880"/>
            <a:ext cx="7680960" cy="8046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4828032"/>
            <a:ext cx="548640" cy="411480"/>
          </a:xfrm>
          <a:prstGeom prst="rect">
            <a:avLst/>
          </a:prstGeom>
          <a:noFill/>
        </p:spPr>
        <p:txBody>
          <a:bodyPr wrap="square">
            <a:spAutoFit/>
          </a:bodyPr>
          <a:lstStyle/>
          <a:p>
            <a:pPr algn="l"/>
            <a:r>
              <a:rPr sz="1800" b="1" i="0">
                <a:solidFill>
                  <a:srgbClr val="CC0000"/>
                </a:solidFill>
                <a:latin typeface="Zen Kaku Gothic New"/>
              </a:rPr>
              <a:t>05</a:t>
            </a:r>
          </a:p>
        </p:txBody>
      </p:sp>
      <p:sp>
        <p:nvSpPr>
          <p:cNvPr id="27" name="TextBox 26"/>
          <p:cNvSpPr txBox="1"/>
          <p:nvPr/>
        </p:nvSpPr>
        <p:spPr>
          <a:xfrm>
            <a:off x="5029200" y="4809744"/>
            <a:ext cx="6583680" cy="384048"/>
          </a:xfrm>
          <a:prstGeom prst="rect">
            <a:avLst/>
          </a:prstGeom>
          <a:noFill/>
        </p:spPr>
        <p:txBody>
          <a:bodyPr wrap="square">
            <a:spAutoFit/>
          </a:bodyPr>
          <a:lstStyle/>
          <a:p>
            <a:pPr algn="l"/>
            <a:r>
              <a:rPr sz="1400" b="1" i="0">
                <a:solidFill>
                  <a:srgbClr val="1A1A1A"/>
                </a:solidFill>
                <a:latin typeface="Zen Kaku Gothic New"/>
              </a:rPr>
              <a:t>役員報酬の基本</a:t>
            </a:r>
          </a:p>
        </p:txBody>
      </p:sp>
      <p:sp>
        <p:nvSpPr>
          <p:cNvPr id="28" name="TextBox 27"/>
          <p:cNvSpPr txBox="1"/>
          <p:nvPr/>
        </p:nvSpPr>
        <p:spPr>
          <a:xfrm>
            <a:off x="5029200" y="5193792"/>
            <a:ext cx="6583680" cy="320040"/>
          </a:xfrm>
          <a:prstGeom prst="rect">
            <a:avLst/>
          </a:prstGeom>
          <a:noFill/>
        </p:spPr>
        <p:txBody>
          <a:bodyPr wrap="square">
            <a:spAutoFit/>
          </a:bodyPr>
          <a:lstStyle/>
          <a:p>
            <a:pPr algn="l"/>
            <a:r>
              <a:rPr sz="900" b="0" i="0">
                <a:solidFill>
                  <a:srgbClr val="444444"/>
                </a:solidFill>
                <a:latin typeface="Zen Kaku Gothic New"/>
              </a:rPr>
              <a:t>設立後3ヶ月ルールと定期同額給与の注意点</a:t>
            </a:r>
          </a:p>
        </p:txBody>
      </p:sp>
      <p:sp>
        <p:nvSpPr>
          <p:cNvPr id="29" name="Rectangle 28"/>
          <p:cNvSpPr/>
          <p:nvPr/>
        </p:nvSpPr>
        <p:spPr>
          <a:xfrm>
            <a:off x="4206240" y="5669280"/>
            <a:ext cx="7680960" cy="8046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43400" y="5742432"/>
            <a:ext cx="548640" cy="411480"/>
          </a:xfrm>
          <a:prstGeom prst="rect">
            <a:avLst/>
          </a:prstGeom>
          <a:noFill/>
        </p:spPr>
        <p:txBody>
          <a:bodyPr wrap="square">
            <a:spAutoFit/>
          </a:bodyPr>
          <a:lstStyle/>
          <a:p>
            <a:pPr algn="l"/>
            <a:r>
              <a:rPr sz="1800" b="1" i="0">
                <a:solidFill>
                  <a:srgbClr val="CC0000"/>
                </a:solidFill>
                <a:latin typeface="Zen Kaku Gothic New"/>
              </a:rPr>
              <a:t>06</a:t>
            </a:r>
          </a:p>
        </p:txBody>
      </p:sp>
      <p:sp>
        <p:nvSpPr>
          <p:cNvPr id="31" name="TextBox 30"/>
          <p:cNvSpPr txBox="1"/>
          <p:nvPr/>
        </p:nvSpPr>
        <p:spPr>
          <a:xfrm>
            <a:off x="5029200" y="5724144"/>
            <a:ext cx="6583680" cy="384048"/>
          </a:xfrm>
          <a:prstGeom prst="rect">
            <a:avLst/>
          </a:prstGeom>
          <a:noFill/>
        </p:spPr>
        <p:txBody>
          <a:bodyPr wrap="square">
            <a:spAutoFit/>
          </a:bodyPr>
          <a:lstStyle/>
          <a:p>
            <a:pPr algn="l"/>
            <a:r>
              <a:rPr sz="1400" b="1" i="0">
                <a:solidFill>
                  <a:srgbClr val="1A1A1A"/>
                </a:solidFill>
                <a:latin typeface="Zen Kaku Gothic New"/>
              </a:rPr>
              <a:t>よくある質問（FAQ）</a:t>
            </a:r>
          </a:p>
        </p:txBody>
      </p:sp>
      <p:sp>
        <p:nvSpPr>
          <p:cNvPr id="32" name="TextBox 31"/>
          <p:cNvSpPr txBox="1"/>
          <p:nvPr/>
        </p:nvSpPr>
        <p:spPr>
          <a:xfrm>
            <a:off x="5029200" y="6108192"/>
            <a:ext cx="6583680" cy="320040"/>
          </a:xfrm>
          <a:prstGeom prst="rect">
            <a:avLst/>
          </a:prstGeom>
          <a:noFill/>
        </p:spPr>
        <p:txBody>
          <a:bodyPr wrap="square">
            <a:spAutoFit/>
          </a:bodyPr>
          <a:lstStyle/>
          <a:p>
            <a:pPr algn="l"/>
            <a:r>
              <a:rPr sz="900" b="0" i="0">
                <a:solidFill>
                  <a:srgbClr val="444444"/>
                </a:solidFill>
                <a:latin typeface="Zen Kaku Gothic New"/>
              </a:rPr>
              <a:t>新規顧客からよく頂く質問と回答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Zen Kaku Gothic New"/>
              </a:rPr>
              <a:t>01</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Zen Kaku Gothic New"/>
              </a:rPr>
              <a:t>設立後の対応チェックリスト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Zen Kaku Gothic New"/>
              </a:rPr>
              <a:t>設立完了直後〜3ヶ月以内に行うべき手続きをまとめました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0"/>
            <a:ext cx="9601200" cy="822960"/>
          </a:xfrm>
          <a:prstGeom prst="rect">
            <a:avLst/>
          </a:prstGeom>
          <a:noFill/>
        </p:spPr>
        <p:txBody>
          <a:bodyPr wrap="square">
            <a:spAutoFit/>
          </a:bodyPr>
          <a:lstStyle/>
          <a:p>
            <a:pPr algn="l"/>
            <a:r>
              <a:rPr sz="1600" b="1" i="0">
                <a:solidFill>
                  <a:srgbClr val="FFFFFF"/>
                </a:solidFill>
                <a:latin typeface="Zen Kaku Gothic New"/>
              </a:rPr>
              <a:t>01  設立後の対応チェックリスト</a:t>
            </a:r>
          </a:p>
        </p:txBody>
      </p:sp>
      <p:sp>
        <p:nvSpPr>
          <p:cNvPr id="4" name="TextBox 3"/>
          <p:cNvSpPr txBox="1"/>
          <p:nvPr/>
        </p:nvSpPr>
        <p:spPr>
          <a:xfrm>
            <a:off x="9418320" y="0"/>
            <a:ext cx="2560320" cy="822960"/>
          </a:xfrm>
          <a:prstGeom prst="rect">
            <a:avLst/>
          </a:prstGeom>
          <a:noFill/>
        </p:spPr>
        <p:txBody>
          <a:bodyPr wrap="square">
            <a:spAutoFit/>
          </a:bodyPr>
          <a:lstStyle/>
          <a:p>
            <a:pPr algn="r"/>
            <a:r>
              <a:rPr sz="900" b="0" i="0">
                <a:solidFill>
                  <a:srgbClr val="888888"/>
                </a:solidFill>
                <a:latin typeface="Zen Kaku Gothic New"/>
              </a:rPr>
              <a:t>設立直後〜3ヶ月以内</a:t>
            </a:r>
          </a:p>
        </p:txBody>
      </p:sp>
      <p:sp>
        <p:nvSpPr>
          <p:cNvPr id="5" name="Rectangle 4"/>
          <p:cNvSpPr/>
          <p:nvPr/>
        </p:nvSpPr>
        <p:spPr>
          <a:xfrm>
            <a:off x="182880" y="960120"/>
            <a:ext cx="356616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356616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0880" y="960120"/>
            <a:ext cx="3566160" cy="438912"/>
          </a:xfrm>
          <a:prstGeom prst="rect">
            <a:avLst/>
          </a:prstGeom>
          <a:noFill/>
        </p:spPr>
        <p:txBody>
          <a:bodyPr wrap="square">
            <a:spAutoFit/>
          </a:bodyPr>
          <a:lstStyle/>
          <a:p>
            <a:pPr algn="l"/>
            <a:r>
              <a:rPr sz="1100" b="1" i="0">
                <a:solidFill>
                  <a:srgbClr val="FFFFFF"/>
                </a:solidFill>
                <a:latin typeface="Zen Kaku Gothic New"/>
              </a:rPr>
              <a:t>A. 税務署・自治体への届出</a:t>
            </a:r>
          </a:p>
        </p:txBody>
      </p:sp>
      <p:sp>
        <p:nvSpPr>
          <p:cNvPr id="8" name="Rectangle 7"/>
          <p:cNvSpPr/>
          <p:nvPr/>
        </p:nvSpPr>
        <p:spPr>
          <a:xfrm>
            <a:off x="290880" y="1517040"/>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2880" y="1463040"/>
            <a:ext cx="3098160" cy="274320"/>
          </a:xfrm>
          <a:prstGeom prst="rect">
            <a:avLst/>
          </a:prstGeom>
          <a:noFill/>
        </p:spPr>
        <p:txBody>
          <a:bodyPr wrap="square">
            <a:spAutoFit/>
          </a:bodyPr>
          <a:lstStyle/>
          <a:p>
            <a:pPr algn="l"/>
            <a:r>
              <a:rPr sz="950" b="1" i="0">
                <a:solidFill>
                  <a:srgbClr val="1A1A1A"/>
                </a:solidFill>
                <a:latin typeface="Zen Kaku Gothic New"/>
              </a:rPr>
              <a:t>法人設立届出書</a:t>
            </a:r>
          </a:p>
        </p:txBody>
      </p:sp>
      <p:sp>
        <p:nvSpPr>
          <p:cNvPr id="10" name="TextBox 9"/>
          <p:cNvSpPr txBox="1"/>
          <p:nvPr/>
        </p:nvSpPr>
        <p:spPr>
          <a:xfrm>
            <a:off x="542880" y="1719072"/>
            <a:ext cx="3098160" cy="347472"/>
          </a:xfrm>
          <a:prstGeom prst="rect">
            <a:avLst/>
          </a:prstGeom>
          <a:noFill/>
        </p:spPr>
        <p:txBody>
          <a:bodyPr wrap="square">
            <a:spAutoFit/>
          </a:bodyPr>
          <a:lstStyle/>
          <a:p>
            <a:pPr algn="l"/>
            <a:r>
              <a:rPr sz="800" b="0" i="0">
                <a:solidFill>
                  <a:srgbClr val="888888"/>
                </a:solidFill>
                <a:latin typeface="Zen Kaku Gothic New"/>
              </a:rPr>
              <a:t>税務署・都道府県・市区町村 各1通</a:t>
            </a:r>
          </a:p>
        </p:txBody>
      </p:sp>
      <p:sp>
        <p:nvSpPr>
          <p:cNvPr id="11" name="Rectangle 10"/>
          <p:cNvSpPr/>
          <p:nvPr/>
        </p:nvSpPr>
        <p:spPr>
          <a:xfrm>
            <a:off x="290880" y="2193696"/>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2880" y="2139696"/>
            <a:ext cx="3098160" cy="274320"/>
          </a:xfrm>
          <a:prstGeom prst="rect">
            <a:avLst/>
          </a:prstGeom>
          <a:noFill/>
        </p:spPr>
        <p:txBody>
          <a:bodyPr wrap="square">
            <a:spAutoFit/>
          </a:bodyPr>
          <a:lstStyle/>
          <a:p>
            <a:pPr algn="l"/>
            <a:r>
              <a:rPr sz="950" b="1" i="0">
                <a:solidFill>
                  <a:srgbClr val="1A1A1A"/>
                </a:solidFill>
                <a:latin typeface="Zen Kaku Gothic New"/>
              </a:rPr>
              <a:t>青色申告の承認申請書</a:t>
            </a:r>
          </a:p>
        </p:txBody>
      </p:sp>
      <p:sp>
        <p:nvSpPr>
          <p:cNvPr id="13" name="TextBox 12"/>
          <p:cNvSpPr txBox="1"/>
          <p:nvPr/>
        </p:nvSpPr>
        <p:spPr>
          <a:xfrm>
            <a:off x="542880" y="2395728"/>
            <a:ext cx="3098160" cy="347472"/>
          </a:xfrm>
          <a:prstGeom prst="rect">
            <a:avLst/>
          </a:prstGeom>
          <a:noFill/>
        </p:spPr>
        <p:txBody>
          <a:bodyPr wrap="square">
            <a:spAutoFit/>
          </a:bodyPr>
          <a:lstStyle/>
          <a:p>
            <a:pPr algn="l"/>
            <a:r>
              <a:rPr sz="800" b="0" i="0">
                <a:solidFill>
                  <a:srgbClr val="888888"/>
                </a:solidFill>
                <a:latin typeface="Zen Kaku Gothic New"/>
              </a:rPr>
              <a:t>設立後3ヶ月以内 または 最初の事業年度末</a:t>
            </a:r>
          </a:p>
        </p:txBody>
      </p:sp>
      <p:sp>
        <p:nvSpPr>
          <p:cNvPr id="14" name="Rectangle 13"/>
          <p:cNvSpPr/>
          <p:nvPr/>
        </p:nvSpPr>
        <p:spPr>
          <a:xfrm>
            <a:off x="290880" y="2870352"/>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880" y="2816352"/>
            <a:ext cx="3098160" cy="274320"/>
          </a:xfrm>
          <a:prstGeom prst="rect">
            <a:avLst/>
          </a:prstGeom>
          <a:noFill/>
        </p:spPr>
        <p:txBody>
          <a:bodyPr wrap="square">
            <a:spAutoFit/>
          </a:bodyPr>
          <a:lstStyle/>
          <a:p>
            <a:pPr algn="l"/>
            <a:r>
              <a:rPr sz="950" b="1" i="0">
                <a:solidFill>
                  <a:srgbClr val="1A1A1A"/>
                </a:solidFill>
                <a:latin typeface="Zen Kaku Gothic New"/>
              </a:rPr>
              <a:t>給与支払事務所等の開設届出書</a:t>
            </a:r>
          </a:p>
        </p:txBody>
      </p:sp>
      <p:sp>
        <p:nvSpPr>
          <p:cNvPr id="16" name="TextBox 15"/>
          <p:cNvSpPr txBox="1"/>
          <p:nvPr/>
        </p:nvSpPr>
        <p:spPr>
          <a:xfrm>
            <a:off x="542880" y="3072384"/>
            <a:ext cx="3098160" cy="347472"/>
          </a:xfrm>
          <a:prstGeom prst="rect">
            <a:avLst/>
          </a:prstGeom>
          <a:noFill/>
        </p:spPr>
        <p:txBody>
          <a:bodyPr wrap="square">
            <a:spAutoFit/>
          </a:bodyPr>
          <a:lstStyle/>
          <a:p>
            <a:pPr algn="l"/>
            <a:r>
              <a:rPr sz="800" b="0" i="0">
                <a:solidFill>
                  <a:srgbClr val="888888"/>
                </a:solidFill>
                <a:latin typeface="Zen Kaku Gothic New"/>
              </a:rPr>
              <a:t>開設から1ヶ月以内</a:t>
            </a:r>
          </a:p>
        </p:txBody>
      </p:sp>
      <p:sp>
        <p:nvSpPr>
          <p:cNvPr id="17" name="Rectangle 16"/>
          <p:cNvSpPr/>
          <p:nvPr/>
        </p:nvSpPr>
        <p:spPr>
          <a:xfrm>
            <a:off x="290880" y="3547008"/>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880" y="3493008"/>
            <a:ext cx="3098160" cy="274320"/>
          </a:xfrm>
          <a:prstGeom prst="rect">
            <a:avLst/>
          </a:prstGeom>
          <a:noFill/>
        </p:spPr>
        <p:txBody>
          <a:bodyPr wrap="square">
            <a:spAutoFit/>
          </a:bodyPr>
          <a:lstStyle/>
          <a:p>
            <a:pPr algn="l"/>
            <a:r>
              <a:rPr sz="950" b="1" i="0">
                <a:solidFill>
                  <a:srgbClr val="1A1A1A"/>
                </a:solidFill>
                <a:latin typeface="Zen Kaku Gothic New"/>
              </a:rPr>
              <a:t>源泉所得税 納期の特例承認申請書</a:t>
            </a:r>
          </a:p>
        </p:txBody>
      </p:sp>
      <p:sp>
        <p:nvSpPr>
          <p:cNvPr id="19" name="TextBox 18"/>
          <p:cNvSpPr txBox="1"/>
          <p:nvPr/>
        </p:nvSpPr>
        <p:spPr>
          <a:xfrm>
            <a:off x="542880" y="3749040"/>
            <a:ext cx="3098160" cy="347472"/>
          </a:xfrm>
          <a:prstGeom prst="rect">
            <a:avLst/>
          </a:prstGeom>
          <a:noFill/>
        </p:spPr>
        <p:txBody>
          <a:bodyPr wrap="square">
            <a:spAutoFit/>
          </a:bodyPr>
          <a:lstStyle/>
          <a:p>
            <a:pPr algn="l"/>
            <a:r>
              <a:rPr sz="800" b="0" i="0">
                <a:solidFill>
                  <a:srgbClr val="888888"/>
                </a:solidFill>
                <a:latin typeface="Zen Kaku Gothic New"/>
              </a:rPr>
              <a:t>常時10人未満の場合に選択可</a:t>
            </a:r>
          </a:p>
        </p:txBody>
      </p:sp>
      <p:sp>
        <p:nvSpPr>
          <p:cNvPr id="20" name="Rectangle 19"/>
          <p:cNvSpPr/>
          <p:nvPr/>
        </p:nvSpPr>
        <p:spPr>
          <a:xfrm>
            <a:off x="290880" y="4223664"/>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80" y="4169664"/>
            <a:ext cx="3098160" cy="274320"/>
          </a:xfrm>
          <a:prstGeom prst="rect">
            <a:avLst/>
          </a:prstGeom>
          <a:noFill/>
        </p:spPr>
        <p:txBody>
          <a:bodyPr wrap="square">
            <a:spAutoFit/>
          </a:bodyPr>
          <a:lstStyle/>
          <a:p>
            <a:pPr algn="l"/>
            <a:r>
              <a:rPr sz="950" b="1" i="0">
                <a:solidFill>
                  <a:srgbClr val="1A1A1A"/>
                </a:solidFill>
                <a:latin typeface="Zen Kaku Gothic New"/>
              </a:rPr>
              <a:t>消費税課税事業者選択届出書</a:t>
            </a:r>
          </a:p>
        </p:txBody>
      </p:sp>
      <p:sp>
        <p:nvSpPr>
          <p:cNvPr id="22" name="TextBox 21"/>
          <p:cNvSpPr txBox="1"/>
          <p:nvPr/>
        </p:nvSpPr>
        <p:spPr>
          <a:xfrm>
            <a:off x="542880" y="4425696"/>
            <a:ext cx="3098160" cy="347472"/>
          </a:xfrm>
          <a:prstGeom prst="rect">
            <a:avLst/>
          </a:prstGeom>
          <a:noFill/>
        </p:spPr>
        <p:txBody>
          <a:bodyPr wrap="square">
            <a:spAutoFit/>
          </a:bodyPr>
          <a:lstStyle/>
          <a:p>
            <a:pPr algn="l"/>
            <a:r>
              <a:rPr sz="800" b="0" i="0">
                <a:solidFill>
                  <a:srgbClr val="888888"/>
                </a:solidFill>
                <a:latin typeface="Zen Kaku Gothic New"/>
              </a:rPr>
              <a:t>インボイス登録事業者は必須確認</a:t>
            </a:r>
          </a:p>
        </p:txBody>
      </p:sp>
      <p:sp>
        <p:nvSpPr>
          <p:cNvPr id="23" name="Rectangle 22"/>
          <p:cNvSpPr/>
          <p:nvPr/>
        </p:nvSpPr>
        <p:spPr>
          <a:xfrm>
            <a:off x="290880" y="4900320"/>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880" y="4846320"/>
            <a:ext cx="3098160" cy="274320"/>
          </a:xfrm>
          <a:prstGeom prst="rect">
            <a:avLst/>
          </a:prstGeom>
          <a:noFill/>
        </p:spPr>
        <p:txBody>
          <a:bodyPr wrap="square">
            <a:spAutoFit/>
          </a:bodyPr>
          <a:lstStyle/>
          <a:p>
            <a:pPr algn="l"/>
            <a:r>
              <a:rPr sz="950" b="1" i="0">
                <a:solidFill>
                  <a:srgbClr val="1A1A1A"/>
                </a:solidFill>
                <a:latin typeface="Zen Kaku Gothic New"/>
              </a:rPr>
              <a:t>棚卸資産の評価方法の届出書</a:t>
            </a:r>
          </a:p>
        </p:txBody>
      </p:sp>
      <p:sp>
        <p:nvSpPr>
          <p:cNvPr id="25" name="TextBox 24"/>
          <p:cNvSpPr txBox="1"/>
          <p:nvPr/>
        </p:nvSpPr>
        <p:spPr>
          <a:xfrm>
            <a:off x="542880" y="5102352"/>
            <a:ext cx="3098160" cy="347472"/>
          </a:xfrm>
          <a:prstGeom prst="rect">
            <a:avLst/>
          </a:prstGeom>
          <a:noFill/>
        </p:spPr>
        <p:txBody>
          <a:bodyPr wrap="square">
            <a:spAutoFit/>
          </a:bodyPr>
          <a:lstStyle/>
          <a:p>
            <a:pPr algn="l"/>
            <a:r>
              <a:rPr sz="800" b="0" i="0">
                <a:solidFill>
                  <a:srgbClr val="888888"/>
                </a:solidFill>
                <a:latin typeface="Zen Kaku Gothic New"/>
              </a:rPr>
              <a:t>最初の事業年度の確定申告期限まで</a:t>
            </a:r>
          </a:p>
        </p:txBody>
      </p:sp>
      <p:sp>
        <p:nvSpPr>
          <p:cNvPr id="26" name="Rectangle 25"/>
          <p:cNvSpPr/>
          <p:nvPr/>
        </p:nvSpPr>
        <p:spPr>
          <a:xfrm>
            <a:off x="290880" y="5576976"/>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2880" y="5522976"/>
            <a:ext cx="3098160" cy="274320"/>
          </a:xfrm>
          <a:prstGeom prst="rect">
            <a:avLst/>
          </a:prstGeom>
          <a:noFill/>
        </p:spPr>
        <p:txBody>
          <a:bodyPr wrap="square">
            <a:spAutoFit/>
          </a:bodyPr>
          <a:lstStyle/>
          <a:p>
            <a:pPr algn="l"/>
            <a:r>
              <a:rPr sz="950" b="1" i="0">
                <a:solidFill>
                  <a:srgbClr val="1A1A1A"/>
                </a:solidFill>
                <a:latin typeface="Zen Kaku Gothic New"/>
              </a:rPr>
              <a:t>減価償却資産の償却方法の届出書</a:t>
            </a:r>
          </a:p>
        </p:txBody>
      </p:sp>
      <p:sp>
        <p:nvSpPr>
          <p:cNvPr id="28" name="TextBox 27"/>
          <p:cNvSpPr txBox="1"/>
          <p:nvPr/>
        </p:nvSpPr>
        <p:spPr>
          <a:xfrm>
            <a:off x="542880" y="5779008"/>
            <a:ext cx="3098160" cy="347472"/>
          </a:xfrm>
          <a:prstGeom prst="rect">
            <a:avLst/>
          </a:prstGeom>
          <a:noFill/>
        </p:spPr>
        <p:txBody>
          <a:bodyPr wrap="square">
            <a:spAutoFit/>
          </a:bodyPr>
          <a:lstStyle/>
          <a:p>
            <a:pPr algn="l"/>
            <a:r>
              <a:rPr sz="800" b="0" i="0">
                <a:solidFill>
                  <a:srgbClr val="888888"/>
                </a:solidFill>
                <a:latin typeface="Zen Kaku Gothic New"/>
              </a:rPr>
              <a:t>同上</a:t>
            </a:r>
          </a:p>
        </p:txBody>
      </p:sp>
      <p:sp>
        <p:nvSpPr>
          <p:cNvPr id="29" name="Rectangle 28"/>
          <p:cNvSpPr/>
          <p:nvPr/>
        </p:nvSpPr>
        <p:spPr>
          <a:xfrm>
            <a:off x="3931920" y="960120"/>
            <a:ext cx="356616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931920" y="960120"/>
            <a:ext cx="3566160" cy="43891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39920" y="960120"/>
            <a:ext cx="3566160" cy="438912"/>
          </a:xfrm>
          <a:prstGeom prst="rect">
            <a:avLst/>
          </a:prstGeom>
          <a:noFill/>
        </p:spPr>
        <p:txBody>
          <a:bodyPr wrap="square">
            <a:spAutoFit/>
          </a:bodyPr>
          <a:lstStyle/>
          <a:p>
            <a:pPr algn="l"/>
            <a:r>
              <a:rPr sz="1100" b="1" i="0">
                <a:solidFill>
                  <a:srgbClr val="FFFFFF"/>
                </a:solidFill>
                <a:latin typeface="Zen Kaku Gothic New"/>
              </a:rPr>
              <a:t>B. 金融機関・会計準備</a:t>
            </a:r>
          </a:p>
        </p:txBody>
      </p:sp>
      <p:sp>
        <p:nvSpPr>
          <p:cNvPr id="32" name="Rectangle 31"/>
          <p:cNvSpPr/>
          <p:nvPr/>
        </p:nvSpPr>
        <p:spPr>
          <a:xfrm>
            <a:off x="4039920" y="1517040"/>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1920" y="1463040"/>
            <a:ext cx="3098160" cy="274320"/>
          </a:xfrm>
          <a:prstGeom prst="rect">
            <a:avLst/>
          </a:prstGeom>
          <a:noFill/>
        </p:spPr>
        <p:txBody>
          <a:bodyPr wrap="square">
            <a:spAutoFit/>
          </a:bodyPr>
          <a:lstStyle/>
          <a:p>
            <a:pPr algn="l"/>
            <a:r>
              <a:rPr sz="950" b="1" i="0">
                <a:solidFill>
                  <a:srgbClr val="1A1A1A"/>
                </a:solidFill>
                <a:latin typeface="Zen Kaku Gothic New"/>
              </a:rPr>
              <a:t>法人口座の開設</a:t>
            </a:r>
          </a:p>
        </p:txBody>
      </p:sp>
      <p:sp>
        <p:nvSpPr>
          <p:cNvPr id="34" name="TextBox 33"/>
          <p:cNvSpPr txBox="1"/>
          <p:nvPr/>
        </p:nvSpPr>
        <p:spPr>
          <a:xfrm>
            <a:off x="4291920" y="1719072"/>
            <a:ext cx="3098160" cy="347472"/>
          </a:xfrm>
          <a:prstGeom prst="rect">
            <a:avLst/>
          </a:prstGeom>
          <a:noFill/>
        </p:spPr>
        <p:txBody>
          <a:bodyPr wrap="square">
            <a:spAutoFit/>
          </a:bodyPr>
          <a:lstStyle/>
          <a:p>
            <a:pPr algn="l"/>
            <a:r>
              <a:rPr sz="800" b="0" i="0">
                <a:solidFill>
                  <a:srgbClr val="888888"/>
                </a:solidFill>
                <a:latin typeface="Zen Kaku Gothic New"/>
              </a:rPr>
              <a:t>設立登記後すぐに申請（審査に時間がかかる場合あり）</a:t>
            </a:r>
          </a:p>
        </p:txBody>
      </p:sp>
      <p:sp>
        <p:nvSpPr>
          <p:cNvPr id="35" name="Rectangle 34"/>
          <p:cNvSpPr/>
          <p:nvPr/>
        </p:nvSpPr>
        <p:spPr>
          <a:xfrm>
            <a:off x="4039920" y="2193696"/>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91920" y="2139696"/>
            <a:ext cx="3098160" cy="274320"/>
          </a:xfrm>
          <a:prstGeom prst="rect">
            <a:avLst/>
          </a:prstGeom>
          <a:noFill/>
        </p:spPr>
        <p:txBody>
          <a:bodyPr wrap="square">
            <a:spAutoFit/>
          </a:bodyPr>
          <a:lstStyle/>
          <a:p>
            <a:pPr algn="l"/>
            <a:r>
              <a:rPr sz="950" b="1" i="0">
                <a:solidFill>
                  <a:srgbClr val="1A1A1A"/>
                </a:solidFill>
                <a:latin typeface="Zen Kaku Gothic New"/>
              </a:rPr>
              <a:t>法人クレジットカードの申請</a:t>
            </a:r>
          </a:p>
        </p:txBody>
      </p:sp>
      <p:sp>
        <p:nvSpPr>
          <p:cNvPr id="37" name="TextBox 36"/>
          <p:cNvSpPr txBox="1"/>
          <p:nvPr/>
        </p:nvSpPr>
        <p:spPr>
          <a:xfrm>
            <a:off x="4291920" y="2395728"/>
            <a:ext cx="3098160" cy="347472"/>
          </a:xfrm>
          <a:prstGeom prst="rect">
            <a:avLst/>
          </a:prstGeom>
          <a:noFill/>
        </p:spPr>
        <p:txBody>
          <a:bodyPr wrap="square">
            <a:spAutoFit/>
          </a:bodyPr>
          <a:lstStyle/>
          <a:p>
            <a:pPr algn="l"/>
            <a:r>
              <a:rPr sz="800" b="0" i="0">
                <a:solidFill>
                  <a:srgbClr val="888888"/>
                </a:solidFill>
                <a:latin typeface="Zen Kaku Gothic New"/>
              </a:rPr>
              <a:t>経費管理の効率化のため早めに</a:t>
            </a:r>
          </a:p>
        </p:txBody>
      </p:sp>
      <p:sp>
        <p:nvSpPr>
          <p:cNvPr id="38" name="Rectangle 37"/>
          <p:cNvSpPr/>
          <p:nvPr/>
        </p:nvSpPr>
        <p:spPr>
          <a:xfrm>
            <a:off x="4039920" y="2870352"/>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1920" y="2816352"/>
            <a:ext cx="3098160" cy="274320"/>
          </a:xfrm>
          <a:prstGeom prst="rect">
            <a:avLst/>
          </a:prstGeom>
          <a:noFill/>
        </p:spPr>
        <p:txBody>
          <a:bodyPr wrap="square">
            <a:spAutoFit/>
          </a:bodyPr>
          <a:lstStyle/>
          <a:p>
            <a:pPr algn="l"/>
            <a:r>
              <a:rPr sz="950" b="1" i="0">
                <a:solidFill>
                  <a:srgbClr val="1A1A1A"/>
                </a:solidFill>
                <a:latin typeface="Zen Kaku Gothic New"/>
              </a:rPr>
              <a:t>会計ソフトの導入・初期設定</a:t>
            </a:r>
          </a:p>
        </p:txBody>
      </p:sp>
      <p:sp>
        <p:nvSpPr>
          <p:cNvPr id="40" name="TextBox 39"/>
          <p:cNvSpPr txBox="1"/>
          <p:nvPr/>
        </p:nvSpPr>
        <p:spPr>
          <a:xfrm>
            <a:off x="4291920" y="3072384"/>
            <a:ext cx="3098160" cy="347472"/>
          </a:xfrm>
          <a:prstGeom prst="rect">
            <a:avLst/>
          </a:prstGeom>
          <a:noFill/>
        </p:spPr>
        <p:txBody>
          <a:bodyPr wrap="square">
            <a:spAutoFit/>
          </a:bodyPr>
          <a:lstStyle/>
          <a:p>
            <a:pPr algn="l"/>
            <a:r>
              <a:rPr sz="800" b="0" i="0">
                <a:solidFill>
                  <a:srgbClr val="888888"/>
                </a:solidFill>
                <a:latin typeface="Zen Kaku Gothic New"/>
              </a:rPr>
              <a:t>MFクラウド会計 / freee 等</a:t>
            </a:r>
          </a:p>
        </p:txBody>
      </p:sp>
      <p:sp>
        <p:nvSpPr>
          <p:cNvPr id="41" name="Rectangle 40"/>
          <p:cNvSpPr/>
          <p:nvPr/>
        </p:nvSpPr>
        <p:spPr>
          <a:xfrm>
            <a:off x="4039920" y="3547008"/>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91920" y="3493008"/>
            <a:ext cx="3098160" cy="274320"/>
          </a:xfrm>
          <a:prstGeom prst="rect">
            <a:avLst/>
          </a:prstGeom>
          <a:noFill/>
        </p:spPr>
        <p:txBody>
          <a:bodyPr wrap="square">
            <a:spAutoFit/>
          </a:bodyPr>
          <a:lstStyle/>
          <a:p>
            <a:pPr algn="l"/>
            <a:r>
              <a:rPr sz="950" b="1" i="0">
                <a:solidFill>
                  <a:srgbClr val="1A1A1A"/>
                </a:solidFill>
                <a:latin typeface="Zen Kaku Gothic New"/>
              </a:rPr>
              <a:t>電子帳簿保存法の対応確認</a:t>
            </a:r>
          </a:p>
        </p:txBody>
      </p:sp>
      <p:sp>
        <p:nvSpPr>
          <p:cNvPr id="43" name="TextBox 42"/>
          <p:cNvSpPr txBox="1"/>
          <p:nvPr/>
        </p:nvSpPr>
        <p:spPr>
          <a:xfrm>
            <a:off x="4291920" y="3749040"/>
            <a:ext cx="3098160" cy="347472"/>
          </a:xfrm>
          <a:prstGeom prst="rect">
            <a:avLst/>
          </a:prstGeom>
          <a:noFill/>
        </p:spPr>
        <p:txBody>
          <a:bodyPr wrap="square">
            <a:spAutoFit/>
          </a:bodyPr>
          <a:lstStyle/>
          <a:p>
            <a:pPr algn="l"/>
            <a:r>
              <a:rPr sz="800" b="0" i="0">
                <a:solidFill>
                  <a:srgbClr val="888888"/>
                </a:solidFill>
                <a:latin typeface="Zen Kaku Gothic New"/>
              </a:rPr>
              <a:t>電子取引データの保存方法を整備</a:t>
            </a:r>
          </a:p>
        </p:txBody>
      </p:sp>
      <p:sp>
        <p:nvSpPr>
          <p:cNvPr id="44" name="Rectangle 43"/>
          <p:cNvSpPr/>
          <p:nvPr/>
        </p:nvSpPr>
        <p:spPr>
          <a:xfrm>
            <a:off x="4039920" y="4223664"/>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91920" y="4169664"/>
            <a:ext cx="3098160" cy="274320"/>
          </a:xfrm>
          <a:prstGeom prst="rect">
            <a:avLst/>
          </a:prstGeom>
          <a:noFill/>
        </p:spPr>
        <p:txBody>
          <a:bodyPr wrap="square">
            <a:spAutoFit/>
          </a:bodyPr>
          <a:lstStyle/>
          <a:p>
            <a:pPr algn="l"/>
            <a:r>
              <a:rPr sz="950" b="1" i="0">
                <a:solidFill>
                  <a:srgbClr val="1A1A1A"/>
                </a:solidFill>
                <a:latin typeface="Zen Kaku Gothic New"/>
              </a:rPr>
              <a:t>インボイス登録番号の確認</a:t>
            </a:r>
          </a:p>
        </p:txBody>
      </p:sp>
      <p:sp>
        <p:nvSpPr>
          <p:cNvPr id="46" name="TextBox 45"/>
          <p:cNvSpPr txBox="1"/>
          <p:nvPr/>
        </p:nvSpPr>
        <p:spPr>
          <a:xfrm>
            <a:off x="4291920" y="4425696"/>
            <a:ext cx="3098160" cy="347472"/>
          </a:xfrm>
          <a:prstGeom prst="rect">
            <a:avLst/>
          </a:prstGeom>
          <a:noFill/>
        </p:spPr>
        <p:txBody>
          <a:bodyPr wrap="square">
            <a:spAutoFit/>
          </a:bodyPr>
          <a:lstStyle/>
          <a:p>
            <a:pPr algn="l"/>
            <a:r>
              <a:rPr sz="800" b="0" i="0">
                <a:solidFill>
                  <a:srgbClr val="888888"/>
                </a:solidFill>
                <a:latin typeface="Zen Kaku Gothic New"/>
              </a:rPr>
              <a:t>適格請求書発行事業者の登録申請</a:t>
            </a:r>
          </a:p>
        </p:txBody>
      </p:sp>
      <p:sp>
        <p:nvSpPr>
          <p:cNvPr id="47" name="Rectangle 46"/>
          <p:cNvSpPr/>
          <p:nvPr/>
        </p:nvSpPr>
        <p:spPr>
          <a:xfrm>
            <a:off x="4039920" y="4900320"/>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91920" y="4846320"/>
            <a:ext cx="3098160" cy="274320"/>
          </a:xfrm>
          <a:prstGeom prst="rect">
            <a:avLst/>
          </a:prstGeom>
          <a:noFill/>
        </p:spPr>
        <p:txBody>
          <a:bodyPr wrap="square">
            <a:spAutoFit/>
          </a:bodyPr>
          <a:lstStyle/>
          <a:p>
            <a:pPr algn="l"/>
            <a:r>
              <a:rPr sz="950" b="1" i="0">
                <a:solidFill>
                  <a:srgbClr val="1A1A1A"/>
                </a:solidFill>
                <a:latin typeface="Zen Kaku Gothic New"/>
              </a:rPr>
              <a:t>法人印鑑証明書の取得</a:t>
            </a:r>
          </a:p>
        </p:txBody>
      </p:sp>
      <p:sp>
        <p:nvSpPr>
          <p:cNvPr id="49" name="TextBox 48"/>
          <p:cNvSpPr txBox="1"/>
          <p:nvPr/>
        </p:nvSpPr>
        <p:spPr>
          <a:xfrm>
            <a:off x="4291920" y="5102352"/>
            <a:ext cx="3098160" cy="347472"/>
          </a:xfrm>
          <a:prstGeom prst="rect">
            <a:avLst/>
          </a:prstGeom>
          <a:noFill/>
        </p:spPr>
        <p:txBody>
          <a:bodyPr wrap="square">
            <a:spAutoFit/>
          </a:bodyPr>
          <a:lstStyle/>
          <a:p>
            <a:pPr algn="l"/>
            <a:r>
              <a:rPr sz="800" b="0" i="0">
                <a:solidFill>
                  <a:srgbClr val="888888"/>
                </a:solidFill>
                <a:latin typeface="Zen Kaku Gothic New"/>
              </a:rPr>
              <a:t>各種手続きに複数枚必要</a:t>
            </a:r>
          </a:p>
        </p:txBody>
      </p:sp>
      <p:sp>
        <p:nvSpPr>
          <p:cNvPr id="50" name="Rectangle 49"/>
          <p:cNvSpPr/>
          <p:nvPr/>
        </p:nvSpPr>
        <p:spPr>
          <a:xfrm>
            <a:off x="4039920" y="5576976"/>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91920" y="5522976"/>
            <a:ext cx="3098160" cy="274320"/>
          </a:xfrm>
          <a:prstGeom prst="rect">
            <a:avLst/>
          </a:prstGeom>
          <a:noFill/>
        </p:spPr>
        <p:txBody>
          <a:bodyPr wrap="square">
            <a:spAutoFit/>
          </a:bodyPr>
          <a:lstStyle/>
          <a:p>
            <a:pPr algn="l"/>
            <a:r>
              <a:rPr sz="950" b="1" i="0">
                <a:solidFill>
                  <a:srgbClr val="1A1A1A"/>
                </a:solidFill>
                <a:latin typeface="Zen Kaku Gothic New"/>
              </a:rPr>
              <a:t>許認可の取得</a:t>
            </a:r>
          </a:p>
        </p:txBody>
      </p:sp>
      <p:sp>
        <p:nvSpPr>
          <p:cNvPr id="52" name="TextBox 51"/>
          <p:cNvSpPr txBox="1"/>
          <p:nvPr/>
        </p:nvSpPr>
        <p:spPr>
          <a:xfrm>
            <a:off x="4291920" y="5779008"/>
            <a:ext cx="3098160" cy="347472"/>
          </a:xfrm>
          <a:prstGeom prst="rect">
            <a:avLst/>
          </a:prstGeom>
          <a:noFill/>
        </p:spPr>
        <p:txBody>
          <a:bodyPr wrap="square">
            <a:spAutoFit/>
          </a:bodyPr>
          <a:lstStyle/>
          <a:p>
            <a:pPr algn="l"/>
            <a:r>
              <a:rPr sz="800" b="0" i="0">
                <a:solidFill>
                  <a:srgbClr val="888888"/>
                </a:solidFill>
                <a:latin typeface="Zen Kaku Gothic New"/>
              </a:rPr>
              <a:t>業種によって異なる（飲食・建設・医療等）</a:t>
            </a:r>
          </a:p>
        </p:txBody>
      </p:sp>
      <p:sp>
        <p:nvSpPr>
          <p:cNvPr id="53" name="Rectangle 52"/>
          <p:cNvSpPr/>
          <p:nvPr/>
        </p:nvSpPr>
        <p:spPr>
          <a:xfrm>
            <a:off x="7680960" y="960120"/>
            <a:ext cx="356616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680960" y="960120"/>
            <a:ext cx="3566160" cy="43891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88960" y="960120"/>
            <a:ext cx="3566160" cy="438912"/>
          </a:xfrm>
          <a:prstGeom prst="rect">
            <a:avLst/>
          </a:prstGeom>
          <a:noFill/>
        </p:spPr>
        <p:txBody>
          <a:bodyPr wrap="square">
            <a:spAutoFit/>
          </a:bodyPr>
          <a:lstStyle/>
          <a:p>
            <a:pPr algn="l"/>
            <a:r>
              <a:rPr sz="1100" b="1" i="0">
                <a:solidFill>
                  <a:srgbClr val="FFFFFF"/>
                </a:solidFill>
                <a:latin typeface="Zen Kaku Gothic New"/>
              </a:rPr>
              <a:t>C. 社会保険・労務</a:t>
            </a:r>
          </a:p>
        </p:txBody>
      </p:sp>
      <p:sp>
        <p:nvSpPr>
          <p:cNvPr id="56" name="Rectangle 55"/>
          <p:cNvSpPr/>
          <p:nvPr/>
        </p:nvSpPr>
        <p:spPr>
          <a:xfrm>
            <a:off x="7788960" y="1517040"/>
            <a:ext cx="162000" cy="1620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0960" y="1463040"/>
            <a:ext cx="3098160" cy="274320"/>
          </a:xfrm>
          <a:prstGeom prst="rect">
            <a:avLst/>
          </a:prstGeom>
          <a:noFill/>
        </p:spPr>
        <p:txBody>
          <a:bodyPr wrap="square">
            <a:spAutoFit/>
          </a:bodyPr>
          <a:lstStyle/>
          <a:p>
            <a:pPr algn="l"/>
            <a:r>
              <a:rPr sz="950" b="1" i="0">
                <a:solidFill>
                  <a:srgbClr val="1A1A1A"/>
                </a:solidFill>
                <a:latin typeface="Zen Kaku Gothic New"/>
              </a:rPr>
              <a:t>健康保険・厚生年金保険 新規適用届</a:t>
            </a:r>
          </a:p>
        </p:txBody>
      </p:sp>
      <p:sp>
        <p:nvSpPr>
          <p:cNvPr id="58" name="TextBox 57"/>
          <p:cNvSpPr txBox="1"/>
          <p:nvPr/>
        </p:nvSpPr>
        <p:spPr>
          <a:xfrm>
            <a:off x="8040960" y="1719072"/>
            <a:ext cx="3098160" cy="347472"/>
          </a:xfrm>
          <a:prstGeom prst="rect">
            <a:avLst/>
          </a:prstGeom>
          <a:noFill/>
        </p:spPr>
        <p:txBody>
          <a:bodyPr wrap="square">
            <a:spAutoFit/>
          </a:bodyPr>
          <a:lstStyle/>
          <a:p>
            <a:pPr algn="l"/>
            <a:r>
              <a:rPr sz="800" b="0" i="0">
                <a:solidFill>
                  <a:srgbClr val="888888"/>
                </a:solidFill>
                <a:latin typeface="Zen Kaku Gothic New"/>
              </a:rPr>
              <a:t>設立から5日以内</a:t>
            </a:r>
          </a:p>
        </p:txBody>
      </p:sp>
      <p:sp>
        <p:nvSpPr>
          <p:cNvPr id="59" name="Rectangle 58"/>
          <p:cNvSpPr/>
          <p:nvPr/>
        </p:nvSpPr>
        <p:spPr>
          <a:xfrm>
            <a:off x="7788960" y="2193696"/>
            <a:ext cx="162000" cy="1620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0960" y="2139696"/>
            <a:ext cx="3098160" cy="274320"/>
          </a:xfrm>
          <a:prstGeom prst="rect">
            <a:avLst/>
          </a:prstGeom>
          <a:noFill/>
        </p:spPr>
        <p:txBody>
          <a:bodyPr wrap="square">
            <a:spAutoFit/>
          </a:bodyPr>
          <a:lstStyle/>
          <a:p>
            <a:pPr algn="l"/>
            <a:r>
              <a:rPr sz="950" b="1" i="0">
                <a:solidFill>
                  <a:srgbClr val="1A1A1A"/>
                </a:solidFill>
                <a:latin typeface="Zen Kaku Gothic New"/>
              </a:rPr>
              <a:t>雇用保険 適用事業所設置届</a:t>
            </a:r>
          </a:p>
        </p:txBody>
      </p:sp>
      <p:sp>
        <p:nvSpPr>
          <p:cNvPr id="61" name="TextBox 60"/>
          <p:cNvSpPr txBox="1"/>
          <p:nvPr/>
        </p:nvSpPr>
        <p:spPr>
          <a:xfrm>
            <a:off x="8040960" y="2395728"/>
            <a:ext cx="3098160" cy="347472"/>
          </a:xfrm>
          <a:prstGeom prst="rect">
            <a:avLst/>
          </a:prstGeom>
          <a:noFill/>
        </p:spPr>
        <p:txBody>
          <a:bodyPr wrap="square">
            <a:spAutoFit/>
          </a:bodyPr>
          <a:lstStyle/>
          <a:p>
            <a:pPr algn="l"/>
            <a:r>
              <a:rPr sz="800" b="0" i="0">
                <a:solidFill>
                  <a:srgbClr val="888888"/>
                </a:solidFill>
                <a:latin typeface="Zen Kaku Gothic New"/>
              </a:rPr>
              <a:t>設立翌日から10日以内</a:t>
            </a:r>
          </a:p>
        </p:txBody>
      </p:sp>
      <p:sp>
        <p:nvSpPr>
          <p:cNvPr id="62" name="Rectangle 61"/>
          <p:cNvSpPr/>
          <p:nvPr/>
        </p:nvSpPr>
        <p:spPr>
          <a:xfrm>
            <a:off x="7788960" y="2870352"/>
            <a:ext cx="162000" cy="1620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40960" y="2816352"/>
            <a:ext cx="3098160" cy="274320"/>
          </a:xfrm>
          <a:prstGeom prst="rect">
            <a:avLst/>
          </a:prstGeom>
          <a:noFill/>
        </p:spPr>
        <p:txBody>
          <a:bodyPr wrap="square">
            <a:spAutoFit/>
          </a:bodyPr>
          <a:lstStyle/>
          <a:p>
            <a:pPr algn="l"/>
            <a:r>
              <a:rPr sz="950" b="1" i="0">
                <a:solidFill>
                  <a:srgbClr val="1A1A1A"/>
                </a:solidFill>
                <a:latin typeface="Zen Kaku Gothic New"/>
              </a:rPr>
              <a:t>労災保険 保険関係成立届</a:t>
            </a:r>
          </a:p>
        </p:txBody>
      </p:sp>
      <p:sp>
        <p:nvSpPr>
          <p:cNvPr id="64" name="TextBox 63"/>
          <p:cNvSpPr txBox="1"/>
          <p:nvPr/>
        </p:nvSpPr>
        <p:spPr>
          <a:xfrm>
            <a:off x="8040960" y="3072384"/>
            <a:ext cx="3098160" cy="347472"/>
          </a:xfrm>
          <a:prstGeom prst="rect">
            <a:avLst/>
          </a:prstGeom>
          <a:noFill/>
        </p:spPr>
        <p:txBody>
          <a:bodyPr wrap="square">
            <a:spAutoFit/>
          </a:bodyPr>
          <a:lstStyle/>
          <a:p>
            <a:pPr algn="l"/>
            <a:r>
              <a:rPr sz="800" b="0" i="0">
                <a:solidFill>
                  <a:srgbClr val="888888"/>
                </a:solidFill>
                <a:latin typeface="Zen Kaku Gothic New"/>
              </a:rPr>
              <a:t>保険関係成立の翌日から10日以内</a:t>
            </a:r>
          </a:p>
        </p:txBody>
      </p:sp>
      <p:sp>
        <p:nvSpPr>
          <p:cNvPr id="65" name="Rectangle 64"/>
          <p:cNvSpPr/>
          <p:nvPr/>
        </p:nvSpPr>
        <p:spPr>
          <a:xfrm>
            <a:off x="7788960" y="3547008"/>
            <a:ext cx="162000" cy="1620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40960" y="3493008"/>
            <a:ext cx="3098160" cy="274320"/>
          </a:xfrm>
          <a:prstGeom prst="rect">
            <a:avLst/>
          </a:prstGeom>
          <a:noFill/>
        </p:spPr>
        <p:txBody>
          <a:bodyPr wrap="square">
            <a:spAutoFit/>
          </a:bodyPr>
          <a:lstStyle/>
          <a:p>
            <a:pPr algn="l"/>
            <a:r>
              <a:rPr sz="950" b="1" i="0">
                <a:solidFill>
                  <a:srgbClr val="1A1A1A"/>
                </a:solidFill>
                <a:latin typeface="Zen Kaku Gothic New"/>
              </a:rPr>
              <a:t>役員報酬の決定</a:t>
            </a:r>
          </a:p>
        </p:txBody>
      </p:sp>
      <p:sp>
        <p:nvSpPr>
          <p:cNvPr id="67" name="TextBox 66"/>
          <p:cNvSpPr txBox="1"/>
          <p:nvPr/>
        </p:nvSpPr>
        <p:spPr>
          <a:xfrm>
            <a:off x="8040960" y="3749040"/>
            <a:ext cx="3098160" cy="347472"/>
          </a:xfrm>
          <a:prstGeom prst="rect">
            <a:avLst/>
          </a:prstGeom>
          <a:noFill/>
        </p:spPr>
        <p:txBody>
          <a:bodyPr wrap="square">
            <a:spAutoFit/>
          </a:bodyPr>
          <a:lstStyle/>
          <a:p>
            <a:pPr algn="l"/>
            <a:r>
              <a:rPr sz="800" b="0" i="0">
                <a:solidFill>
                  <a:srgbClr val="888888"/>
                </a:solidFill>
                <a:latin typeface="Zen Kaku Gothic New"/>
              </a:rPr>
              <a:t>設立後3ヶ月以内（定期同額給与の要件）</a:t>
            </a:r>
          </a:p>
        </p:txBody>
      </p:sp>
      <p:sp>
        <p:nvSpPr>
          <p:cNvPr id="68" name="Rectangle 67"/>
          <p:cNvSpPr/>
          <p:nvPr/>
        </p:nvSpPr>
        <p:spPr>
          <a:xfrm>
            <a:off x="7788960" y="4223664"/>
            <a:ext cx="162000" cy="1620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040960" y="4169664"/>
            <a:ext cx="3098160" cy="274320"/>
          </a:xfrm>
          <a:prstGeom prst="rect">
            <a:avLst/>
          </a:prstGeom>
          <a:noFill/>
        </p:spPr>
        <p:txBody>
          <a:bodyPr wrap="square">
            <a:spAutoFit/>
          </a:bodyPr>
          <a:lstStyle/>
          <a:p>
            <a:pPr algn="l"/>
            <a:r>
              <a:rPr sz="950" b="1" i="0">
                <a:solidFill>
                  <a:srgbClr val="1A1A1A"/>
                </a:solidFill>
                <a:latin typeface="Zen Kaku Gothic New"/>
              </a:rPr>
              <a:t>就業規則の作成</a:t>
            </a:r>
          </a:p>
        </p:txBody>
      </p:sp>
      <p:sp>
        <p:nvSpPr>
          <p:cNvPr id="70" name="TextBox 69"/>
          <p:cNvSpPr txBox="1"/>
          <p:nvPr/>
        </p:nvSpPr>
        <p:spPr>
          <a:xfrm>
            <a:off x="8040960" y="4425696"/>
            <a:ext cx="3098160" cy="347472"/>
          </a:xfrm>
          <a:prstGeom prst="rect">
            <a:avLst/>
          </a:prstGeom>
          <a:noFill/>
        </p:spPr>
        <p:txBody>
          <a:bodyPr wrap="square">
            <a:spAutoFit/>
          </a:bodyPr>
          <a:lstStyle/>
          <a:p>
            <a:pPr algn="l"/>
            <a:r>
              <a:rPr sz="800" b="0" i="0">
                <a:solidFill>
                  <a:srgbClr val="888888"/>
                </a:solidFill>
                <a:latin typeface="Zen Kaku Gothic New"/>
              </a:rPr>
              <a:t>常時10人以上の場合は届出義務</a:t>
            </a:r>
          </a:p>
        </p:txBody>
      </p:sp>
      <p:sp>
        <p:nvSpPr>
          <p:cNvPr id="71" name="Rectangle 70"/>
          <p:cNvSpPr/>
          <p:nvPr/>
        </p:nvSpPr>
        <p:spPr>
          <a:xfrm>
            <a:off x="7788960" y="4900320"/>
            <a:ext cx="162000" cy="1620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040960" y="4846320"/>
            <a:ext cx="3098160" cy="274320"/>
          </a:xfrm>
          <a:prstGeom prst="rect">
            <a:avLst/>
          </a:prstGeom>
          <a:noFill/>
        </p:spPr>
        <p:txBody>
          <a:bodyPr wrap="square">
            <a:spAutoFit/>
          </a:bodyPr>
          <a:lstStyle/>
          <a:p>
            <a:pPr algn="l"/>
            <a:r>
              <a:rPr sz="950" b="1" i="0">
                <a:solidFill>
                  <a:srgbClr val="1A1A1A"/>
                </a:solidFill>
                <a:latin typeface="Zen Kaku Gothic New"/>
              </a:rPr>
              <a:t>雇用契約書・労働条件通知書</a:t>
            </a:r>
          </a:p>
        </p:txBody>
      </p:sp>
      <p:sp>
        <p:nvSpPr>
          <p:cNvPr id="73" name="TextBox 72"/>
          <p:cNvSpPr txBox="1"/>
          <p:nvPr/>
        </p:nvSpPr>
        <p:spPr>
          <a:xfrm>
            <a:off x="8040960" y="5102352"/>
            <a:ext cx="3098160" cy="347472"/>
          </a:xfrm>
          <a:prstGeom prst="rect">
            <a:avLst/>
          </a:prstGeom>
          <a:noFill/>
        </p:spPr>
        <p:txBody>
          <a:bodyPr wrap="square">
            <a:spAutoFit/>
          </a:bodyPr>
          <a:lstStyle/>
          <a:p>
            <a:pPr algn="l"/>
            <a:r>
              <a:rPr sz="800" b="0" i="0">
                <a:solidFill>
                  <a:srgbClr val="888888"/>
                </a:solidFill>
                <a:latin typeface="Zen Kaku Gothic New"/>
              </a:rPr>
              <a:t>雇用開始前に交付</a:t>
            </a:r>
          </a:p>
        </p:txBody>
      </p:sp>
      <p:sp>
        <p:nvSpPr>
          <p:cNvPr id="74" name="Rectangle 73"/>
          <p:cNvSpPr/>
          <p:nvPr/>
        </p:nvSpPr>
        <p:spPr>
          <a:xfrm>
            <a:off x="7788960" y="5576976"/>
            <a:ext cx="162000" cy="1620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40960" y="5522976"/>
            <a:ext cx="3098160" cy="274320"/>
          </a:xfrm>
          <a:prstGeom prst="rect">
            <a:avLst/>
          </a:prstGeom>
          <a:noFill/>
        </p:spPr>
        <p:txBody>
          <a:bodyPr wrap="square">
            <a:spAutoFit/>
          </a:bodyPr>
          <a:lstStyle/>
          <a:p>
            <a:pPr algn="l"/>
            <a:r>
              <a:rPr sz="950" b="1" i="0">
                <a:solidFill>
                  <a:srgbClr val="1A1A1A"/>
                </a:solidFill>
                <a:latin typeface="Zen Kaku Gothic New"/>
              </a:rPr>
              <a:t>給与規程・旅費規程の整備</a:t>
            </a:r>
          </a:p>
        </p:txBody>
      </p:sp>
      <p:sp>
        <p:nvSpPr>
          <p:cNvPr id="76" name="TextBox 75"/>
          <p:cNvSpPr txBox="1"/>
          <p:nvPr/>
        </p:nvSpPr>
        <p:spPr>
          <a:xfrm>
            <a:off x="8040960" y="5779008"/>
            <a:ext cx="3098160" cy="347472"/>
          </a:xfrm>
          <a:prstGeom prst="rect">
            <a:avLst/>
          </a:prstGeom>
          <a:noFill/>
        </p:spPr>
        <p:txBody>
          <a:bodyPr wrap="square">
            <a:spAutoFit/>
          </a:bodyPr>
          <a:lstStyle/>
          <a:p>
            <a:pPr algn="l"/>
            <a:r>
              <a:rPr sz="800" b="0" i="0">
                <a:solidFill>
                  <a:srgbClr val="888888"/>
                </a:solidFill>
                <a:latin typeface="Zen Kaku Gothic New"/>
              </a:rPr>
              <a:t>経費精算ルールの明文化</a:t>
            </a:r>
          </a:p>
        </p:txBody>
      </p:sp>
      <p:sp>
        <p:nvSpPr>
          <p:cNvPr id="77" name="TextBox 76"/>
          <p:cNvSpPr txBox="1"/>
          <p:nvPr/>
        </p:nvSpPr>
        <p:spPr>
          <a:xfrm>
            <a:off x="182880" y="6355080"/>
            <a:ext cx="11887200" cy="365760"/>
          </a:xfrm>
          <a:prstGeom prst="rect">
            <a:avLst/>
          </a:prstGeom>
          <a:noFill/>
        </p:spPr>
        <p:txBody>
          <a:bodyPr wrap="square">
            <a:spAutoFit/>
          </a:bodyPr>
          <a:lstStyle/>
          <a:p>
            <a:pPr algn="l"/>
            <a:r>
              <a:rPr sz="800" b="0" i="0">
                <a:solidFill>
                  <a:srgbClr val="888888"/>
                </a:solidFill>
                <a:latin typeface="Zen Kaku Gothic New"/>
              </a:rPr>
              <a:t>※ 届出書の提出期限は設立日を起算点とするものが多く、遅延すると不利益が生じる場合があります。詳細はご相談ください。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Zen Kaku Gothic New"/>
              </a:rPr>
              <a:t>02</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Zen Kaku Gothic New"/>
              </a:rPr>
              <a:t>月次の社内業務チェックリスト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Zen Kaku Gothic New"/>
              </a:rPr>
              <a:t>毎月・毎週・日次で行うべき経理・労務業務の一覧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0"/>
            <a:ext cx="9601200" cy="822960"/>
          </a:xfrm>
          <a:prstGeom prst="rect">
            <a:avLst/>
          </a:prstGeom>
          <a:noFill/>
        </p:spPr>
        <p:txBody>
          <a:bodyPr wrap="square">
            <a:spAutoFit/>
          </a:bodyPr>
          <a:lstStyle/>
          <a:p>
            <a:pPr algn="l"/>
            <a:r>
              <a:rPr sz="1600" b="1" i="0">
                <a:solidFill>
                  <a:srgbClr val="FFFFFF"/>
                </a:solidFill>
                <a:latin typeface="Zen Kaku Gothic New"/>
              </a:rPr>
              <a:t>02  月次の社内業務チェックリスト</a:t>
            </a:r>
          </a:p>
        </p:txBody>
      </p:sp>
      <p:sp>
        <p:nvSpPr>
          <p:cNvPr id="4" name="Rectangle 3"/>
          <p:cNvSpPr/>
          <p:nvPr/>
        </p:nvSpPr>
        <p:spPr>
          <a:xfrm>
            <a:off x="182880" y="960120"/>
            <a:ext cx="265176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960120"/>
            <a:ext cx="2651760" cy="43891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0880" y="960120"/>
            <a:ext cx="2651760" cy="438912"/>
          </a:xfrm>
          <a:prstGeom prst="rect">
            <a:avLst/>
          </a:prstGeom>
          <a:noFill/>
        </p:spPr>
        <p:txBody>
          <a:bodyPr wrap="square">
            <a:spAutoFit/>
          </a:bodyPr>
          <a:lstStyle/>
          <a:p>
            <a:pPr algn="ctr"/>
            <a:r>
              <a:rPr sz="1300" b="1" i="0">
                <a:solidFill>
                  <a:srgbClr val="FFFFFF"/>
                </a:solidFill>
                <a:latin typeface="Zen Kaku Gothic New"/>
              </a:rPr>
              <a:t>日次</a:t>
            </a:r>
          </a:p>
        </p:txBody>
      </p:sp>
      <p:sp>
        <p:nvSpPr>
          <p:cNvPr id="7" name="Rectangle 6"/>
          <p:cNvSpPr/>
          <p:nvPr/>
        </p:nvSpPr>
        <p:spPr>
          <a:xfrm>
            <a:off x="290880" y="1517040"/>
            <a:ext cx="162000" cy="1620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2880" y="1463040"/>
            <a:ext cx="2183760" cy="292608"/>
          </a:xfrm>
          <a:prstGeom prst="rect">
            <a:avLst/>
          </a:prstGeom>
          <a:noFill/>
        </p:spPr>
        <p:txBody>
          <a:bodyPr wrap="square">
            <a:spAutoFit/>
          </a:bodyPr>
          <a:lstStyle/>
          <a:p>
            <a:pPr algn="l"/>
            <a:r>
              <a:rPr sz="950" b="1" i="0">
                <a:solidFill>
                  <a:srgbClr val="1A1A1A"/>
                </a:solidFill>
                <a:latin typeface="Zen Kaku Gothic New"/>
              </a:rPr>
              <a:t>領収書・請求書の収集</a:t>
            </a:r>
          </a:p>
        </p:txBody>
      </p:sp>
      <p:sp>
        <p:nvSpPr>
          <p:cNvPr id="9" name="TextBox 8"/>
          <p:cNvSpPr txBox="1"/>
          <p:nvPr/>
        </p:nvSpPr>
        <p:spPr>
          <a:xfrm>
            <a:off x="542880" y="1737360"/>
            <a:ext cx="2183760" cy="365760"/>
          </a:xfrm>
          <a:prstGeom prst="rect">
            <a:avLst/>
          </a:prstGeom>
          <a:noFill/>
        </p:spPr>
        <p:txBody>
          <a:bodyPr wrap="square">
            <a:spAutoFit/>
          </a:bodyPr>
          <a:lstStyle/>
          <a:p>
            <a:pPr algn="l"/>
            <a:r>
              <a:rPr sz="800" b="0" i="0">
                <a:solidFill>
                  <a:srgbClr val="888888"/>
                </a:solidFill>
                <a:latin typeface="Zen Kaku Gothic New"/>
              </a:rPr>
              <a:t>紙・電子ともに当日中に保管</a:t>
            </a:r>
          </a:p>
        </p:txBody>
      </p:sp>
      <p:sp>
        <p:nvSpPr>
          <p:cNvPr id="10" name="Rectangle 9"/>
          <p:cNvSpPr/>
          <p:nvPr/>
        </p:nvSpPr>
        <p:spPr>
          <a:xfrm>
            <a:off x="290880" y="2303424"/>
            <a:ext cx="162000" cy="1620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2880" y="2249424"/>
            <a:ext cx="2183760" cy="292608"/>
          </a:xfrm>
          <a:prstGeom prst="rect">
            <a:avLst/>
          </a:prstGeom>
          <a:noFill/>
        </p:spPr>
        <p:txBody>
          <a:bodyPr wrap="square">
            <a:spAutoFit/>
          </a:bodyPr>
          <a:lstStyle/>
          <a:p>
            <a:pPr algn="l"/>
            <a:r>
              <a:rPr sz="950" b="1" i="0">
                <a:solidFill>
                  <a:srgbClr val="1A1A1A"/>
                </a:solidFill>
                <a:latin typeface="Zen Kaku Gothic New"/>
              </a:rPr>
              <a:t>現金出納帳の記帳</a:t>
            </a:r>
          </a:p>
        </p:txBody>
      </p:sp>
      <p:sp>
        <p:nvSpPr>
          <p:cNvPr id="12" name="TextBox 11"/>
          <p:cNvSpPr txBox="1"/>
          <p:nvPr/>
        </p:nvSpPr>
        <p:spPr>
          <a:xfrm>
            <a:off x="542880" y="2523744"/>
            <a:ext cx="2183760" cy="365760"/>
          </a:xfrm>
          <a:prstGeom prst="rect">
            <a:avLst/>
          </a:prstGeom>
          <a:noFill/>
        </p:spPr>
        <p:txBody>
          <a:bodyPr wrap="square">
            <a:spAutoFit/>
          </a:bodyPr>
          <a:lstStyle/>
          <a:p>
            <a:pPr algn="l"/>
            <a:r>
              <a:rPr sz="800" b="0" i="0">
                <a:solidFill>
                  <a:srgbClr val="888888"/>
                </a:solidFill>
                <a:latin typeface="Zen Kaku Gothic New"/>
              </a:rPr>
              <a:t>現金残高を実際に確認</a:t>
            </a:r>
          </a:p>
        </p:txBody>
      </p:sp>
      <p:sp>
        <p:nvSpPr>
          <p:cNvPr id="13" name="Rectangle 12"/>
          <p:cNvSpPr/>
          <p:nvPr/>
        </p:nvSpPr>
        <p:spPr>
          <a:xfrm>
            <a:off x="290880" y="3089808"/>
            <a:ext cx="162000" cy="1620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880" y="3035808"/>
            <a:ext cx="2183760" cy="292608"/>
          </a:xfrm>
          <a:prstGeom prst="rect">
            <a:avLst/>
          </a:prstGeom>
          <a:noFill/>
        </p:spPr>
        <p:txBody>
          <a:bodyPr wrap="square">
            <a:spAutoFit/>
          </a:bodyPr>
          <a:lstStyle/>
          <a:p>
            <a:pPr algn="l"/>
            <a:r>
              <a:rPr sz="950" b="1" i="0">
                <a:solidFill>
                  <a:srgbClr val="1A1A1A"/>
                </a:solidFill>
                <a:latin typeface="Zen Kaku Gothic New"/>
              </a:rPr>
              <a:t>銀行入出金の確認</a:t>
            </a:r>
          </a:p>
        </p:txBody>
      </p:sp>
      <p:sp>
        <p:nvSpPr>
          <p:cNvPr id="15" name="TextBox 14"/>
          <p:cNvSpPr txBox="1"/>
          <p:nvPr/>
        </p:nvSpPr>
        <p:spPr>
          <a:xfrm>
            <a:off x="542880" y="3310128"/>
            <a:ext cx="2183760" cy="365760"/>
          </a:xfrm>
          <a:prstGeom prst="rect">
            <a:avLst/>
          </a:prstGeom>
          <a:noFill/>
        </p:spPr>
        <p:txBody>
          <a:bodyPr wrap="square">
            <a:spAutoFit/>
          </a:bodyPr>
          <a:lstStyle/>
          <a:p>
            <a:pPr algn="l"/>
            <a:r>
              <a:rPr sz="800" b="0" i="0">
                <a:solidFill>
                  <a:srgbClr val="888888"/>
                </a:solidFill>
                <a:latin typeface="Zen Kaku Gothic New"/>
              </a:rPr>
              <a:t>ネットバンキングで毎日チェック</a:t>
            </a:r>
          </a:p>
        </p:txBody>
      </p:sp>
      <p:sp>
        <p:nvSpPr>
          <p:cNvPr id="16" name="Rectangle 15"/>
          <p:cNvSpPr/>
          <p:nvPr/>
        </p:nvSpPr>
        <p:spPr>
          <a:xfrm>
            <a:off x="290880" y="3876192"/>
            <a:ext cx="162000" cy="1620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2880" y="3822192"/>
            <a:ext cx="2183760" cy="292608"/>
          </a:xfrm>
          <a:prstGeom prst="rect">
            <a:avLst/>
          </a:prstGeom>
          <a:noFill/>
        </p:spPr>
        <p:txBody>
          <a:bodyPr wrap="square">
            <a:spAutoFit/>
          </a:bodyPr>
          <a:lstStyle/>
          <a:p>
            <a:pPr algn="l"/>
            <a:r>
              <a:rPr sz="950" b="1" i="0">
                <a:solidFill>
                  <a:srgbClr val="1A1A1A"/>
                </a:solidFill>
                <a:latin typeface="Zen Kaku Gothic New"/>
              </a:rPr>
              <a:t>売上・入金の記録</a:t>
            </a:r>
          </a:p>
        </p:txBody>
      </p:sp>
      <p:sp>
        <p:nvSpPr>
          <p:cNvPr id="18" name="TextBox 17"/>
          <p:cNvSpPr txBox="1"/>
          <p:nvPr/>
        </p:nvSpPr>
        <p:spPr>
          <a:xfrm>
            <a:off x="542880" y="4096512"/>
            <a:ext cx="2183760" cy="365760"/>
          </a:xfrm>
          <a:prstGeom prst="rect">
            <a:avLst/>
          </a:prstGeom>
          <a:noFill/>
        </p:spPr>
        <p:txBody>
          <a:bodyPr wrap="square">
            <a:spAutoFit/>
          </a:bodyPr>
          <a:lstStyle/>
          <a:p>
            <a:pPr algn="l"/>
            <a:r>
              <a:rPr sz="800" b="0" i="0">
                <a:solidFill>
                  <a:srgbClr val="888888"/>
                </a:solidFill>
                <a:latin typeface="Zen Kaku Gothic New"/>
              </a:rPr>
              <a:t>入金漏れを早期発見するため</a:t>
            </a:r>
          </a:p>
        </p:txBody>
      </p:sp>
      <p:sp>
        <p:nvSpPr>
          <p:cNvPr id="19" name="Rectangle 18"/>
          <p:cNvSpPr/>
          <p:nvPr/>
        </p:nvSpPr>
        <p:spPr>
          <a:xfrm>
            <a:off x="3108960" y="960120"/>
            <a:ext cx="265176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08960" y="960120"/>
            <a:ext cx="2651760" cy="43891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16960" y="960120"/>
            <a:ext cx="2651760" cy="438912"/>
          </a:xfrm>
          <a:prstGeom prst="rect">
            <a:avLst/>
          </a:prstGeom>
          <a:noFill/>
        </p:spPr>
        <p:txBody>
          <a:bodyPr wrap="square">
            <a:spAutoFit/>
          </a:bodyPr>
          <a:lstStyle/>
          <a:p>
            <a:pPr algn="ctr"/>
            <a:r>
              <a:rPr sz="1300" b="1" i="0">
                <a:solidFill>
                  <a:srgbClr val="FFFFFF"/>
                </a:solidFill>
                <a:latin typeface="Zen Kaku Gothic New"/>
              </a:rPr>
              <a:t>週次</a:t>
            </a:r>
          </a:p>
        </p:txBody>
      </p:sp>
      <p:sp>
        <p:nvSpPr>
          <p:cNvPr id="22" name="Rectangle 21"/>
          <p:cNvSpPr/>
          <p:nvPr/>
        </p:nvSpPr>
        <p:spPr>
          <a:xfrm>
            <a:off x="3216960" y="1517040"/>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68960" y="1463040"/>
            <a:ext cx="2183760" cy="292608"/>
          </a:xfrm>
          <a:prstGeom prst="rect">
            <a:avLst/>
          </a:prstGeom>
          <a:noFill/>
        </p:spPr>
        <p:txBody>
          <a:bodyPr wrap="square">
            <a:spAutoFit/>
          </a:bodyPr>
          <a:lstStyle/>
          <a:p>
            <a:pPr algn="l"/>
            <a:r>
              <a:rPr sz="950" b="1" i="0">
                <a:solidFill>
                  <a:srgbClr val="1A1A1A"/>
                </a:solidFill>
                <a:latin typeface="Zen Kaku Gothic New"/>
              </a:rPr>
              <a:t>仕訳入力（会計ソフト）</a:t>
            </a:r>
          </a:p>
        </p:txBody>
      </p:sp>
      <p:sp>
        <p:nvSpPr>
          <p:cNvPr id="24" name="TextBox 23"/>
          <p:cNvSpPr txBox="1"/>
          <p:nvPr/>
        </p:nvSpPr>
        <p:spPr>
          <a:xfrm>
            <a:off x="3468960" y="1737360"/>
            <a:ext cx="2183760" cy="365760"/>
          </a:xfrm>
          <a:prstGeom prst="rect">
            <a:avLst/>
          </a:prstGeom>
          <a:noFill/>
        </p:spPr>
        <p:txBody>
          <a:bodyPr wrap="square">
            <a:spAutoFit/>
          </a:bodyPr>
          <a:lstStyle/>
          <a:p>
            <a:pPr algn="l"/>
            <a:r>
              <a:rPr sz="800" b="0" i="0">
                <a:solidFill>
                  <a:srgbClr val="888888"/>
                </a:solidFill>
                <a:latin typeface="Zen Kaku Gothic New"/>
              </a:rPr>
              <a:t>週1回まとめて入力が目安</a:t>
            </a:r>
          </a:p>
        </p:txBody>
      </p:sp>
      <p:sp>
        <p:nvSpPr>
          <p:cNvPr id="25" name="Rectangle 24"/>
          <p:cNvSpPr/>
          <p:nvPr/>
        </p:nvSpPr>
        <p:spPr>
          <a:xfrm>
            <a:off x="3216960" y="2303424"/>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68960" y="2249424"/>
            <a:ext cx="2183760" cy="292608"/>
          </a:xfrm>
          <a:prstGeom prst="rect">
            <a:avLst/>
          </a:prstGeom>
          <a:noFill/>
        </p:spPr>
        <p:txBody>
          <a:bodyPr wrap="square">
            <a:spAutoFit/>
          </a:bodyPr>
          <a:lstStyle/>
          <a:p>
            <a:pPr algn="l"/>
            <a:r>
              <a:rPr sz="950" b="1" i="0">
                <a:solidFill>
                  <a:srgbClr val="1A1A1A"/>
                </a:solidFill>
                <a:latin typeface="Zen Kaku Gothic New"/>
              </a:rPr>
              <a:t>未払請求書の確認</a:t>
            </a:r>
          </a:p>
        </p:txBody>
      </p:sp>
      <p:sp>
        <p:nvSpPr>
          <p:cNvPr id="27" name="TextBox 26"/>
          <p:cNvSpPr txBox="1"/>
          <p:nvPr/>
        </p:nvSpPr>
        <p:spPr>
          <a:xfrm>
            <a:off x="3468960" y="2523744"/>
            <a:ext cx="2183760" cy="365760"/>
          </a:xfrm>
          <a:prstGeom prst="rect">
            <a:avLst/>
          </a:prstGeom>
          <a:noFill/>
        </p:spPr>
        <p:txBody>
          <a:bodyPr wrap="square">
            <a:spAutoFit/>
          </a:bodyPr>
          <a:lstStyle/>
          <a:p>
            <a:pPr algn="l"/>
            <a:r>
              <a:rPr sz="800" b="0" i="0">
                <a:solidFill>
                  <a:srgbClr val="888888"/>
                </a:solidFill>
                <a:latin typeface="Zen Kaku Gothic New"/>
              </a:rPr>
              <a:t>支払期日の管理</a:t>
            </a:r>
          </a:p>
        </p:txBody>
      </p:sp>
      <p:sp>
        <p:nvSpPr>
          <p:cNvPr id="28" name="Rectangle 27"/>
          <p:cNvSpPr/>
          <p:nvPr/>
        </p:nvSpPr>
        <p:spPr>
          <a:xfrm>
            <a:off x="3216960" y="3089808"/>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68960" y="3035808"/>
            <a:ext cx="2183760" cy="292608"/>
          </a:xfrm>
          <a:prstGeom prst="rect">
            <a:avLst/>
          </a:prstGeom>
          <a:noFill/>
        </p:spPr>
        <p:txBody>
          <a:bodyPr wrap="square">
            <a:spAutoFit/>
          </a:bodyPr>
          <a:lstStyle/>
          <a:p>
            <a:pPr algn="l"/>
            <a:r>
              <a:rPr sz="950" b="1" i="0">
                <a:solidFill>
                  <a:srgbClr val="1A1A1A"/>
                </a:solidFill>
                <a:latin typeface="Zen Kaku Gothic New"/>
              </a:rPr>
              <a:t>売掛金・買掛金の確認</a:t>
            </a:r>
          </a:p>
        </p:txBody>
      </p:sp>
      <p:sp>
        <p:nvSpPr>
          <p:cNvPr id="30" name="TextBox 29"/>
          <p:cNvSpPr txBox="1"/>
          <p:nvPr/>
        </p:nvSpPr>
        <p:spPr>
          <a:xfrm>
            <a:off x="3468960" y="3310128"/>
            <a:ext cx="2183760" cy="365760"/>
          </a:xfrm>
          <a:prstGeom prst="rect">
            <a:avLst/>
          </a:prstGeom>
          <a:noFill/>
        </p:spPr>
        <p:txBody>
          <a:bodyPr wrap="square">
            <a:spAutoFit/>
          </a:bodyPr>
          <a:lstStyle/>
          <a:p>
            <a:pPr algn="l"/>
            <a:r>
              <a:rPr sz="800" b="0" i="0">
                <a:solidFill>
                  <a:srgbClr val="888888"/>
                </a:solidFill>
                <a:latin typeface="Zen Kaku Gothic New"/>
              </a:rPr>
              <a:t>回収漏れ・支払遅延の防止</a:t>
            </a:r>
          </a:p>
        </p:txBody>
      </p:sp>
      <p:sp>
        <p:nvSpPr>
          <p:cNvPr id="31" name="Rectangle 30"/>
          <p:cNvSpPr/>
          <p:nvPr/>
        </p:nvSpPr>
        <p:spPr>
          <a:xfrm>
            <a:off x="3216960" y="3876192"/>
            <a:ext cx="162000" cy="1620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68960" y="3822192"/>
            <a:ext cx="2183760" cy="292608"/>
          </a:xfrm>
          <a:prstGeom prst="rect">
            <a:avLst/>
          </a:prstGeom>
          <a:noFill/>
        </p:spPr>
        <p:txBody>
          <a:bodyPr wrap="square">
            <a:spAutoFit/>
          </a:bodyPr>
          <a:lstStyle/>
          <a:p>
            <a:pPr algn="l"/>
            <a:r>
              <a:rPr sz="950" b="1" i="0">
                <a:solidFill>
                  <a:srgbClr val="1A1A1A"/>
                </a:solidFill>
                <a:latin typeface="Zen Kaku Gothic New"/>
              </a:rPr>
              <a:t>経費精算の処理</a:t>
            </a:r>
          </a:p>
        </p:txBody>
      </p:sp>
      <p:sp>
        <p:nvSpPr>
          <p:cNvPr id="33" name="TextBox 32"/>
          <p:cNvSpPr txBox="1"/>
          <p:nvPr/>
        </p:nvSpPr>
        <p:spPr>
          <a:xfrm>
            <a:off x="3468960" y="4096512"/>
            <a:ext cx="2183760" cy="365760"/>
          </a:xfrm>
          <a:prstGeom prst="rect">
            <a:avLst/>
          </a:prstGeom>
          <a:noFill/>
        </p:spPr>
        <p:txBody>
          <a:bodyPr wrap="square">
            <a:spAutoFit/>
          </a:bodyPr>
          <a:lstStyle/>
          <a:p>
            <a:pPr algn="l"/>
            <a:r>
              <a:rPr sz="800" b="0" i="0">
                <a:solidFill>
                  <a:srgbClr val="888888"/>
                </a:solidFill>
                <a:latin typeface="Zen Kaku Gothic New"/>
              </a:rPr>
              <a:t>社員からの経費申請をまとめて処理</a:t>
            </a:r>
          </a:p>
        </p:txBody>
      </p:sp>
      <p:sp>
        <p:nvSpPr>
          <p:cNvPr id="34" name="Rectangle 33"/>
          <p:cNvSpPr/>
          <p:nvPr/>
        </p:nvSpPr>
        <p:spPr>
          <a:xfrm>
            <a:off x="5852160" y="960120"/>
            <a:ext cx="265176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0" y="960120"/>
            <a:ext cx="265176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60160" y="960120"/>
            <a:ext cx="2651760" cy="438912"/>
          </a:xfrm>
          <a:prstGeom prst="rect">
            <a:avLst/>
          </a:prstGeom>
          <a:noFill/>
        </p:spPr>
        <p:txBody>
          <a:bodyPr wrap="square">
            <a:spAutoFit/>
          </a:bodyPr>
          <a:lstStyle/>
          <a:p>
            <a:pPr algn="ctr"/>
            <a:r>
              <a:rPr sz="1300" b="1" i="0">
                <a:solidFill>
                  <a:srgbClr val="FFFFFF"/>
                </a:solidFill>
                <a:latin typeface="Zen Kaku Gothic New"/>
              </a:rPr>
              <a:t>月初（1〜10日）</a:t>
            </a:r>
          </a:p>
        </p:txBody>
      </p:sp>
      <p:sp>
        <p:nvSpPr>
          <p:cNvPr id="37" name="Rectangle 36"/>
          <p:cNvSpPr/>
          <p:nvPr/>
        </p:nvSpPr>
        <p:spPr>
          <a:xfrm>
            <a:off x="5960160" y="1517040"/>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2160" y="1463040"/>
            <a:ext cx="2183760" cy="292608"/>
          </a:xfrm>
          <a:prstGeom prst="rect">
            <a:avLst/>
          </a:prstGeom>
          <a:noFill/>
        </p:spPr>
        <p:txBody>
          <a:bodyPr wrap="square">
            <a:spAutoFit/>
          </a:bodyPr>
          <a:lstStyle/>
          <a:p>
            <a:pPr algn="l"/>
            <a:r>
              <a:rPr sz="950" b="1" i="0">
                <a:solidFill>
                  <a:srgbClr val="1A1A1A"/>
                </a:solidFill>
                <a:latin typeface="Zen Kaku Gothic New"/>
              </a:rPr>
              <a:t>前月の仕訳締め・確認</a:t>
            </a:r>
          </a:p>
        </p:txBody>
      </p:sp>
      <p:sp>
        <p:nvSpPr>
          <p:cNvPr id="39" name="TextBox 38"/>
          <p:cNvSpPr txBox="1"/>
          <p:nvPr/>
        </p:nvSpPr>
        <p:spPr>
          <a:xfrm>
            <a:off x="6212160" y="1737360"/>
            <a:ext cx="2183760" cy="365760"/>
          </a:xfrm>
          <a:prstGeom prst="rect">
            <a:avLst/>
          </a:prstGeom>
          <a:noFill/>
        </p:spPr>
        <p:txBody>
          <a:bodyPr wrap="square">
            <a:spAutoFit/>
          </a:bodyPr>
          <a:lstStyle/>
          <a:p>
            <a:pPr algn="l"/>
            <a:r>
              <a:rPr sz="800" b="0" i="0">
                <a:solidFill>
                  <a:srgbClr val="888888"/>
                </a:solidFill>
                <a:latin typeface="Zen Kaku Gothic New"/>
              </a:rPr>
              <a:t>会計ソフトで月次締め処理</a:t>
            </a:r>
          </a:p>
        </p:txBody>
      </p:sp>
      <p:sp>
        <p:nvSpPr>
          <p:cNvPr id="40" name="Rectangle 39"/>
          <p:cNvSpPr/>
          <p:nvPr/>
        </p:nvSpPr>
        <p:spPr>
          <a:xfrm>
            <a:off x="5960160" y="2303424"/>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2160" y="2249424"/>
            <a:ext cx="2183760" cy="292608"/>
          </a:xfrm>
          <a:prstGeom prst="rect">
            <a:avLst/>
          </a:prstGeom>
          <a:noFill/>
        </p:spPr>
        <p:txBody>
          <a:bodyPr wrap="square">
            <a:spAutoFit/>
          </a:bodyPr>
          <a:lstStyle/>
          <a:p>
            <a:pPr algn="l"/>
            <a:r>
              <a:rPr sz="950" b="1" i="0">
                <a:solidFill>
                  <a:srgbClr val="1A1A1A"/>
                </a:solidFill>
                <a:latin typeface="Zen Kaku Gothic New"/>
              </a:rPr>
              <a:t>給与計算</a:t>
            </a:r>
          </a:p>
        </p:txBody>
      </p:sp>
      <p:sp>
        <p:nvSpPr>
          <p:cNvPr id="42" name="TextBox 41"/>
          <p:cNvSpPr txBox="1"/>
          <p:nvPr/>
        </p:nvSpPr>
        <p:spPr>
          <a:xfrm>
            <a:off x="6212160" y="2523744"/>
            <a:ext cx="2183760" cy="365760"/>
          </a:xfrm>
          <a:prstGeom prst="rect">
            <a:avLst/>
          </a:prstGeom>
          <a:noFill/>
        </p:spPr>
        <p:txBody>
          <a:bodyPr wrap="square">
            <a:spAutoFit/>
          </a:bodyPr>
          <a:lstStyle/>
          <a:p>
            <a:pPr algn="l"/>
            <a:r>
              <a:rPr sz="800" b="0" i="0">
                <a:solidFill>
                  <a:srgbClr val="888888"/>
                </a:solidFill>
                <a:latin typeface="Zen Kaku Gothic New"/>
              </a:rPr>
              <a:t>締め日・支払日に合わせて実施</a:t>
            </a:r>
          </a:p>
        </p:txBody>
      </p:sp>
      <p:sp>
        <p:nvSpPr>
          <p:cNvPr id="43" name="Rectangle 42"/>
          <p:cNvSpPr/>
          <p:nvPr/>
        </p:nvSpPr>
        <p:spPr>
          <a:xfrm>
            <a:off x="5960160" y="3089808"/>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2160" y="3035808"/>
            <a:ext cx="2183760" cy="292608"/>
          </a:xfrm>
          <a:prstGeom prst="rect">
            <a:avLst/>
          </a:prstGeom>
          <a:noFill/>
        </p:spPr>
        <p:txBody>
          <a:bodyPr wrap="square">
            <a:spAutoFit/>
          </a:bodyPr>
          <a:lstStyle/>
          <a:p>
            <a:pPr algn="l"/>
            <a:r>
              <a:rPr sz="950" b="1" i="0">
                <a:solidFill>
                  <a:srgbClr val="1A1A1A"/>
                </a:solidFill>
                <a:latin typeface="Zen Kaku Gothic New"/>
              </a:rPr>
              <a:t>源泉所得税の納付</a:t>
            </a:r>
          </a:p>
        </p:txBody>
      </p:sp>
      <p:sp>
        <p:nvSpPr>
          <p:cNvPr id="45" name="TextBox 44"/>
          <p:cNvSpPr txBox="1"/>
          <p:nvPr/>
        </p:nvSpPr>
        <p:spPr>
          <a:xfrm>
            <a:off x="6212160" y="3310128"/>
            <a:ext cx="2183760" cy="365760"/>
          </a:xfrm>
          <a:prstGeom prst="rect">
            <a:avLst/>
          </a:prstGeom>
          <a:noFill/>
        </p:spPr>
        <p:txBody>
          <a:bodyPr wrap="square">
            <a:spAutoFit/>
          </a:bodyPr>
          <a:lstStyle/>
          <a:p>
            <a:pPr algn="l"/>
            <a:r>
              <a:rPr sz="800" b="0" i="0">
                <a:solidFill>
                  <a:srgbClr val="888888"/>
                </a:solidFill>
                <a:latin typeface="Zen Kaku Gothic New"/>
              </a:rPr>
              <a:t>翌月10日まで（特例：7月・1月）</a:t>
            </a:r>
          </a:p>
        </p:txBody>
      </p:sp>
      <p:sp>
        <p:nvSpPr>
          <p:cNvPr id="46" name="Rectangle 45"/>
          <p:cNvSpPr/>
          <p:nvPr/>
        </p:nvSpPr>
        <p:spPr>
          <a:xfrm>
            <a:off x="5960160" y="3876192"/>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2160" y="3822192"/>
            <a:ext cx="2183760" cy="292608"/>
          </a:xfrm>
          <a:prstGeom prst="rect">
            <a:avLst/>
          </a:prstGeom>
          <a:noFill/>
        </p:spPr>
        <p:txBody>
          <a:bodyPr wrap="square">
            <a:spAutoFit/>
          </a:bodyPr>
          <a:lstStyle/>
          <a:p>
            <a:pPr algn="l"/>
            <a:r>
              <a:rPr sz="950" b="1" i="0">
                <a:solidFill>
                  <a:srgbClr val="1A1A1A"/>
                </a:solidFill>
                <a:latin typeface="Zen Kaku Gothic New"/>
              </a:rPr>
              <a:t>社会保険料の納付</a:t>
            </a:r>
          </a:p>
        </p:txBody>
      </p:sp>
      <p:sp>
        <p:nvSpPr>
          <p:cNvPr id="48" name="TextBox 47"/>
          <p:cNvSpPr txBox="1"/>
          <p:nvPr/>
        </p:nvSpPr>
        <p:spPr>
          <a:xfrm>
            <a:off x="6212160" y="4096512"/>
            <a:ext cx="2183760" cy="365760"/>
          </a:xfrm>
          <a:prstGeom prst="rect">
            <a:avLst/>
          </a:prstGeom>
          <a:noFill/>
        </p:spPr>
        <p:txBody>
          <a:bodyPr wrap="square">
            <a:spAutoFit/>
          </a:bodyPr>
          <a:lstStyle/>
          <a:p>
            <a:pPr algn="l"/>
            <a:r>
              <a:rPr sz="800" b="0" i="0">
                <a:solidFill>
                  <a:srgbClr val="888888"/>
                </a:solidFill>
                <a:latin typeface="Zen Kaku Gothic New"/>
              </a:rPr>
              <a:t>翌月末まで（口座振替推奨）</a:t>
            </a:r>
          </a:p>
        </p:txBody>
      </p:sp>
      <p:sp>
        <p:nvSpPr>
          <p:cNvPr id="49" name="Rectangle 48"/>
          <p:cNvSpPr/>
          <p:nvPr/>
        </p:nvSpPr>
        <p:spPr>
          <a:xfrm>
            <a:off x="5960160" y="4662576"/>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2160" y="4608576"/>
            <a:ext cx="2183760" cy="292608"/>
          </a:xfrm>
          <a:prstGeom prst="rect">
            <a:avLst/>
          </a:prstGeom>
          <a:noFill/>
        </p:spPr>
        <p:txBody>
          <a:bodyPr wrap="square">
            <a:spAutoFit/>
          </a:bodyPr>
          <a:lstStyle/>
          <a:p>
            <a:pPr algn="l"/>
            <a:r>
              <a:rPr sz="950" b="1" i="0">
                <a:solidFill>
                  <a:srgbClr val="1A1A1A"/>
                </a:solidFill>
                <a:latin typeface="Zen Kaku Gothic New"/>
              </a:rPr>
              <a:t>試算表の確認</a:t>
            </a:r>
          </a:p>
        </p:txBody>
      </p:sp>
      <p:sp>
        <p:nvSpPr>
          <p:cNvPr id="51" name="TextBox 50"/>
          <p:cNvSpPr txBox="1"/>
          <p:nvPr/>
        </p:nvSpPr>
        <p:spPr>
          <a:xfrm>
            <a:off x="6212160" y="4882896"/>
            <a:ext cx="2183760" cy="365760"/>
          </a:xfrm>
          <a:prstGeom prst="rect">
            <a:avLst/>
          </a:prstGeom>
          <a:noFill/>
        </p:spPr>
        <p:txBody>
          <a:bodyPr wrap="square">
            <a:spAutoFit/>
          </a:bodyPr>
          <a:lstStyle/>
          <a:p>
            <a:pPr algn="l"/>
            <a:r>
              <a:rPr sz="800" b="0" i="0">
                <a:solidFill>
                  <a:srgbClr val="888888"/>
                </a:solidFill>
                <a:latin typeface="Zen Kaku Gothic New"/>
              </a:rPr>
              <a:t>前月の損益・貸借を経営者へ報告</a:t>
            </a:r>
          </a:p>
        </p:txBody>
      </p:sp>
      <p:sp>
        <p:nvSpPr>
          <p:cNvPr id="52" name="Rectangle 51"/>
          <p:cNvSpPr/>
          <p:nvPr/>
        </p:nvSpPr>
        <p:spPr>
          <a:xfrm>
            <a:off x="5960160" y="5448960"/>
            <a:ext cx="162000" cy="1620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2160" y="5394960"/>
            <a:ext cx="2183760" cy="292608"/>
          </a:xfrm>
          <a:prstGeom prst="rect">
            <a:avLst/>
          </a:prstGeom>
          <a:noFill/>
        </p:spPr>
        <p:txBody>
          <a:bodyPr wrap="square">
            <a:spAutoFit/>
          </a:bodyPr>
          <a:lstStyle/>
          <a:p>
            <a:pPr algn="l"/>
            <a:r>
              <a:rPr sz="950" b="1" i="0">
                <a:solidFill>
                  <a:srgbClr val="1A1A1A"/>
                </a:solidFill>
                <a:latin typeface="Zen Kaku Gothic New"/>
              </a:rPr>
              <a:t>資金繰り表の更新</a:t>
            </a:r>
          </a:p>
        </p:txBody>
      </p:sp>
      <p:sp>
        <p:nvSpPr>
          <p:cNvPr id="54" name="TextBox 53"/>
          <p:cNvSpPr txBox="1"/>
          <p:nvPr/>
        </p:nvSpPr>
        <p:spPr>
          <a:xfrm>
            <a:off x="6212160" y="5669280"/>
            <a:ext cx="2183760" cy="365760"/>
          </a:xfrm>
          <a:prstGeom prst="rect">
            <a:avLst/>
          </a:prstGeom>
          <a:noFill/>
        </p:spPr>
        <p:txBody>
          <a:bodyPr wrap="square">
            <a:spAutoFit/>
          </a:bodyPr>
          <a:lstStyle/>
          <a:p>
            <a:pPr algn="l"/>
            <a:r>
              <a:rPr sz="800" b="0" i="0">
                <a:solidFill>
                  <a:srgbClr val="888888"/>
                </a:solidFill>
                <a:latin typeface="Zen Kaku Gothic New"/>
              </a:rPr>
              <a:t>向こう3ヶ月の資金計画を見直し</a:t>
            </a:r>
          </a:p>
        </p:txBody>
      </p:sp>
      <p:sp>
        <p:nvSpPr>
          <p:cNvPr id="55" name="Rectangle 54"/>
          <p:cNvSpPr/>
          <p:nvPr/>
        </p:nvSpPr>
        <p:spPr>
          <a:xfrm>
            <a:off x="8686800" y="960120"/>
            <a:ext cx="265176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686800" y="960120"/>
            <a:ext cx="2651760" cy="43891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94800" y="960120"/>
            <a:ext cx="2651760" cy="438912"/>
          </a:xfrm>
          <a:prstGeom prst="rect">
            <a:avLst/>
          </a:prstGeom>
          <a:noFill/>
        </p:spPr>
        <p:txBody>
          <a:bodyPr wrap="square">
            <a:spAutoFit/>
          </a:bodyPr>
          <a:lstStyle/>
          <a:p>
            <a:pPr algn="ctr"/>
            <a:r>
              <a:rPr sz="1300" b="1" i="0">
                <a:solidFill>
                  <a:srgbClr val="FFFFFF"/>
                </a:solidFill>
                <a:latin typeface="Zen Kaku Gothic New"/>
              </a:rPr>
              <a:t>月末</a:t>
            </a:r>
          </a:p>
        </p:txBody>
      </p:sp>
      <p:sp>
        <p:nvSpPr>
          <p:cNvPr id="58" name="Rectangle 57"/>
          <p:cNvSpPr/>
          <p:nvPr/>
        </p:nvSpPr>
        <p:spPr>
          <a:xfrm>
            <a:off x="8794800" y="1517040"/>
            <a:ext cx="162000" cy="1620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46800" y="1463040"/>
            <a:ext cx="2183760" cy="292608"/>
          </a:xfrm>
          <a:prstGeom prst="rect">
            <a:avLst/>
          </a:prstGeom>
          <a:noFill/>
        </p:spPr>
        <p:txBody>
          <a:bodyPr wrap="square">
            <a:spAutoFit/>
          </a:bodyPr>
          <a:lstStyle/>
          <a:p>
            <a:pPr algn="l"/>
            <a:r>
              <a:rPr sz="950" b="1" i="0">
                <a:solidFill>
                  <a:srgbClr val="1A1A1A"/>
                </a:solidFill>
                <a:latin typeface="Zen Kaku Gothic New"/>
              </a:rPr>
              <a:t>売上・費用の計上確認</a:t>
            </a:r>
          </a:p>
        </p:txBody>
      </p:sp>
      <p:sp>
        <p:nvSpPr>
          <p:cNvPr id="60" name="TextBox 59"/>
          <p:cNvSpPr txBox="1"/>
          <p:nvPr/>
        </p:nvSpPr>
        <p:spPr>
          <a:xfrm>
            <a:off x="9046800" y="1737360"/>
            <a:ext cx="2183760" cy="365760"/>
          </a:xfrm>
          <a:prstGeom prst="rect">
            <a:avLst/>
          </a:prstGeom>
          <a:noFill/>
        </p:spPr>
        <p:txBody>
          <a:bodyPr wrap="square">
            <a:spAutoFit/>
          </a:bodyPr>
          <a:lstStyle/>
          <a:p>
            <a:pPr algn="l"/>
            <a:r>
              <a:rPr sz="800" b="0" i="0">
                <a:solidFill>
                  <a:srgbClr val="888888"/>
                </a:solidFill>
                <a:latin typeface="Zen Kaku Gothic New"/>
              </a:rPr>
              <a:t>発生主義で漏れなく計上</a:t>
            </a:r>
          </a:p>
        </p:txBody>
      </p:sp>
      <p:sp>
        <p:nvSpPr>
          <p:cNvPr id="61" name="Rectangle 60"/>
          <p:cNvSpPr/>
          <p:nvPr/>
        </p:nvSpPr>
        <p:spPr>
          <a:xfrm>
            <a:off x="8794800" y="2303424"/>
            <a:ext cx="162000" cy="1620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46800" y="2249424"/>
            <a:ext cx="2183760" cy="292608"/>
          </a:xfrm>
          <a:prstGeom prst="rect">
            <a:avLst/>
          </a:prstGeom>
          <a:noFill/>
        </p:spPr>
        <p:txBody>
          <a:bodyPr wrap="square">
            <a:spAutoFit/>
          </a:bodyPr>
          <a:lstStyle/>
          <a:p>
            <a:pPr algn="l"/>
            <a:r>
              <a:rPr sz="950" b="1" i="0">
                <a:solidFill>
                  <a:srgbClr val="1A1A1A"/>
                </a:solidFill>
                <a:latin typeface="Zen Kaku Gothic New"/>
              </a:rPr>
              <a:t>請求書の発行・送付</a:t>
            </a:r>
          </a:p>
        </p:txBody>
      </p:sp>
      <p:sp>
        <p:nvSpPr>
          <p:cNvPr id="63" name="TextBox 62"/>
          <p:cNvSpPr txBox="1"/>
          <p:nvPr/>
        </p:nvSpPr>
        <p:spPr>
          <a:xfrm>
            <a:off x="9046800" y="2523744"/>
            <a:ext cx="2183760" cy="365760"/>
          </a:xfrm>
          <a:prstGeom prst="rect">
            <a:avLst/>
          </a:prstGeom>
          <a:noFill/>
        </p:spPr>
        <p:txBody>
          <a:bodyPr wrap="square">
            <a:spAutoFit/>
          </a:bodyPr>
          <a:lstStyle/>
          <a:p>
            <a:pPr algn="l"/>
            <a:r>
              <a:rPr sz="800" b="0" i="0">
                <a:solidFill>
                  <a:srgbClr val="888888"/>
                </a:solidFill>
                <a:latin typeface="Zen Kaku Gothic New"/>
              </a:rPr>
              <a:t>取引先への請求を月末締めで</a:t>
            </a:r>
          </a:p>
        </p:txBody>
      </p:sp>
      <p:sp>
        <p:nvSpPr>
          <p:cNvPr id="64" name="Rectangle 63"/>
          <p:cNvSpPr/>
          <p:nvPr/>
        </p:nvSpPr>
        <p:spPr>
          <a:xfrm>
            <a:off x="8794800" y="3089808"/>
            <a:ext cx="162000" cy="1620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46800" y="3035808"/>
            <a:ext cx="2183760" cy="292608"/>
          </a:xfrm>
          <a:prstGeom prst="rect">
            <a:avLst/>
          </a:prstGeom>
          <a:noFill/>
        </p:spPr>
        <p:txBody>
          <a:bodyPr wrap="square">
            <a:spAutoFit/>
          </a:bodyPr>
          <a:lstStyle/>
          <a:p>
            <a:pPr algn="l"/>
            <a:r>
              <a:rPr sz="950" b="1" i="0">
                <a:solidFill>
                  <a:srgbClr val="1A1A1A"/>
                </a:solidFill>
                <a:latin typeface="Zen Kaku Gothic New"/>
              </a:rPr>
              <a:t>預金残高の突合</a:t>
            </a:r>
          </a:p>
        </p:txBody>
      </p:sp>
      <p:sp>
        <p:nvSpPr>
          <p:cNvPr id="66" name="TextBox 65"/>
          <p:cNvSpPr txBox="1"/>
          <p:nvPr/>
        </p:nvSpPr>
        <p:spPr>
          <a:xfrm>
            <a:off x="9046800" y="3310128"/>
            <a:ext cx="2183760" cy="365760"/>
          </a:xfrm>
          <a:prstGeom prst="rect">
            <a:avLst/>
          </a:prstGeom>
          <a:noFill/>
        </p:spPr>
        <p:txBody>
          <a:bodyPr wrap="square">
            <a:spAutoFit/>
          </a:bodyPr>
          <a:lstStyle/>
          <a:p>
            <a:pPr algn="l"/>
            <a:r>
              <a:rPr sz="800" b="0" i="0">
                <a:solidFill>
                  <a:srgbClr val="888888"/>
                </a:solidFill>
                <a:latin typeface="Zen Kaku Gothic New"/>
              </a:rPr>
              <a:t>帳簿残高と通帳残高の一致確認</a:t>
            </a:r>
          </a:p>
        </p:txBody>
      </p:sp>
      <p:sp>
        <p:nvSpPr>
          <p:cNvPr id="67" name="Rectangle 66"/>
          <p:cNvSpPr/>
          <p:nvPr/>
        </p:nvSpPr>
        <p:spPr>
          <a:xfrm>
            <a:off x="8794800" y="3876192"/>
            <a:ext cx="162000" cy="1620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46800" y="3822192"/>
            <a:ext cx="2183760" cy="292608"/>
          </a:xfrm>
          <a:prstGeom prst="rect">
            <a:avLst/>
          </a:prstGeom>
          <a:noFill/>
        </p:spPr>
        <p:txBody>
          <a:bodyPr wrap="square">
            <a:spAutoFit/>
          </a:bodyPr>
          <a:lstStyle/>
          <a:p>
            <a:pPr algn="l"/>
            <a:r>
              <a:rPr sz="950" b="1" i="0">
                <a:solidFill>
                  <a:srgbClr val="1A1A1A"/>
                </a:solidFill>
                <a:latin typeface="Zen Kaku Gothic New"/>
              </a:rPr>
              <a:t>棚卸</a:t>
            </a:r>
          </a:p>
        </p:txBody>
      </p:sp>
      <p:sp>
        <p:nvSpPr>
          <p:cNvPr id="69" name="TextBox 68"/>
          <p:cNvSpPr txBox="1"/>
          <p:nvPr/>
        </p:nvSpPr>
        <p:spPr>
          <a:xfrm>
            <a:off x="9046800" y="4096512"/>
            <a:ext cx="2183760" cy="365760"/>
          </a:xfrm>
          <a:prstGeom prst="rect">
            <a:avLst/>
          </a:prstGeom>
          <a:noFill/>
        </p:spPr>
        <p:txBody>
          <a:bodyPr wrap="square">
            <a:spAutoFit/>
          </a:bodyPr>
          <a:lstStyle/>
          <a:p>
            <a:pPr algn="l"/>
            <a:r>
              <a:rPr sz="800" b="0" i="0">
                <a:solidFill>
                  <a:srgbClr val="888888"/>
                </a:solidFill>
                <a:latin typeface="Zen Kaku Gothic New"/>
              </a:rPr>
              <a:t>在庫がある場合は月末に実施</a:t>
            </a:r>
          </a:p>
        </p:txBody>
      </p:sp>
      <p:sp>
        <p:nvSpPr>
          <p:cNvPr id="70" name="Rectangle 69"/>
          <p:cNvSpPr/>
          <p:nvPr/>
        </p:nvSpPr>
        <p:spPr>
          <a:xfrm>
            <a:off x="8794800" y="4662576"/>
            <a:ext cx="162000" cy="1620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46800" y="4608576"/>
            <a:ext cx="2183760" cy="292608"/>
          </a:xfrm>
          <a:prstGeom prst="rect">
            <a:avLst/>
          </a:prstGeom>
          <a:noFill/>
        </p:spPr>
        <p:txBody>
          <a:bodyPr wrap="square">
            <a:spAutoFit/>
          </a:bodyPr>
          <a:lstStyle/>
          <a:p>
            <a:pPr algn="l"/>
            <a:r>
              <a:rPr sz="950" b="1" i="0">
                <a:solidFill>
                  <a:srgbClr val="1A1A1A"/>
                </a:solidFill>
                <a:latin typeface="Zen Kaku Gothic New"/>
              </a:rPr>
              <a:t>翌月の資金繰り確認</a:t>
            </a:r>
          </a:p>
        </p:txBody>
      </p:sp>
      <p:sp>
        <p:nvSpPr>
          <p:cNvPr id="72" name="TextBox 71"/>
          <p:cNvSpPr txBox="1"/>
          <p:nvPr/>
        </p:nvSpPr>
        <p:spPr>
          <a:xfrm>
            <a:off x="9046800" y="4882896"/>
            <a:ext cx="2183760" cy="365760"/>
          </a:xfrm>
          <a:prstGeom prst="rect">
            <a:avLst/>
          </a:prstGeom>
          <a:noFill/>
        </p:spPr>
        <p:txBody>
          <a:bodyPr wrap="square">
            <a:spAutoFit/>
          </a:bodyPr>
          <a:lstStyle/>
          <a:p>
            <a:pPr algn="l"/>
            <a:r>
              <a:rPr sz="800" b="0" i="0">
                <a:solidFill>
                  <a:srgbClr val="888888"/>
                </a:solidFill>
                <a:latin typeface="Zen Kaku Gothic New"/>
              </a:rPr>
              <a:t>支払予定・入金予定の洗い出し</a:t>
            </a:r>
          </a:p>
        </p:txBody>
      </p:sp>
      <p:sp>
        <p:nvSpPr>
          <p:cNvPr id="73" name="Rectangle 72"/>
          <p:cNvSpPr/>
          <p:nvPr/>
        </p:nvSpPr>
        <p:spPr>
          <a:xfrm>
            <a:off x="8794800" y="5448960"/>
            <a:ext cx="162000" cy="1620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46800" y="5394960"/>
            <a:ext cx="2183760" cy="292608"/>
          </a:xfrm>
          <a:prstGeom prst="rect">
            <a:avLst/>
          </a:prstGeom>
          <a:noFill/>
        </p:spPr>
        <p:txBody>
          <a:bodyPr wrap="square">
            <a:spAutoFit/>
          </a:bodyPr>
          <a:lstStyle/>
          <a:p>
            <a:pPr algn="l"/>
            <a:r>
              <a:rPr sz="950" b="1" i="0">
                <a:solidFill>
                  <a:srgbClr val="1A1A1A"/>
                </a:solidFill>
                <a:latin typeface="Zen Kaku Gothic New"/>
              </a:rPr>
              <a:t>MFクラウド 月次レポート確認</a:t>
            </a:r>
          </a:p>
        </p:txBody>
      </p:sp>
      <p:sp>
        <p:nvSpPr>
          <p:cNvPr id="75" name="TextBox 74"/>
          <p:cNvSpPr txBox="1"/>
          <p:nvPr/>
        </p:nvSpPr>
        <p:spPr>
          <a:xfrm>
            <a:off x="9046800" y="5669280"/>
            <a:ext cx="2183760" cy="365760"/>
          </a:xfrm>
          <a:prstGeom prst="rect">
            <a:avLst/>
          </a:prstGeom>
          <a:noFill/>
        </p:spPr>
        <p:txBody>
          <a:bodyPr wrap="square">
            <a:spAutoFit/>
          </a:bodyPr>
          <a:lstStyle/>
          <a:p>
            <a:pPr algn="l"/>
            <a:r>
              <a:rPr sz="800" b="0" i="0">
                <a:solidFill>
                  <a:srgbClr val="888888"/>
                </a:solidFill>
                <a:latin typeface="Zen Kaku Gothic New"/>
              </a:rPr>
              <a:t>税理士との月次面談に備える</a:t>
            </a:r>
          </a:p>
        </p:txBody>
      </p:sp>
      <p:sp>
        <p:nvSpPr>
          <p:cNvPr id="76" name="TextBox 75"/>
          <p:cNvSpPr txBox="1"/>
          <p:nvPr/>
        </p:nvSpPr>
        <p:spPr>
          <a:xfrm>
            <a:off x="182880" y="6355080"/>
            <a:ext cx="11887200" cy="365760"/>
          </a:xfrm>
          <a:prstGeom prst="rect">
            <a:avLst/>
          </a:prstGeom>
          <a:noFill/>
        </p:spPr>
        <p:txBody>
          <a:bodyPr wrap="square">
            <a:spAutoFit/>
          </a:bodyPr>
          <a:lstStyle/>
          <a:p>
            <a:pPr algn="l"/>
            <a:r>
              <a:rPr sz="800" b="0" i="0">
                <a:solidFill>
                  <a:srgbClr val="888888"/>
                </a:solidFill>
                <a:latin typeface="Zen Kaku Gothic New"/>
              </a:rPr>
              <a:t>※ 源泉所得税の納期の特例（常時10人未満）を選択している場合は、1〜6月分を7月10日、7〜12月分を1月20日に一括納付します。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Zen Kaku Gothic New"/>
              </a:rPr>
              <a:t>03</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Zen Kaku Gothic New"/>
              </a:rPr>
              <a:t>年間の税務スケジュール</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Zen Kaku Gothic New"/>
              </a:rPr>
              <a:t>法人税・消費税・源泉所得税など主要税目の納期カレンダー（3月決算法人の例）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0"/>
            <a:ext cx="9601200" cy="822960"/>
          </a:xfrm>
          <a:prstGeom prst="rect">
            <a:avLst/>
          </a:prstGeom>
          <a:noFill/>
        </p:spPr>
        <p:txBody>
          <a:bodyPr wrap="square">
            <a:spAutoFit/>
          </a:bodyPr>
          <a:lstStyle/>
          <a:p>
            <a:pPr algn="l"/>
            <a:r>
              <a:rPr sz="1600" b="1" i="0">
                <a:solidFill>
                  <a:srgbClr val="FFFFFF"/>
                </a:solidFill>
                <a:latin typeface="Zen Kaku Gothic New"/>
              </a:rPr>
              <a:t>03  年間の税務スケジュール（3月決算法人の例）</a:t>
            </a:r>
          </a:p>
        </p:txBody>
      </p:sp>
      <p:sp>
        <p:nvSpPr>
          <p:cNvPr id="4" name="TextBox 3"/>
          <p:cNvSpPr txBox="1"/>
          <p:nvPr/>
        </p:nvSpPr>
        <p:spPr>
          <a:xfrm>
            <a:off x="9418320" y="0"/>
            <a:ext cx="2560320" cy="822960"/>
          </a:xfrm>
          <a:prstGeom prst="rect">
            <a:avLst/>
          </a:prstGeom>
          <a:noFill/>
        </p:spPr>
        <p:txBody>
          <a:bodyPr wrap="square">
            <a:spAutoFit/>
          </a:bodyPr>
          <a:lstStyle/>
          <a:p>
            <a:pPr algn="r"/>
            <a:r>
              <a:rPr sz="900" b="0" i="0">
                <a:solidFill>
                  <a:srgbClr val="888888"/>
                </a:solidFill>
                <a:latin typeface="Zen Kaku Gothic New"/>
              </a:rPr>
              <a:t>※ 決算月により異なります</a:t>
            </a:r>
          </a:p>
        </p:txBody>
      </p:sp>
      <p:sp>
        <p:nvSpPr>
          <p:cNvPr id="5" name="Rectangle 4"/>
          <p:cNvSpPr/>
          <p:nvPr/>
        </p:nvSpPr>
        <p:spPr>
          <a:xfrm>
            <a:off x="182880" y="932688"/>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32688"/>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932688"/>
            <a:ext cx="621792" cy="1627632"/>
          </a:xfrm>
          <a:prstGeom prst="rect">
            <a:avLst/>
          </a:prstGeom>
          <a:noFill/>
        </p:spPr>
        <p:txBody>
          <a:bodyPr wrap="square">
            <a:spAutoFit/>
          </a:bodyPr>
          <a:lstStyle/>
          <a:p>
            <a:pPr algn="ctr"/>
            <a:r>
              <a:rPr sz="1400" b="1" i="0">
                <a:solidFill>
                  <a:srgbClr val="FFFFFF"/>
                </a:solidFill>
                <a:latin typeface="Zen Kaku Gothic New"/>
              </a:rPr>
              <a:t>4月</a:t>
            </a:r>
          </a:p>
        </p:txBody>
      </p:sp>
      <p:sp>
        <p:nvSpPr>
          <p:cNvPr id="8" name="Rectangle 7"/>
          <p:cNvSpPr/>
          <p:nvPr/>
        </p:nvSpPr>
        <p:spPr>
          <a:xfrm>
            <a:off x="859536" y="1023840"/>
            <a:ext cx="91440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5536" y="1016640"/>
            <a:ext cx="914400" cy="108000"/>
          </a:xfrm>
          <a:prstGeom prst="rect">
            <a:avLst/>
          </a:prstGeom>
          <a:noFill/>
        </p:spPr>
        <p:txBody>
          <a:bodyPr wrap="square">
            <a:spAutoFit/>
          </a:bodyPr>
          <a:lstStyle/>
          <a:p>
            <a:pPr algn="l"/>
            <a:r>
              <a:rPr sz="700" b="1" i="0">
                <a:solidFill>
                  <a:srgbClr val="FFFFFF"/>
                </a:solidFill>
                <a:latin typeface="Zen Kaku Gothic New"/>
              </a:rPr>
              <a:t>法人税・地方税</a:t>
            </a:r>
          </a:p>
        </p:txBody>
      </p:sp>
      <p:sp>
        <p:nvSpPr>
          <p:cNvPr id="10" name="TextBox 9"/>
          <p:cNvSpPr txBox="1"/>
          <p:nvPr/>
        </p:nvSpPr>
        <p:spPr>
          <a:xfrm>
            <a:off x="877824" y="1142640"/>
            <a:ext cx="2011680" cy="457200"/>
          </a:xfrm>
          <a:prstGeom prst="rect">
            <a:avLst/>
          </a:prstGeom>
          <a:noFill/>
        </p:spPr>
        <p:txBody>
          <a:bodyPr wrap="square">
            <a:spAutoFit/>
          </a:bodyPr>
          <a:lstStyle/>
          <a:p>
            <a:pPr algn="l"/>
            <a:r>
              <a:rPr sz="750" b="0" i="0">
                <a:solidFill>
                  <a:srgbClr val="444444"/>
                </a:solidFill>
                <a:latin typeface="Zen Kaku Gothic New"/>
              </a:rPr>
              <a:t>前期分 申告・納付（期末翌月2ヶ月以内）</a:t>
            </a:r>
          </a:p>
        </p:txBody>
      </p:sp>
      <p:sp>
        <p:nvSpPr>
          <p:cNvPr id="11" name="Rectangle 10"/>
          <p:cNvSpPr/>
          <p:nvPr/>
        </p:nvSpPr>
        <p:spPr>
          <a:xfrm>
            <a:off x="859536" y="1517616"/>
            <a:ext cx="914400" cy="100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5536" y="1510416"/>
            <a:ext cx="914400" cy="108000"/>
          </a:xfrm>
          <a:prstGeom prst="rect">
            <a:avLst/>
          </a:prstGeom>
          <a:noFill/>
        </p:spPr>
        <p:txBody>
          <a:bodyPr wrap="square">
            <a:spAutoFit/>
          </a:bodyPr>
          <a:lstStyle/>
          <a:p>
            <a:pPr algn="l"/>
            <a:r>
              <a:rPr sz="700" b="1" i="0">
                <a:solidFill>
                  <a:srgbClr val="FFFFFF"/>
                </a:solidFill>
                <a:latin typeface="Zen Kaku Gothic New"/>
              </a:rPr>
              <a:t>消費税</a:t>
            </a:r>
          </a:p>
        </p:txBody>
      </p:sp>
      <p:sp>
        <p:nvSpPr>
          <p:cNvPr id="13" name="TextBox 12"/>
          <p:cNvSpPr txBox="1"/>
          <p:nvPr/>
        </p:nvSpPr>
        <p:spPr>
          <a:xfrm>
            <a:off x="877824" y="1636416"/>
            <a:ext cx="2011680" cy="457200"/>
          </a:xfrm>
          <a:prstGeom prst="rect">
            <a:avLst/>
          </a:prstGeom>
          <a:noFill/>
        </p:spPr>
        <p:txBody>
          <a:bodyPr wrap="square">
            <a:spAutoFit/>
          </a:bodyPr>
          <a:lstStyle/>
          <a:p>
            <a:pPr algn="l"/>
            <a:r>
              <a:rPr sz="750" b="0" i="0">
                <a:solidFill>
                  <a:srgbClr val="444444"/>
                </a:solidFill>
                <a:latin typeface="Zen Kaku Gothic New"/>
              </a:rPr>
              <a:t>前期分 申告・納付（同上）</a:t>
            </a:r>
          </a:p>
        </p:txBody>
      </p:sp>
      <p:sp>
        <p:nvSpPr>
          <p:cNvPr id="14" name="Rectangle 13"/>
          <p:cNvSpPr/>
          <p:nvPr/>
        </p:nvSpPr>
        <p:spPr>
          <a:xfrm>
            <a:off x="859536" y="2011392"/>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5536" y="2004192"/>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16" name="TextBox 15"/>
          <p:cNvSpPr txBox="1"/>
          <p:nvPr/>
        </p:nvSpPr>
        <p:spPr>
          <a:xfrm>
            <a:off x="877824" y="2130192"/>
            <a:ext cx="2011680" cy="457200"/>
          </a:xfrm>
          <a:prstGeom prst="rect">
            <a:avLst/>
          </a:prstGeom>
          <a:noFill/>
        </p:spPr>
        <p:txBody>
          <a:bodyPr wrap="square">
            <a:spAutoFit/>
          </a:bodyPr>
          <a:lstStyle/>
          <a:p>
            <a:pPr algn="l"/>
            <a:r>
              <a:rPr sz="750" b="0" i="0">
                <a:solidFill>
                  <a:srgbClr val="444444"/>
                </a:solidFill>
                <a:latin typeface="Zen Kaku Gothic New"/>
              </a:rPr>
              <a:t>3月分 納付（10日まで）</a:t>
            </a:r>
          </a:p>
        </p:txBody>
      </p:sp>
      <p:sp>
        <p:nvSpPr>
          <p:cNvPr id="17" name="Rectangle 16"/>
          <p:cNvSpPr/>
          <p:nvPr/>
        </p:nvSpPr>
        <p:spPr>
          <a:xfrm>
            <a:off x="3090672" y="932688"/>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90672" y="932688"/>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90672" y="932688"/>
            <a:ext cx="621792" cy="1627632"/>
          </a:xfrm>
          <a:prstGeom prst="rect">
            <a:avLst/>
          </a:prstGeom>
          <a:noFill/>
        </p:spPr>
        <p:txBody>
          <a:bodyPr wrap="square">
            <a:spAutoFit/>
          </a:bodyPr>
          <a:lstStyle/>
          <a:p>
            <a:pPr algn="ctr"/>
            <a:r>
              <a:rPr sz="1400" b="1" i="0">
                <a:solidFill>
                  <a:srgbClr val="FFFFFF"/>
                </a:solidFill>
                <a:latin typeface="Zen Kaku Gothic New"/>
              </a:rPr>
              <a:t>5月</a:t>
            </a:r>
          </a:p>
        </p:txBody>
      </p:sp>
      <p:sp>
        <p:nvSpPr>
          <p:cNvPr id="20" name="Rectangle 19"/>
          <p:cNvSpPr/>
          <p:nvPr/>
        </p:nvSpPr>
        <p:spPr>
          <a:xfrm>
            <a:off x="3767328" y="1023840"/>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03328" y="1016640"/>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22" name="TextBox 21"/>
          <p:cNvSpPr txBox="1"/>
          <p:nvPr/>
        </p:nvSpPr>
        <p:spPr>
          <a:xfrm>
            <a:off x="3785616" y="1142640"/>
            <a:ext cx="2011680" cy="457200"/>
          </a:xfrm>
          <a:prstGeom prst="rect">
            <a:avLst/>
          </a:prstGeom>
          <a:noFill/>
        </p:spPr>
        <p:txBody>
          <a:bodyPr wrap="square">
            <a:spAutoFit/>
          </a:bodyPr>
          <a:lstStyle/>
          <a:p>
            <a:pPr algn="l"/>
            <a:r>
              <a:rPr sz="750" b="0" i="0">
                <a:solidFill>
                  <a:srgbClr val="444444"/>
                </a:solidFill>
                <a:latin typeface="Zen Kaku Gothic New"/>
              </a:rPr>
              <a:t>4月分 納付（10日まで）</a:t>
            </a:r>
          </a:p>
        </p:txBody>
      </p:sp>
      <p:sp>
        <p:nvSpPr>
          <p:cNvPr id="23" name="Rectangle 22"/>
          <p:cNvSpPr/>
          <p:nvPr/>
        </p:nvSpPr>
        <p:spPr>
          <a:xfrm>
            <a:off x="5998464" y="932688"/>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98464" y="932688"/>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8464" y="932688"/>
            <a:ext cx="621792" cy="1627632"/>
          </a:xfrm>
          <a:prstGeom prst="rect">
            <a:avLst/>
          </a:prstGeom>
          <a:noFill/>
        </p:spPr>
        <p:txBody>
          <a:bodyPr wrap="square">
            <a:spAutoFit/>
          </a:bodyPr>
          <a:lstStyle/>
          <a:p>
            <a:pPr algn="ctr"/>
            <a:r>
              <a:rPr sz="1400" b="1" i="0">
                <a:solidFill>
                  <a:srgbClr val="FFFFFF"/>
                </a:solidFill>
                <a:latin typeface="Zen Kaku Gothic New"/>
              </a:rPr>
              <a:t>6月</a:t>
            </a:r>
          </a:p>
        </p:txBody>
      </p:sp>
      <p:sp>
        <p:nvSpPr>
          <p:cNvPr id="26" name="Rectangle 25"/>
          <p:cNvSpPr/>
          <p:nvPr/>
        </p:nvSpPr>
        <p:spPr>
          <a:xfrm>
            <a:off x="6675120" y="1023840"/>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1120" y="1016640"/>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28" name="TextBox 27"/>
          <p:cNvSpPr txBox="1"/>
          <p:nvPr/>
        </p:nvSpPr>
        <p:spPr>
          <a:xfrm>
            <a:off x="6693408" y="1142640"/>
            <a:ext cx="2011680" cy="457200"/>
          </a:xfrm>
          <a:prstGeom prst="rect">
            <a:avLst/>
          </a:prstGeom>
          <a:noFill/>
        </p:spPr>
        <p:txBody>
          <a:bodyPr wrap="square">
            <a:spAutoFit/>
          </a:bodyPr>
          <a:lstStyle/>
          <a:p>
            <a:pPr algn="l"/>
            <a:r>
              <a:rPr sz="750" b="0" i="0">
                <a:solidFill>
                  <a:srgbClr val="444444"/>
                </a:solidFill>
                <a:latin typeface="Zen Kaku Gothic New"/>
              </a:rPr>
              <a:t>5月分 納付（10日まで）</a:t>
            </a:r>
          </a:p>
        </p:txBody>
      </p:sp>
      <p:sp>
        <p:nvSpPr>
          <p:cNvPr id="29" name="Rectangle 28"/>
          <p:cNvSpPr/>
          <p:nvPr/>
        </p:nvSpPr>
        <p:spPr>
          <a:xfrm>
            <a:off x="6675120" y="1517616"/>
            <a:ext cx="914400" cy="1008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11120" y="1510416"/>
            <a:ext cx="914400" cy="108000"/>
          </a:xfrm>
          <a:prstGeom prst="rect">
            <a:avLst/>
          </a:prstGeom>
          <a:noFill/>
        </p:spPr>
        <p:txBody>
          <a:bodyPr wrap="square">
            <a:spAutoFit/>
          </a:bodyPr>
          <a:lstStyle/>
          <a:p>
            <a:pPr algn="l"/>
            <a:r>
              <a:rPr sz="700" b="1" i="0">
                <a:solidFill>
                  <a:srgbClr val="FFFFFF"/>
                </a:solidFill>
                <a:latin typeface="Zen Kaku Gothic New"/>
              </a:rPr>
              <a:t>住民税</a:t>
            </a:r>
          </a:p>
        </p:txBody>
      </p:sp>
      <p:sp>
        <p:nvSpPr>
          <p:cNvPr id="31" name="TextBox 30"/>
          <p:cNvSpPr txBox="1"/>
          <p:nvPr/>
        </p:nvSpPr>
        <p:spPr>
          <a:xfrm>
            <a:off x="6693408" y="1636416"/>
            <a:ext cx="2011680" cy="457200"/>
          </a:xfrm>
          <a:prstGeom prst="rect">
            <a:avLst/>
          </a:prstGeom>
          <a:noFill/>
        </p:spPr>
        <p:txBody>
          <a:bodyPr wrap="square">
            <a:spAutoFit/>
          </a:bodyPr>
          <a:lstStyle/>
          <a:p>
            <a:pPr algn="l"/>
            <a:r>
              <a:rPr sz="750" b="0" i="0">
                <a:solidFill>
                  <a:srgbClr val="444444"/>
                </a:solidFill>
                <a:latin typeface="Zen Kaku Gothic New"/>
              </a:rPr>
              <a:t>特別徴収 1期（個人住民税）</a:t>
            </a:r>
          </a:p>
        </p:txBody>
      </p:sp>
      <p:sp>
        <p:nvSpPr>
          <p:cNvPr id="32" name="Rectangle 31"/>
          <p:cNvSpPr/>
          <p:nvPr/>
        </p:nvSpPr>
        <p:spPr>
          <a:xfrm>
            <a:off x="8906256" y="932688"/>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06256" y="932688"/>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06256" y="932688"/>
            <a:ext cx="621792" cy="1627632"/>
          </a:xfrm>
          <a:prstGeom prst="rect">
            <a:avLst/>
          </a:prstGeom>
          <a:noFill/>
        </p:spPr>
        <p:txBody>
          <a:bodyPr wrap="square">
            <a:spAutoFit/>
          </a:bodyPr>
          <a:lstStyle/>
          <a:p>
            <a:pPr algn="ctr"/>
            <a:r>
              <a:rPr sz="1400" b="1" i="0">
                <a:solidFill>
                  <a:srgbClr val="FFFFFF"/>
                </a:solidFill>
                <a:latin typeface="Zen Kaku Gothic New"/>
              </a:rPr>
              <a:t>7月</a:t>
            </a:r>
          </a:p>
        </p:txBody>
      </p:sp>
      <p:sp>
        <p:nvSpPr>
          <p:cNvPr id="35" name="Rectangle 34"/>
          <p:cNvSpPr/>
          <p:nvPr/>
        </p:nvSpPr>
        <p:spPr>
          <a:xfrm>
            <a:off x="9582912" y="1023840"/>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18912" y="1016640"/>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37" name="TextBox 36"/>
          <p:cNvSpPr txBox="1"/>
          <p:nvPr/>
        </p:nvSpPr>
        <p:spPr>
          <a:xfrm>
            <a:off x="9601200" y="1142640"/>
            <a:ext cx="2011680" cy="457200"/>
          </a:xfrm>
          <a:prstGeom prst="rect">
            <a:avLst/>
          </a:prstGeom>
          <a:noFill/>
        </p:spPr>
        <p:txBody>
          <a:bodyPr wrap="square">
            <a:spAutoFit/>
          </a:bodyPr>
          <a:lstStyle/>
          <a:p>
            <a:pPr algn="l"/>
            <a:r>
              <a:rPr sz="750" b="0" i="0">
                <a:solidFill>
                  <a:srgbClr val="444444"/>
                </a:solidFill>
                <a:latin typeface="Zen Kaku Gothic New"/>
              </a:rPr>
              <a:t>1〜6月分 一括納付（特例選択の場合・20日）</a:t>
            </a:r>
          </a:p>
        </p:txBody>
      </p:sp>
      <p:sp>
        <p:nvSpPr>
          <p:cNvPr id="38" name="Rectangle 37"/>
          <p:cNvSpPr/>
          <p:nvPr/>
        </p:nvSpPr>
        <p:spPr>
          <a:xfrm>
            <a:off x="9582912" y="1517616"/>
            <a:ext cx="91440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18912" y="1510416"/>
            <a:ext cx="914400" cy="108000"/>
          </a:xfrm>
          <a:prstGeom prst="rect">
            <a:avLst/>
          </a:prstGeom>
          <a:noFill/>
        </p:spPr>
        <p:txBody>
          <a:bodyPr wrap="square">
            <a:spAutoFit/>
          </a:bodyPr>
          <a:lstStyle/>
          <a:p>
            <a:pPr algn="l"/>
            <a:r>
              <a:rPr sz="700" b="1" i="0">
                <a:solidFill>
                  <a:srgbClr val="FFFFFF"/>
                </a:solidFill>
                <a:latin typeface="Zen Kaku Gothic New"/>
              </a:rPr>
              <a:t>法人税等</a:t>
            </a:r>
          </a:p>
        </p:txBody>
      </p:sp>
      <p:sp>
        <p:nvSpPr>
          <p:cNvPr id="40" name="TextBox 39"/>
          <p:cNvSpPr txBox="1"/>
          <p:nvPr/>
        </p:nvSpPr>
        <p:spPr>
          <a:xfrm>
            <a:off x="9601200" y="1636416"/>
            <a:ext cx="2011680" cy="457200"/>
          </a:xfrm>
          <a:prstGeom prst="rect">
            <a:avLst/>
          </a:prstGeom>
          <a:noFill/>
        </p:spPr>
        <p:txBody>
          <a:bodyPr wrap="square">
            <a:spAutoFit/>
          </a:bodyPr>
          <a:lstStyle/>
          <a:p>
            <a:pPr algn="l"/>
            <a:r>
              <a:rPr sz="750" b="0" i="0">
                <a:solidFill>
                  <a:srgbClr val="444444"/>
                </a:solidFill>
                <a:latin typeface="Zen Kaku Gothic New"/>
              </a:rPr>
              <a:t>中間申告・納付（前期税額の半額）</a:t>
            </a:r>
          </a:p>
        </p:txBody>
      </p:sp>
      <p:sp>
        <p:nvSpPr>
          <p:cNvPr id="41" name="Rectangle 40"/>
          <p:cNvSpPr/>
          <p:nvPr/>
        </p:nvSpPr>
        <p:spPr>
          <a:xfrm>
            <a:off x="182880" y="2615184"/>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82880" y="2615184"/>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 y="2615184"/>
            <a:ext cx="621792" cy="1627632"/>
          </a:xfrm>
          <a:prstGeom prst="rect">
            <a:avLst/>
          </a:prstGeom>
          <a:noFill/>
        </p:spPr>
        <p:txBody>
          <a:bodyPr wrap="square">
            <a:spAutoFit/>
          </a:bodyPr>
          <a:lstStyle/>
          <a:p>
            <a:pPr algn="ctr"/>
            <a:r>
              <a:rPr sz="1400" b="1" i="0">
                <a:solidFill>
                  <a:srgbClr val="FFFFFF"/>
                </a:solidFill>
                <a:latin typeface="Zen Kaku Gothic New"/>
              </a:rPr>
              <a:t>8月</a:t>
            </a:r>
          </a:p>
        </p:txBody>
      </p:sp>
      <p:sp>
        <p:nvSpPr>
          <p:cNvPr id="44" name="Rectangle 43"/>
          <p:cNvSpPr/>
          <p:nvPr/>
        </p:nvSpPr>
        <p:spPr>
          <a:xfrm>
            <a:off x="859536" y="2706336"/>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5536" y="2699136"/>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46" name="TextBox 45"/>
          <p:cNvSpPr txBox="1"/>
          <p:nvPr/>
        </p:nvSpPr>
        <p:spPr>
          <a:xfrm>
            <a:off x="877824" y="2825136"/>
            <a:ext cx="2011680" cy="457200"/>
          </a:xfrm>
          <a:prstGeom prst="rect">
            <a:avLst/>
          </a:prstGeom>
          <a:noFill/>
        </p:spPr>
        <p:txBody>
          <a:bodyPr wrap="square">
            <a:spAutoFit/>
          </a:bodyPr>
          <a:lstStyle/>
          <a:p>
            <a:pPr algn="l"/>
            <a:r>
              <a:rPr sz="750" b="0" i="0">
                <a:solidFill>
                  <a:srgbClr val="444444"/>
                </a:solidFill>
                <a:latin typeface="Zen Kaku Gothic New"/>
              </a:rPr>
              <a:t>7月分 納付（特例非選択の場合）</a:t>
            </a:r>
          </a:p>
        </p:txBody>
      </p:sp>
      <p:sp>
        <p:nvSpPr>
          <p:cNvPr id="47" name="Rectangle 46"/>
          <p:cNvSpPr/>
          <p:nvPr/>
        </p:nvSpPr>
        <p:spPr>
          <a:xfrm>
            <a:off x="3090672" y="2615184"/>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090672" y="2615184"/>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090672" y="2615184"/>
            <a:ext cx="621792" cy="1627632"/>
          </a:xfrm>
          <a:prstGeom prst="rect">
            <a:avLst/>
          </a:prstGeom>
          <a:noFill/>
        </p:spPr>
        <p:txBody>
          <a:bodyPr wrap="square">
            <a:spAutoFit/>
          </a:bodyPr>
          <a:lstStyle/>
          <a:p>
            <a:pPr algn="ctr"/>
            <a:r>
              <a:rPr sz="1400" b="1" i="0">
                <a:solidFill>
                  <a:srgbClr val="FFFFFF"/>
                </a:solidFill>
                <a:latin typeface="Zen Kaku Gothic New"/>
              </a:rPr>
              <a:t>9月</a:t>
            </a:r>
          </a:p>
        </p:txBody>
      </p:sp>
      <p:sp>
        <p:nvSpPr>
          <p:cNvPr id="50" name="Rectangle 49"/>
          <p:cNvSpPr/>
          <p:nvPr/>
        </p:nvSpPr>
        <p:spPr>
          <a:xfrm>
            <a:off x="3767328" y="2706336"/>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03328" y="2699136"/>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52" name="TextBox 51"/>
          <p:cNvSpPr txBox="1"/>
          <p:nvPr/>
        </p:nvSpPr>
        <p:spPr>
          <a:xfrm>
            <a:off x="3785616" y="2825136"/>
            <a:ext cx="2011680" cy="457200"/>
          </a:xfrm>
          <a:prstGeom prst="rect">
            <a:avLst/>
          </a:prstGeom>
          <a:noFill/>
        </p:spPr>
        <p:txBody>
          <a:bodyPr wrap="square">
            <a:spAutoFit/>
          </a:bodyPr>
          <a:lstStyle/>
          <a:p>
            <a:pPr algn="l"/>
            <a:r>
              <a:rPr sz="750" b="0" i="0">
                <a:solidFill>
                  <a:srgbClr val="444444"/>
                </a:solidFill>
                <a:latin typeface="Zen Kaku Gothic New"/>
              </a:rPr>
              <a:t>8月分 納付</a:t>
            </a:r>
          </a:p>
        </p:txBody>
      </p:sp>
      <p:sp>
        <p:nvSpPr>
          <p:cNvPr id="53" name="Rectangle 52"/>
          <p:cNvSpPr/>
          <p:nvPr/>
        </p:nvSpPr>
        <p:spPr>
          <a:xfrm>
            <a:off x="3767328" y="3200112"/>
            <a:ext cx="914400" cy="100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03328" y="3192912"/>
            <a:ext cx="914400" cy="108000"/>
          </a:xfrm>
          <a:prstGeom prst="rect">
            <a:avLst/>
          </a:prstGeom>
          <a:noFill/>
        </p:spPr>
        <p:txBody>
          <a:bodyPr wrap="square">
            <a:spAutoFit/>
          </a:bodyPr>
          <a:lstStyle/>
          <a:p>
            <a:pPr algn="l"/>
            <a:r>
              <a:rPr sz="700" b="1" i="0">
                <a:solidFill>
                  <a:srgbClr val="FFFFFF"/>
                </a:solidFill>
                <a:latin typeface="Zen Kaku Gothic New"/>
              </a:rPr>
              <a:t>消費税</a:t>
            </a:r>
          </a:p>
        </p:txBody>
      </p:sp>
      <p:sp>
        <p:nvSpPr>
          <p:cNvPr id="55" name="TextBox 54"/>
          <p:cNvSpPr txBox="1"/>
          <p:nvPr/>
        </p:nvSpPr>
        <p:spPr>
          <a:xfrm>
            <a:off x="3785616" y="3318912"/>
            <a:ext cx="2011680" cy="457200"/>
          </a:xfrm>
          <a:prstGeom prst="rect">
            <a:avLst/>
          </a:prstGeom>
          <a:noFill/>
        </p:spPr>
        <p:txBody>
          <a:bodyPr wrap="square">
            <a:spAutoFit/>
          </a:bodyPr>
          <a:lstStyle/>
          <a:p>
            <a:pPr algn="l"/>
            <a:r>
              <a:rPr sz="750" b="0" i="0">
                <a:solidFill>
                  <a:srgbClr val="444444"/>
                </a:solidFill>
                <a:latin typeface="Zen Kaku Gothic New"/>
              </a:rPr>
              <a:t>中間申告・納付（年1回中間の場合）</a:t>
            </a:r>
          </a:p>
        </p:txBody>
      </p:sp>
      <p:sp>
        <p:nvSpPr>
          <p:cNvPr id="56" name="Rectangle 55"/>
          <p:cNvSpPr/>
          <p:nvPr/>
        </p:nvSpPr>
        <p:spPr>
          <a:xfrm>
            <a:off x="5998464" y="2615184"/>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998464" y="2615184"/>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98464" y="2615184"/>
            <a:ext cx="621792" cy="1627632"/>
          </a:xfrm>
          <a:prstGeom prst="rect">
            <a:avLst/>
          </a:prstGeom>
          <a:noFill/>
        </p:spPr>
        <p:txBody>
          <a:bodyPr wrap="square">
            <a:spAutoFit/>
          </a:bodyPr>
          <a:lstStyle/>
          <a:p>
            <a:pPr algn="ctr"/>
            <a:r>
              <a:rPr sz="1400" b="1" i="0">
                <a:solidFill>
                  <a:srgbClr val="FFFFFF"/>
                </a:solidFill>
                <a:latin typeface="Zen Kaku Gothic New"/>
              </a:rPr>
              <a:t>10月</a:t>
            </a:r>
          </a:p>
        </p:txBody>
      </p:sp>
      <p:sp>
        <p:nvSpPr>
          <p:cNvPr id="59" name="Rectangle 58"/>
          <p:cNvSpPr/>
          <p:nvPr/>
        </p:nvSpPr>
        <p:spPr>
          <a:xfrm>
            <a:off x="6675120" y="2706336"/>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11120" y="2699136"/>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61" name="TextBox 60"/>
          <p:cNvSpPr txBox="1"/>
          <p:nvPr/>
        </p:nvSpPr>
        <p:spPr>
          <a:xfrm>
            <a:off x="6693408" y="2825136"/>
            <a:ext cx="2011680" cy="457200"/>
          </a:xfrm>
          <a:prstGeom prst="rect">
            <a:avLst/>
          </a:prstGeom>
          <a:noFill/>
        </p:spPr>
        <p:txBody>
          <a:bodyPr wrap="square">
            <a:spAutoFit/>
          </a:bodyPr>
          <a:lstStyle/>
          <a:p>
            <a:pPr algn="l"/>
            <a:r>
              <a:rPr sz="750" b="0" i="0">
                <a:solidFill>
                  <a:srgbClr val="444444"/>
                </a:solidFill>
                <a:latin typeface="Zen Kaku Gothic New"/>
              </a:rPr>
              <a:t>9月分 納付</a:t>
            </a:r>
          </a:p>
        </p:txBody>
      </p:sp>
      <p:sp>
        <p:nvSpPr>
          <p:cNvPr id="62" name="Rectangle 61"/>
          <p:cNvSpPr/>
          <p:nvPr/>
        </p:nvSpPr>
        <p:spPr>
          <a:xfrm>
            <a:off x="6675120" y="3200112"/>
            <a:ext cx="91440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711120" y="3192912"/>
            <a:ext cx="914400" cy="108000"/>
          </a:xfrm>
          <a:prstGeom prst="rect">
            <a:avLst/>
          </a:prstGeom>
          <a:noFill/>
        </p:spPr>
        <p:txBody>
          <a:bodyPr wrap="square">
            <a:spAutoFit/>
          </a:bodyPr>
          <a:lstStyle/>
          <a:p>
            <a:pPr algn="l"/>
            <a:r>
              <a:rPr sz="700" b="1" i="0">
                <a:solidFill>
                  <a:srgbClr val="FFFFFF"/>
                </a:solidFill>
                <a:latin typeface="Zen Kaku Gothic New"/>
              </a:rPr>
              <a:t>法人税等</a:t>
            </a:r>
          </a:p>
        </p:txBody>
      </p:sp>
      <p:sp>
        <p:nvSpPr>
          <p:cNvPr id="64" name="TextBox 63"/>
          <p:cNvSpPr txBox="1"/>
          <p:nvPr/>
        </p:nvSpPr>
        <p:spPr>
          <a:xfrm>
            <a:off x="6693408" y="3318912"/>
            <a:ext cx="2011680" cy="457200"/>
          </a:xfrm>
          <a:prstGeom prst="rect">
            <a:avLst/>
          </a:prstGeom>
          <a:noFill/>
        </p:spPr>
        <p:txBody>
          <a:bodyPr wrap="square">
            <a:spAutoFit/>
          </a:bodyPr>
          <a:lstStyle/>
          <a:p>
            <a:pPr algn="l"/>
            <a:r>
              <a:rPr sz="750" b="0" i="0">
                <a:solidFill>
                  <a:srgbClr val="444444"/>
                </a:solidFill>
                <a:latin typeface="Zen Kaku Gothic New"/>
              </a:rPr>
              <a:t>中間申告・納付（年3回中間の2回目）</a:t>
            </a:r>
          </a:p>
        </p:txBody>
      </p:sp>
      <p:sp>
        <p:nvSpPr>
          <p:cNvPr id="65" name="Rectangle 64"/>
          <p:cNvSpPr/>
          <p:nvPr/>
        </p:nvSpPr>
        <p:spPr>
          <a:xfrm>
            <a:off x="8906256" y="2615184"/>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906256" y="2615184"/>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906256" y="2615184"/>
            <a:ext cx="621792" cy="1627632"/>
          </a:xfrm>
          <a:prstGeom prst="rect">
            <a:avLst/>
          </a:prstGeom>
          <a:noFill/>
        </p:spPr>
        <p:txBody>
          <a:bodyPr wrap="square">
            <a:spAutoFit/>
          </a:bodyPr>
          <a:lstStyle/>
          <a:p>
            <a:pPr algn="ctr"/>
            <a:r>
              <a:rPr sz="1400" b="1" i="0">
                <a:solidFill>
                  <a:srgbClr val="FFFFFF"/>
                </a:solidFill>
                <a:latin typeface="Zen Kaku Gothic New"/>
              </a:rPr>
              <a:t>11月</a:t>
            </a:r>
          </a:p>
        </p:txBody>
      </p:sp>
      <p:sp>
        <p:nvSpPr>
          <p:cNvPr id="68" name="Rectangle 67"/>
          <p:cNvSpPr/>
          <p:nvPr/>
        </p:nvSpPr>
        <p:spPr>
          <a:xfrm>
            <a:off x="9582912" y="2706336"/>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18912" y="2699136"/>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70" name="TextBox 69"/>
          <p:cNvSpPr txBox="1"/>
          <p:nvPr/>
        </p:nvSpPr>
        <p:spPr>
          <a:xfrm>
            <a:off x="9601200" y="2825136"/>
            <a:ext cx="2011680" cy="457200"/>
          </a:xfrm>
          <a:prstGeom prst="rect">
            <a:avLst/>
          </a:prstGeom>
          <a:noFill/>
        </p:spPr>
        <p:txBody>
          <a:bodyPr wrap="square">
            <a:spAutoFit/>
          </a:bodyPr>
          <a:lstStyle/>
          <a:p>
            <a:pPr algn="l"/>
            <a:r>
              <a:rPr sz="750" b="0" i="0">
                <a:solidFill>
                  <a:srgbClr val="444444"/>
                </a:solidFill>
                <a:latin typeface="Zen Kaku Gothic New"/>
              </a:rPr>
              <a:t>10月分 納付</a:t>
            </a:r>
          </a:p>
        </p:txBody>
      </p:sp>
      <p:sp>
        <p:nvSpPr>
          <p:cNvPr id="71" name="Rectangle 70"/>
          <p:cNvSpPr/>
          <p:nvPr/>
        </p:nvSpPr>
        <p:spPr>
          <a:xfrm>
            <a:off x="182880" y="4297680"/>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82880" y="4297680"/>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82880" y="4297680"/>
            <a:ext cx="621792" cy="1627632"/>
          </a:xfrm>
          <a:prstGeom prst="rect">
            <a:avLst/>
          </a:prstGeom>
          <a:noFill/>
        </p:spPr>
        <p:txBody>
          <a:bodyPr wrap="square">
            <a:spAutoFit/>
          </a:bodyPr>
          <a:lstStyle/>
          <a:p>
            <a:pPr algn="ctr"/>
            <a:r>
              <a:rPr sz="1400" b="1" i="0">
                <a:solidFill>
                  <a:srgbClr val="FFFFFF"/>
                </a:solidFill>
                <a:latin typeface="Zen Kaku Gothic New"/>
              </a:rPr>
              <a:t>12月</a:t>
            </a:r>
          </a:p>
        </p:txBody>
      </p:sp>
      <p:sp>
        <p:nvSpPr>
          <p:cNvPr id="74" name="Rectangle 73"/>
          <p:cNvSpPr/>
          <p:nvPr/>
        </p:nvSpPr>
        <p:spPr>
          <a:xfrm>
            <a:off x="859536" y="4388832"/>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95536" y="4381632"/>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76" name="TextBox 75"/>
          <p:cNvSpPr txBox="1"/>
          <p:nvPr/>
        </p:nvSpPr>
        <p:spPr>
          <a:xfrm>
            <a:off x="877824" y="4507632"/>
            <a:ext cx="2011680" cy="457200"/>
          </a:xfrm>
          <a:prstGeom prst="rect">
            <a:avLst/>
          </a:prstGeom>
          <a:noFill/>
        </p:spPr>
        <p:txBody>
          <a:bodyPr wrap="square">
            <a:spAutoFit/>
          </a:bodyPr>
          <a:lstStyle/>
          <a:p>
            <a:pPr algn="l"/>
            <a:r>
              <a:rPr sz="750" b="0" i="0">
                <a:solidFill>
                  <a:srgbClr val="444444"/>
                </a:solidFill>
                <a:latin typeface="Zen Kaku Gothic New"/>
              </a:rPr>
              <a:t>11月分 納付</a:t>
            </a:r>
          </a:p>
        </p:txBody>
      </p:sp>
      <p:sp>
        <p:nvSpPr>
          <p:cNvPr id="77" name="Rectangle 76"/>
          <p:cNvSpPr/>
          <p:nvPr/>
        </p:nvSpPr>
        <p:spPr>
          <a:xfrm>
            <a:off x="859536" y="4882608"/>
            <a:ext cx="914400" cy="1008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95536" y="4875408"/>
            <a:ext cx="914400" cy="108000"/>
          </a:xfrm>
          <a:prstGeom prst="rect">
            <a:avLst/>
          </a:prstGeom>
          <a:noFill/>
        </p:spPr>
        <p:txBody>
          <a:bodyPr wrap="square">
            <a:spAutoFit/>
          </a:bodyPr>
          <a:lstStyle/>
          <a:p>
            <a:pPr algn="l"/>
            <a:r>
              <a:rPr sz="700" b="1" i="0">
                <a:solidFill>
                  <a:srgbClr val="FFFFFF"/>
                </a:solidFill>
                <a:latin typeface="Zen Kaku Gothic New"/>
              </a:rPr>
              <a:t>年末調整</a:t>
            </a:r>
          </a:p>
        </p:txBody>
      </p:sp>
      <p:sp>
        <p:nvSpPr>
          <p:cNvPr id="79" name="TextBox 78"/>
          <p:cNvSpPr txBox="1"/>
          <p:nvPr/>
        </p:nvSpPr>
        <p:spPr>
          <a:xfrm>
            <a:off x="877824" y="5001408"/>
            <a:ext cx="2011680" cy="457200"/>
          </a:xfrm>
          <a:prstGeom prst="rect">
            <a:avLst/>
          </a:prstGeom>
          <a:noFill/>
        </p:spPr>
        <p:txBody>
          <a:bodyPr wrap="square">
            <a:spAutoFit/>
          </a:bodyPr>
          <a:lstStyle/>
          <a:p>
            <a:pPr algn="l"/>
            <a:r>
              <a:rPr sz="750" b="0" i="0">
                <a:solidFill>
                  <a:srgbClr val="444444"/>
                </a:solidFill>
                <a:latin typeface="Zen Kaku Gothic New"/>
              </a:rPr>
              <a:t>給与所得者の年末調整を実施</a:t>
            </a:r>
          </a:p>
        </p:txBody>
      </p:sp>
      <p:sp>
        <p:nvSpPr>
          <p:cNvPr id="80" name="Rectangle 79"/>
          <p:cNvSpPr/>
          <p:nvPr/>
        </p:nvSpPr>
        <p:spPr>
          <a:xfrm>
            <a:off x="3090672" y="4297680"/>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090672" y="4297680"/>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90672" y="4297680"/>
            <a:ext cx="621792" cy="1627632"/>
          </a:xfrm>
          <a:prstGeom prst="rect">
            <a:avLst/>
          </a:prstGeom>
          <a:noFill/>
        </p:spPr>
        <p:txBody>
          <a:bodyPr wrap="square">
            <a:spAutoFit/>
          </a:bodyPr>
          <a:lstStyle/>
          <a:p>
            <a:pPr algn="ctr"/>
            <a:r>
              <a:rPr sz="1400" b="1" i="0">
                <a:solidFill>
                  <a:srgbClr val="FFFFFF"/>
                </a:solidFill>
                <a:latin typeface="Zen Kaku Gothic New"/>
              </a:rPr>
              <a:t>1月</a:t>
            </a:r>
          </a:p>
        </p:txBody>
      </p:sp>
      <p:sp>
        <p:nvSpPr>
          <p:cNvPr id="83" name="Rectangle 82"/>
          <p:cNvSpPr/>
          <p:nvPr/>
        </p:nvSpPr>
        <p:spPr>
          <a:xfrm>
            <a:off x="3767328" y="4388832"/>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803328" y="4381632"/>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85" name="TextBox 84"/>
          <p:cNvSpPr txBox="1"/>
          <p:nvPr/>
        </p:nvSpPr>
        <p:spPr>
          <a:xfrm>
            <a:off x="3785616" y="4507632"/>
            <a:ext cx="2011680" cy="457200"/>
          </a:xfrm>
          <a:prstGeom prst="rect">
            <a:avLst/>
          </a:prstGeom>
          <a:noFill/>
        </p:spPr>
        <p:txBody>
          <a:bodyPr wrap="square">
            <a:spAutoFit/>
          </a:bodyPr>
          <a:lstStyle/>
          <a:p>
            <a:pPr algn="l"/>
            <a:r>
              <a:rPr sz="750" b="0" i="0">
                <a:solidFill>
                  <a:srgbClr val="444444"/>
                </a:solidFill>
                <a:latin typeface="Zen Kaku Gothic New"/>
              </a:rPr>
              <a:t>7〜12月分 一括納付（特例・20日）</a:t>
            </a:r>
          </a:p>
        </p:txBody>
      </p:sp>
      <p:sp>
        <p:nvSpPr>
          <p:cNvPr id="86" name="Rectangle 85"/>
          <p:cNvSpPr/>
          <p:nvPr/>
        </p:nvSpPr>
        <p:spPr>
          <a:xfrm>
            <a:off x="3767328" y="4882608"/>
            <a:ext cx="914400" cy="1008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803328" y="4875408"/>
            <a:ext cx="914400" cy="108000"/>
          </a:xfrm>
          <a:prstGeom prst="rect">
            <a:avLst/>
          </a:prstGeom>
          <a:noFill/>
        </p:spPr>
        <p:txBody>
          <a:bodyPr wrap="square">
            <a:spAutoFit/>
          </a:bodyPr>
          <a:lstStyle/>
          <a:p>
            <a:pPr algn="l"/>
            <a:r>
              <a:rPr sz="700" b="1" i="0">
                <a:solidFill>
                  <a:srgbClr val="FFFFFF"/>
                </a:solidFill>
                <a:latin typeface="Zen Kaku Gothic New"/>
              </a:rPr>
              <a:t>法定調書</a:t>
            </a:r>
          </a:p>
        </p:txBody>
      </p:sp>
      <p:sp>
        <p:nvSpPr>
          <p:cNvPr id="88" name="TextBox 87"/>
          <p:cNvSpPr txBox="1"/>
          <p:nvPr/>
        </p:nvSpPr>
        <p:spPr>
          <a:xfrm>
            <a:off x="3785616" y="5001408"/>
            <a:ext cx="2011680" cy="457200"/>
          </a:xfrm>
          <a:prstGeom prst="rect">
            <a:avLst/>
          </a:prstGeom>
          <a:noFill/>
        </p:spPr>
        <p:txBody>
          <a:bodyPr wrap="square">
            <a:spAutoFit/>
          </a:bodyPr>
          <a:lstStyle/>
          <a:p>
            <a:pPr algn="l"/>
            <a:r>
              <a:rPr sz="750" b="0" i="0">
                <a:solidFill>
                  <a:srgbClr val="444444"/>
                </a:solidFill>
                <a:latin typeface="Zen Kaku Gothic New"/>
              </a:rPr>
              <a:t>給与支払報告書・法定調書合計表（31日）</a:t>
            </a:r>
          </a:p>
        </p:txBody>
      </p:sp>
      <p:sp>
        <p:nvSpPr>
          <p:cNvPr id="89" name="Rectangle 88"/>
          <p:cNvSpPr/>
          <p:nvPr/>
        </p:nvSpPr>
        <p:spPr>
          <a:xfrm>
            <a:off x="3767328" y="5376384"/>
            <a:ext cx="914400" cy="1008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803328" y="5369184"/>
            <a:ext cx="914400" cy="108000"/>
          </a:xfrm>
          <a:prstGeom prst="rect">
            <a:avLst/>
          </a:prstGeom>
          <a:noFill/>
        </p:spPr>
        <p:txBody>
          <a:bodyPr wrap="square">
            <a:spAutoFit/>
          </a:bodyPr>
          <a:lstStyle/>
          <a:p>
            <a:pPr algn="l"/>
            <a:r>
              <a:rPr sz="700" b="1" i="0">
                <a:solidFill>
                  <a:srgbClr val="FFFFFF"/>
                </a:solidFill>
                <a:latin typeface="Zen Kaku Gothic New"/>
              </a:rPr>
              <a:t>償却資産税</a:t>
            </a:r>
          </a:p>
        </p:txBody>
      </p:sp>
      <p:sp>
        <p:nvSpPr>
          <p:cNvPr id="91" name="TextBox 90"/>
          <p:cNvSpPr txBox="1"/>
          <p:nvPr/>
        </p:nvSpPr>
        <p:spPr>
          <a:xfrm>
            <a:off x="3785616" y="5495184"/>
            <a:ext cx="2011680" cy="457200"/>
          </a:xfrm>
          <a:prstGeom prst="rect">
            <a:avLst/>
          </a:prstGeom>
          <a:noFill/>
        </p:spPr>
        <p:txBody>
          <a:bodyPr wrap="square">
            <a:spAutoFit/>
          </a:bodyPr>
          <a:lstStyle/>
          <a:p>
            <a:pPr algn="l"/>
            <a:r>
              <a:rPr sz="750" b="0" i="0">
                <a:solidFill>
                  <a:srgbClr val="444444"/>
                </a:solidFill>
                <a:latin typeface="Zen Kaku Gothic New"/>
              </a:rPr>
              <a:t>申告（1月31日まで）</a:t>
            </a:r>
          </a:p>
        </p:txBody>
      </p:sp>
      <p:sp>
        <p:nvSpPr>
          <p:cNvPr id="92" name="Rectangle 91"/>
          <p:cNvSpPr/>
          <p:nvPr/>
        </p:nvSpPr>
        <p:spPr>
          <a:xfrm>
            <a:off x="5998464" y="4297680"/>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998464" y="4297680"/>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998464" y="4297680"/>
            <a:ext cx="621792" cy="1627632"/>
          </a:xfrm>
          <a:prstGeom prst="rect">
            <a:avLst/>
          </a:prstGeom>
          <a:noFill/>
        </p:spPr>
        <p:txBody>
          <a:bodyPr wrap="square">
            <a:spAutoFit/>
          </a:bodyPr>
          <a:lstStyle/>
          <a:p>
            <a:pPr algn="ctr"/>
            <a:r>
              <a:rPr sz="1400" b="1" i="0">
                <a:solidFill>
                  <a:srgbClr val="FFFFFF"/>
                </a:solidFill>
                <a:latin typeface="Zen Kaku Gothic New"/>
              </a:rPr>
              <a:t>2月</a:t>
            </a:r>
          </a:p>
        </p:txBody>
      </p:sp>
      <p:sp>
        <p:nvSpPr>
          <p:cNvPr id="95" name="Rectangle 94"/>
          <p:cNvSpPr/>
          <p:nvPr/>
        </p:nvSpPr>
        <p:spPr>
          <a:xfrm>
            <a:off x="6675120" y="4388832"/>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11120" y="4381632"/>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97" name="TextBox 96"/>
          <p:cNvSpPr txBox="1"/>
          <p:nvPr/>
        </p:nvSpPr>
        <p:spPr>
          <a:xfrm>
            <a:off x="6693408" y="4507632"/>
            <a:ext cx="2011680" cy="457200"/>
          </a:xfrm>
          <a:prstGeom prst="rect">
            <a:avLst/>
          </a:prstGeom>
          <a:noFill/>
        </p:spPr>
        <p:txBody>
          <a:bodyPr wrap="square">
            <a:spAutoFit/>
          </a:bodyPr>
          <a:lstStyle/>
          <a:p>
            <a:pPr algn="l"/>
            <a:r>
              <a:rPr sz="750" b="0" i="0">
                <a:solidFill>
                  <a:srgbClr val="444444"/>
                </a:solidFill>
                <a:latin typeface="Zen Kaku Gothic New"/>
              </a:rPr>
              <a:t>1月分 納付（特例非選択）</a:t>
            </a:r>
          </a:p>
        </p:txBody>
      </p:sp>
      <p:sp>
        <p:nvSpPr>
          <p:cNvPr id="98" name="Rectangle 97"/>
          <p:cNvSpPr/>
          <p:nvPr/>
        </p:nvSpPr>
        <p:spPr>
          <a:xfrm>
            <a:off x="8906256" y="4297680"/>
            <a:ext cx="2834640" cy="16276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906256" y="4297680"/>
            <a:ext cx="621792" cy="16276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906256" y="4297680"/>
            <a:ext cx="621792" cy="1627632"/>
          </a:xfrm>
          <a:prstGeom prst="rect">
            <a:avLst/>
          </a:prstGeom>
          <a:noFill/>
        </p:spPr>
        <p:txBody>
          <a:bodyPr wrap="square">
            <a:spAutoFit/>
          </a:bodyPr>
          <a:lstStyle/>
          <a:p>
            <a:pPr algn="ctr"/>
            <a:r>
              <a:rPr sz="1400" b="1" i="0">
                <a:solidFill>
                  <a:srgbClr val="FFFFFF"/>
                </a:solidFill>
                <a:latin typeface="Zen Kaku Gothic New"/>
              </a:rPr>
              <a:t>3月</a:t>
            </a:r>
          </a:p>
        </p:txBody>
      </p:sp>
      <p:sp>
        <p:nvSpPr>
          <p:cNvPr id="101" name="Rectangle 100"/>
          <p:cNvSpPr/>
          <p:nvPr/>
        </p:nvSpPr>
        <p:spPr>
          <a:xfrm>
            <a:off x="9582912" y="4388832"/>
            <a:ext cx="914400" cy="1008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618912" y="4381632"/>
            <a:ext cx="914400" cy="108000"/>
          </a:xfrm>
          <a:prstGeom prst="rect">
            <a:avLst/>
          </a:prstGeom>
          <a:noFill/>
        </p:spPr>
        <p:txBody>
          <a:bodyPr wrap="square">
            <a:spAutoFit/>
          </a:bodyPr>
          <a:lstStyle/>
          <a:p>
            <a:pPr algn="l"/>
            <a:r>
              <a:rPr sz="700" b="1" i="0">
                <a:solidFill>
                  <a:srgbClr val="FFFFFF"/>
                </a:solidFill>
                <a:latin typeface="Zen Kaku Gothic New"/>
              </a:rPr>
              <a:t>源泉所得税</a:t>
            </a:r>
          </a:p>
        </p:txBody>
      </p:sp>
      <p:sp>
        <p:nvSpPr>
          <p:cNvPr id="103" name="TextBox 102"/>
          <p:cNvSpPr txBox="1"/>
          <p:nvPr/>
        </p:nvSpPr>
        <p:spPr>
          <a:xfrm>
            <a:off x="9601200" y="4507632"/>
            <a:ext cx="2011680" cy="457200"/>
          </a:xfrm>
          <a:prstGeom prst="rect">
            <a:avLst/>
          </a:prstGeom>
          <a:noFill/>
        </p:spPr>
        <p:txBody>
          <a:bodyPr wrap="square">
            <a:spAutoFit/>
          </a:bodyPr>
          <a:lstStyle/>
          <a:p>
            <a:pPr algn="l"/>
            <a:r>
              <a:rPr sz="750" b="0" i="0">
                <a:solidFill>
                  <a:srgbClr val="444444"/>
                </a:solidFill>
                <a:latin typeface="Zen Kaku Gothic New"/>
              </a:rPr>
              <a:t>2月分 納付</a:t>
            </a:r>
          </a:p>
        </p:txBody>
      </p:sp>
      <p:sp>
        <p:nvSpPr>
          <p:cNvPr id="104" name="Rectangle 103"/>
          <p:cNvSpPr/>
          <p:nvPr/>
        </p:nvSpPr>
        <p:spPr>
          <a:xfrm>
            <a:off x="9582912" y="4882608"/>
            <a:ext cx="91440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618912" y="4875408"/>
            <a:ext cx="914400" cy="108000"/>
          </a:xfrm>
          <a:prstGeom prst="rect">
            <a:avLst/>
          </a:prstGeom>
          <a:noFill/>
        </p:spPr>
        <p:txBody>
          <a:bodyPr wrap="square">
            <a:spAutoFit/>
          </a:bodyPr>
          <a:lstStyle/>
          <a:p>
            <a:pPr algn="l"/>
            <a:r>
              <a:rPr sz="700" b="1" i="0">
                <a:solidFill>
                  <a:srgbClr val="FFFFFF"/>
                </a:solidFill>
                <a:latin typeface="Zen Kaku Gothic New"/>
              </a:rPr>
              <a:t>決算</a:t>
            </a:r>
          </a:p>
        </p:txBody>
      </p:sp>
      <p:sp>
        <p:nvSpPr>
          <p:cNvPr id="106" name="TextBox 105"/>
          <p:cNvSpPr txBox="1"/>
          <p:nvPr/>
        </p:nvSpPr>
        <p:spPr>
          <a:xfrm>
            <a:off x="9601200" y="5001408"/>
            <a:ext cx="2011680" cy="457200"/>
          </a:xfrm>
          <a:prstGeom prst="rect">
            <a:avLst/>
          </a:prstGeom>
          <a:noFill/>
        </p:spPr>
        <p:txBody>
          <a:bodyPr wrap="square">
            <a:spAutoFit/>
          </a:bodyPr>
          <a:lstStyle/>
          <a:p>
            <a:pPr algn="l"/>
            <a:r>
              <a:rPr sz="750" b="0" i="0">
                <a:solidFill>
                  <a:srgbClr val="444444"/>
                </a:solidFill>
                <a:latin typeface="Zen Kaku Gothic New"/>
              </a:rPr>
              <a:t>3月末 期末・決算作業開始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Zen Kaku Gothic New"/>
              </a:rPr>
              <a:t>04</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Zen Kaku Gothic New"/>
              </a:rPr>
              <a:t>消費税の基本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Zen Kaku Gothic New"/>
              </a:rPr>
              <a:t>課税・免税の判定フロー、インボイス制度、届出書の種類と期限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0"/>
            <a:ext cx="9601200" cy="822960"/>
          </a:xfrm>
          <a:prstGeom prst="rect">
            <a:avLst/>
          </a:prstGeom>
          <a:noFill/>
        </p:spPr>
        <p:txBody>
          <a:bodyPr wrap="square">
            <a:spAutoFit/>
          </a:bodyPr>
          <a:lstStyle/>
          <a:p>
            <a:pPr algn="l"/>
            <a:r>
              <a:rPr sz="1600" b="1" i="0">
                <a:solidFill>
                  <a:srgbClr val="FFFFFF"/>
                </a:solidFill>
                <a:latin typeface="Zen Kaku Gothic New"/>
              </a:rPr>
              <a:t>04  消費税の基本</a:t>
            </a:r>
          </a:p>
        </p:txBody>
      </p:sp>
      <p:sp>
        <p:nvSpPr>
          <p:cNvPr id="4" name="TextBox 3"/>
          <p:cNvSpPr txBox="1"/>
          <p:nvPr/>
        </p:nvSpPr>
        <p:spPr>
          <a:xfrm>
            <a:off x="182880" y="1005840"/>
            <a:ext cx="5486400" cy="411480"/>
          </a:xfrm>
          <a:prstGeom prst="rect">
            <a:avLst/>
          </a:prstGeom>
          <a:noFill/>
        </p:spPr>
        <p:txBody>
          <a:bodyPr wrap="square">
            <a:spAutoFit/>
          </a:bodyPr>
          <a:lstStyle/>
          <a:p>
            <a:pPr algn="l"/>
            <a:r>
              <a:rPr sz="1300" b="1" i="0">
                <a:solidFill>
                  <a:srgbClr val="1A1A1A"/>
                </a:solidFill>
                <a:latin typeface="Zen Kaku Gothic New"/>
              </a:rPr>
              <a:t>免税事業者の判定フロー</a:t>
            </a:r>
          </a:p>
        </p:txBody>
      </p:sp>
      <p:sp>
        <p:nvSpPr>
          <p:cNvPr id="5" name="Rectangle 4"/>
          <p:cNvSpPr/>
          <p:nvPr/>
        </p:nvSpPr>
        <p:spPr>
          <a:xfrm>
            <a:off x="182880" y="1508760"/>
            <a:ext cx="54864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508760"/>
            <a:ext cx="731520" cy="105156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1508760"/>
            <a:ext cx="731520" cy="1051560"/>
          </a:xfrm>
          <a:prstGeom prst="rect">
            <a:avLst/>
          </a:prstGeom>
          <a:noFill/>
        </p:spPr>
        <p:txBody>
          <a:bodyPr wrap="square">
            <a:spAutoFit/>
          </a:bodyPr>
          <a:lstStyle/>
          <a:p>
            <a:pPr algn="ctr"/>
            <a:r>
              <a:rPr sz="800" b="1" i="0">
                <a:solidFill>
                  <a:srgbClr val="FFFFFF"/>
                </a:solidFill>
                <a:latin typeface="Zen Kaku Gothic New"/>
              </a:rPr>
              <a:t>STEP 1</a:t>
            </a:r>
          </a:p>
        </p:txBody>
      </p:sp>
      <p:sp>
        <p:nvSpPr>
          <p:cNvPr id="8" name="TextBox 7"/>
          <p:cNvSpPr txBox="1"/>
          <p:nvPr/>
        </p:nvSpPr>
        <p:spPr>
          <a:xfrm>
            <a:off x="1005840" y="1581912"/>
            <a:ext cx="4572000" cy="411480"/>
          </a:xfrm>
          <a:prstGeom prst="rect">
            <a:avLst/>
          </a:prstGeom>
          <a:noFill/>
        </p:spPr>
        <p:txBody>
          <a:bodyPr wrap="square">
            <a:spAutoFit/>
          </a:bodyPr>
          <a:lstStyle/>
          <a:p>
            <a:pPr algn="l"/>
            <a:r>
              <a:rPr sz="1000" b="1" i="0">
                <a:solidFill>
                  <a:srgbClr val="1A1A1A"/>
                </a:solidFill>
                <a:latin typeface="Zen Kaku Gothic New"/>
              </a:rPr>
              <a:t>基準期間（2期前）の課税売上高は？</a:t>
            </a:r>
          </a:p>
        </p:txBody>
      </p:sp>
      <p:sp>
        <p:nvSpPr>
          <p:cNvPr id="9" name="TextBox 8"/>
          <p:cNvSpPr txBox="1"/>
          <p:nvPr/>
        </p:nvSpPr>
        <p:spPr>
          <a:xfrm>
            <a:off x="1005840" y="2011680"/>
            <a:ext cx="4572000" cy="457200"/>
          </a:xfrm>
          <a:prstGeom prst="rect">
            <a:avLst/>
          </a:prstGeom>
          <a:noFill/>
        </p:spPr>
        <p:txBody>
          <a:bodyPr wrap="square">
            <a:spAutoFit/>
          </a:bodyPr>
          <a:lstStyle/>
          <a:p>
            <a:pPr algn="l"/>
            <a:r>
              <a:rPr sz="900" b="0" i="0">
                <a:solidFill>
                  <a:srgbClr val="444444"/>
                </a:solidFill>
                <a:latin typeface="Zen Kaku Gothic New"/>
              </a:rPr>
              <a:t>1,000万円以下 → 次へ / 超 → 課税事業者</a:t>
            </a:r>
          </a:p>
        </p:txBody>
      </p:sp>
      <p:sp>
        <p:nvSpPr>
          <p:cNvPr id="10" name="Rectangle 9"/>
          <p:cNvSpPr/>
          <p:nvPr/>
        </p:nvSpPr>
        <p:spPr>
          <a:xfrm>
            <a:off x="182880" y="2697480"/>
            <a:ext cx="54864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697480"/>
            <a:ext cx="731520" cy="105156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2697480"/>
            <a:ext cx="731520" cy="1051560"/>
          </a:xfrm>
          <a:prstGeom prst="rect">
            <a:avLst/>
          </a:prstGeom>
          <a:noFill/>
        </p:spPr>
        <p:txBody>
          <a:bodyPr wrap="square">
            <a:spAutoFit/>
          </a:bodyPr>
          <a:lstStyle/>
          <a:p>
            <a:pPr algn="ctr"/>
            <a:r>
              <a:rPr sz="800" b="1" i="0">
                <a:solidFill>
                  <a:srgbClr val="FFFFFF"/>
                </a:solidFill>
                <a:latin typeface="Zen Kaku Gothic New"/>
              </a:rPr>
              <a:t>STEP 2</a:t>
            </a:r>
          </a:p>
        </p:txBody>
      </p:sp>
      <p:sp>
        <p:nvSpPr>
          <p:cNvPr id="13" name="TextBox 12"/>
          <p:cNvSpPr txBox="1"/>
          <p:nvPr/>
        </p:nvSpPr>
        <p:spPr>
          <a:xfrm>
            <a:off x="1005840" y="2770632"/>
            <a:ext cx="4572000" cy="411480"/>
          </a:xfrm>
          <a:prstGeom prst="rect">
            <a:avLst/>
          </a:prstGeom>
          <a:noFill/>
        </p:spPr>
        <p:txBody>
          <a:bodyPr wrap="square">
            <a:spAutoFit/>
          </a:bodyPr>
          <a:lstStyle/>
          <a:p>
            <a:pPr algn="l"/>
            <a:r>
              <a:rPr sz="1000" b="1" i="0">
                <a:solidFill>
                  <a:srgbClr val="1A1A1A"/>
                </a:solidFill>
                <a:latin typeface="Zen Kaku Gothic New"/>
              </a:rPr>
              <a:t>特定期間（前期の上半期）の売上・給与は？</a:t>
            </a:r>
          </a:p>
        </p:txBody>
      </p:sp>
      <p:sp>
        <p:nvSpPr>
          <p:cNvPr id="14" name="TextBox 13"/>
          <p:cNvSpPr txBox="1"/>
          <p:nvPr/>
        </p:nvSpPr>
        <p:spPr>
          <a:xfrm>
            <a:off x="1005840" y="3200400"/>
            <a:ext cx="4572000" cy="457200"/>
          </a:xfrm>
          <a:prstGeom prst="rect">
            <a:avLst/>
          </a:prstGeom>
          <a:noFill/>
        </p:spPr>
        <p:txBody>
          <a:bodyPr wrap="square">
            <a:spAutoFit/>
          </a:bodyPr>
          <a:lstStyle/>
          <a:p>
            <a:pPr algn="l"/>
            <a:r>
              <a:rPr sz="900" b="0" i="0">
                <a:solidFill>
                  <a:srgbClr val="444444"/>
                </a:solidFill>
                <a:latin typeface="Zen Kaku Gothic New"/>
              </a:rPr>
              <a:t>各1,000万円以下 → 次へ / 超 → 課税事業者</a:t>
            </a:r>
          </a:p>
        </p:txBody>
      </p:sp>
      <p:sp>
        <p:nvSpPr>
          <p:cNvPr id="15" name="Rectangle 14"/>
          <p:cNvSpPr/>
          <p:nvPr/>
        </p:nvSpPr>
        <p:spPr>
          <a:xfrm>
            <a:off x="182880" y="3886200"/>
            <a:ext cx="54864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886200"/>
            <a:ext cx="731520" cy="105156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 y="3886200"/>
            <a:ext cx="731520" cy="1051560"/>
          </a:xfrm>
          <a:prstGeom prst="rect">
            <a:avLst/>
          </a:prstGeom>
          <a:noFill/>
        </p:spPr>
        <p:txBody>
          <a:bodyPr wrap="square">
            <a:spAutoFit/>
          </a:bodyPr>
          <a:lstStyle/>
          <a:p>
            <a:pPr algn="ctr"/>
            <a:r>
              <a:rPr sz="800" b="1" i="0">
                <a:solidFill>
                  <a:srgbClr val="FFFFFF"/>
                </a:solidFill>
                <a:latin typeface="Zen Kaku Gothic New"/>
              </a:rPr>
              <a:t>STEP 3</a:t>
            </a:r>
          </a:p>
        </p:txBody>
      </p:sp>
      <p:sp>
        <p:nvSpPr>
          <p:cNvPr id="18" name="TextBox 17"/>
          <p:cNvSpPr txBox="1"/>
          <p:nvPr/>
        </p:nvSpPr>
        <p:spPr>
          <a:xfrm>
            <a:off x="1005840" y="3959352"/>
            <a:ext cx="4572000" cy="411480"/>
          </a:xfrm>
          <a:prstGeom prst="rect">
            <a:avLst/>
          </a:prstGeom>
          <a:noFill/>
        </p:spPr>
        <p:txBody>
          <a:bodyPr wrap="square">
            <a:spAutoFit/>
          </a:bodyPr>
          <a:lstStyle/>
          <a:p>
            <a:pPr algn="l"/>
            <a:r>
              <a:rPr sz="1000" b="1" i="0">
                <a:solidFill>
                  <a:srgbClr val="1A1A1A"/>
                </a:solidFill>
                <a:latin typeface="Zen Kaku Gothic New"/>
              </a:rPr>
              <a:t>資本金は1,000万円未満か？</a:t>
            </a:r>
          </a:p>
        </p:txBody>
      </p:sp>
      <p:sp>
        <p:nvSpPr>
          <p:cNvPr id="19" name="TextBox 18"/>
          <p:cNvSpPr txBox="1"/>
          <p:nvPr/>
        </p:nvSpPr>
        <p:spPr>
          <a:xfrm>
            <a:off x="1005840" y="4389120"/>
            <a:ext cx="4572000" cy="457200"/>
          </a:xfrm>
          <a:prstGeom prst="rect">
            <a:avLst/>
          </a:prstGeom>
          <a:noFill/>
        </p:spPr>
        <p:txBody>
          <a:bodyPr wrap="square">
            <a:spAutoFit/>
          </a:bodyPr>
          <a:lstStyle/>
          <a:p>
            <a:pPr algn="l"/>
            <a:r>
              <a:rPr sz="900" b="0" i="0">
                <a:solidFill>
                  <a:srgbClr val="444444"/>
                </a:solidFill>
                <a:latin typeface="Zen Kaku Gothic New"/>
              </a:rPr>
              <a:t>1,000万円以上 → 設立1・2期目から課税事業者</a:t>
            </a:r>
          </a:p>
        </p:txBody>
      </p:sp>
      <p:sp>
        <p:nvSpPr>
          <p:cNvPr id="20" name="Rectangle 19"/>
          <p:cNvSpPr/>
          <p:nvPr/>
        </p:nvSpPr>
        <p:spPr>
          <a:xfrm>
            <a:off x="182880" y="5074920"/>
            <a:ext cx="54864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5074920"/>
            <a:ext cx="731520" cy="105156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5074920"/>
            <a:ext cx="731520" cy="1051560"/>
          </a:xfrm>
          <a:prstGeom prst="rect">
            <a:avLst/>
          </a:prstGeom>
          <a:noFill/>
        </p:spPr>
        <p:txBody>
          <a:bodyPr wrap="square">
            <a:spAutoFit/>
          </a:bodyPr>
          <a:lstStyle/>
          <a:p>
            <a:pPr algn="ctr"/>
            <a:r>
              <a:rPr sz="800" b="1" i="0">
                <a:solidFill>
                  <a:srgbClr val="FFFFFF"/>
                </a:solidFill>
                <a:latin typeface="Zen Kaku Gothic New"/>
              </a:rPr>
              <a:t>STEP 4</a:t>
            </a:r>
          </a:p>
        </p:txBody>
      </p:sp>
      <p:sp>
        <p:nvSpPr>
          <p:cNvPr id="23" name="TextBox 22"/>
          <p:cNvSpPr txBox="1"/>
          <p:nvPr/>
        </p:nvSpPr>
        <p:spPr>
          <a:xfrm>
            <a:off x="1005840" y="5148072"/>
            <a:ext cx="4572000" cy="411480"/>
          </a:xfrm>
          <a:prstGeom prst="rect">
            <a:avLst/>
          </a:prstGeom>
          <a:noFill/>
        </p:spPr>
        <p:txBody>
          <a:bodyPr wrap="square">
            <a:spAutoFit/>
          </a:bodyPr>
          <a:lstStyle/>
          <a:p>
            <a:pPr algn="l"/>
            <a:r>
              <a:rPr sz="1000" b="1" i="0">
                <a:solidFill>
                  <a:srgbClr val="1A1A1A"/>
                </a:solidFill>
                <a:latin typeface="Zen Kaku Gothic New"/>
              </a:rPr>
              <a:t>インボイス登録をするか？</a:t>
            </a:r>
          </a:p>
        </p:txBody>
      </p:sp>
      <p:sp>
        <p:nvSpPr>
          <p:cNvPr id="24" name="TextBox 23"/>
          <p:cNvSpPr txBox="1"/>
          <p:nvPr/>
        </p:nvSpPr>
        <p:spPr>
          <a:xfrm>
            <a:off x="1005840" y="5577840"/>
            <a:ext cx="4572000" cy="457200"/>
          </a:xfrm>
          <a:prstGeom prst="rect">
            <a:avLst/>
          </a:prstGeom>
          <a:noFill/>
        </p:spPr>
        <p:txBody>
          <a:bodyPr wrap="square">
            <a:spAutoFit/>
          </a:bodyPr>
          <a:lstStyle/>
          <a:p>
            <a:pPr algn="l"/>
            <a:r>
              <a:rPr sz="900" b="0" i="0">
                <a:solidFill>
                  <a:srgbClr val="444444"/>
                </a:solidFill>
                <a:latin typeface="Zen Kaku Gothic New"/>
              </a:rPr>
              <a:t>登録する → 登録日から課税事業者（強制）</a:t>
            </a:r>
          </a:p>
        </p:txBody>
      </p:sp>
      <p:sp>
        <p:nvSpPr>
          <p:cNvPr id="25" name="TextBox 24"/>
          <p:cNvSpPr txBox="1"/>
          <p:nvPr/>
        </p:nvSpPr>
        <p:spPr>
          <a:xfrm>
            <a:off x="6035040" y="1005840"/>
            <a:ext cx="5943600" cy="411480"/>
          </a:xfrm>
          <a:prstGeom prst="rect">
            <a:avLst/>
          </a:prstGeom>
          <a:noFill/>
        </p:spPr>
        <p:txBody>
          <a:bodyPr wrap="square">
            <a:spAutoFit/>
          </a:bodyPr>
          <a:lstStyle/>
          <a:p>
            <a:pPr algn="l"/>
            <a:r>
              <a:rPr sz="1300" b="1" i="0">
                <a:solidFill>
                  <a:srgbClr val="1A1A1A"/>
                </a:solidFill>
                <a:latin typeface="Zen Kaku Gothic New"/>
              </a:rPr>
              <a:t>覚えておきたい届出書と制度</a:t>
            </a:r>
          </a:p>
        </p:txBody>
      </p:sp>
      <p:sp>
        <p:nvSpPr>
          <p:cNvPr id="26" name="Rectangle 25"/>
          <p:cNvSpPr/>
          <p:nvPr/>
        </p:nvSpPr>
        <p:spPr>
          <a:xfrm>
            <a:off x="6035040" y="1508760"/>
            <a:ext cx="59436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35040" y="1508760"/>
            <a:ext cx="16459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581912"/>
            <a:ext cx="5669280" cy="320040"/>
          </a:xfrm>
          <a:prstGeom prst="rect">
            <a:avLst/>
          </a:prstGeom>
          <a:noFill/>
        </p:spPr>
        <p:txBody>
          <a:bodyPr wrap="square">
            <a:spAutoFit/>
          </a:bodyPr>
          <a:lstStyle/>
          <a:p>
            <a:pPr algn="l"/>
            <a:r>
              <a:rPr sz="1000" b="1" i="0">
                <a:solidFill>
                  <a:srgbClr val="1A1A1A"/>
                </a:solidFill>
                <a:latin typeface="Zen Kaku Gothic New"/>
              </a:rPr>
              <a:t>課税事業者選択届出書</a:t>
            </a:r>
          </a:p>
        </p:txBody>
      </p:sp>
      <p:sp>
        <p:nvSpPr>
          <p:cNvPr id="29" name="TextBox 28"/>
          <p:cNvSpPr txBox="1"/>
          <p:nvPr/>
        </p:nvSpPr>
        <p:spPr>
          <a:xfrm>
            <a:off x="6263640" y="1920240"/>
            <a:ext cx="5669280" cy="566928"/>
          </a:xfrm>
          <a:prstGeom prst="rect">
            <a:avLst/>
          </a:prstGeom>
          <a:noFill/>
        </p:spPr>
        <p:txBody>
          <a:bodyPr wrap="square">
            <a:spAutoFit/>
          </a:bodyPr>
          <a:lstStyle/>
          <a:p>
            <a:pPr algn="l"/>
            <a:r>
              <a:rPr sz="850" b="0" i="0">
                <a:solidFill>
                  <a:srgbClr val="444444"/>
                </a:solidFill>
                <a:latin typeface="Zen Kaku Gothic New"/>
              </a:rPr>
              <a:t>免税事業者でも課税を選択できる。インボイス登録と合わせて検討。
提出期限：適用を受けようとする課税期間の開始前日</a:t>
            </a:r>
          </a:p>
        </p:txBody>
      </p:sp>
      <p:sp>
        <p:nvSpPr>
          <p:cNvPr id="30" name="Rectangle 29"/>
          <p:cNvSpPr/>
          <p:nvPr/>
        </p:nvSpPr>
        <p:spPr>
          <a:xfrm>
            <a:off x="6035040" y="2697480"/>
            <a:ext cx="59436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697480"/>
            <a:ext cx="164592" cy="105156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2770632"/>
            <a:ext cx="5669280" cy="320040"/>
          </a:xfrm>
          <a:prstGeom prst="rect">
            <a:avLst/>
          </a:prstGeom>
          <a:noFill/>
        </p:spPr>
        <p:txBody>
          <a:bodyPr wrap="square">
            <a:spAutoFit/>
          </a:bodyPr>
          <a:lstStyle/>
          <a:p>
            <a:pPr algn="l"/>
            <a:r>
              <a:rPr sz="1000" b="1" i="0">
                <a:solidFill>
                  <a:srgbClr val="1A1A1A"/>
                </a:solidFill>
                <a:latin typeface="Zen Kaku Gothic New"/>
              </a:rPr>
              <a:t>簡易課税制度選択届出書</a:t>
            </a:r>
          </a:p>
        </p:txBody>
      </p:sp>
      <p:sp>
        <p:nvSpPr>
          <p:cNvPr id="33" name="TextBox 32"/>
          <p:cNvSpPr txBox="1"/>
          <p:nvPr/>
        </p:nvSpPr>
        <p:spPr>
          <a:xfrm>
            <a:off x="6263640" y="3108960"/>
            <a:ext cx="5669280" cy="566928"/>
          </a:xfrm>
          <a:prstGeom prst="rect">
            <a:avLst/>
          </a:prstGeom>
          <a:noFill/>
        </p:spPr>
        <p:txBody>
          <a:bodyPr wrap="square">
            <a:spAutoFit/>
          </a:bodyPr>
          <a:lstStyle/>
          <a:p>
            <a:pPr algn="l"/>
            <a:r>
              <a:rPr sz="850" b="0" i="0">
                <a:solidFill>
                  <a:srgbClr val="444444"/>
                </a:solidFill>
                <a:latin typeface="Zen Kaku Gothic New"/>
              </a:rPr>
              <a:t>前々年の課税売上高が5,000万円以下なら選択可。
みなし仕入率（業種別：40〜90%）で納税額を計算できる。
提出期限：適用を受けようとする課税期間の開始前日</a:t>
            </a:r>
          </a:p>
        </p:txBody>
      </p:sp>
      <p:sp>
        <p:nvSpPr>
          <p:cNvPr id="34" name="Rectangle 33"/>
          <p:cNvSpPr/>
          <p:nvPr/>
        </p:nvSpPr>
        <p:spPr>
          <a:xfrm>
            <a:off x="6035040" y="3886200"/>
            <a:ext cx="59436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35040" y="3886200"/>
            <a:ext cx="164592" cy="105156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3959352"/>
            <a:ext cx="5669280" cy="320040"/>
          </a:xfrm>
          <a:prstGeom prst="rect">
            <a:avLst/>
          </a:prstGeom>
          <a:noFill/>
        </p:spPr>
        <p:txBody>
          <a:bodyPr wrap="square">
            <a:spAutoFit/>
          </a:bodyPr>
          <a:lstStyle/>
          <a:p>
            <a:pPr algn="l"/>
            <a:r>
              <a:rPr sz="1000" b="1" i="0">
                <a:solidFill>
                  <a:srgbClr val="1A1A1A"/>
                </a:solidFill>
                <a:latin typeface="Zen Kaku Gothic New"/>
              </a:rPr>
              <a:t>インボイス（適格請求書）制度</a:t>
            </a:r>
          </a:p>
        </p:txBody>
      </p:sp>
      <p:sp>
        <p:nvSpPr>
          <p:cNvPr id="37" name="TextBox 36"/>
          <p:cNvSpPr txBox="1"/>
          <p:nvPr/>
        </p:nvSpPr>
        <p:spPr>
          <a:xfrm>
            <a:off x="6263640" y="4297680"/>
            <a:ext cx="5669280" cy="566928"/>
          </a:xfrm>
          <a:prstGeom prst="rect">
            <a:avLst/>
          </a:prstGeom>
          <a:noFill/>
        </p:spPr>
        <p:txBody>
          <a:bodyPr wrap="square">
            <a:spAutoFit/>
          </a:bodyPr>
          <a:lstStyle/>
          <a:p>
            <a:pPr algn="l"/>
            <a:r>
              <a:rPr sz="850" b="0" i="0">
                <a:solidFill>
                  <a:srgbClr val="444444"/>
                </a:solidFill>
                <a:latin typeface="Zen Kaku Gothic New"/>
              </a:rPr>
              <a:t>2023年10月〜導入。登録番号のある請求書がないと仕入税額控除が使えない。
取引先が課税事業者の場合、登録しないと取引に支障が出る可能性あり。</a:t>
            </a:r>
          </a:p>
        </p:txBody>
      </p:sp>
      <p:sp>
        <p:nvSpPr>
          <p:cNvPr id="38" name="Rectangle 37"/>
          <p:cNvSpPr/>
          <p:nvPr/>
        </p:nvSpPr>
        <p:spPr>
          <a:xfrm>
            <a:off x="6035040" y="5074920"/>
            <a:ext cx="594360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35040" y="5074920"/>
            <a:ext cx="164592" cy="105156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5148072"/>
            <a:ext cx="5669280" cy="320040"/>
          </a:xfrm>
          <a:prstGeom prst="rect">
            <a:avLst/>
          </a:prstGeom>
          <a:noFill/>
        </p:spPr>
        <p:txBody>
          <a:bodyPr wrap="square">
            <a:spAutoFit/>
          </a:bodyPr>
          <a:lstStyle/>
          <a:p>
            <a:pPr algn="l"/>
            <a:r>
              <a:rPr sz="1000" b="1" i="0">
                <a:solidFill>
                  <a:srgbClr val="1A1A1A"/>
                </a:solidFill>
                <a:latin typeface="Zen Kaku Gothic New"/>
              </a:rPr>
              <a:t>消費税の申告・納付期限</a:t>
            </a:r>
          </a:p>
        </p:txBody>
      </p:sp>
      <p:sp>
        <p:nvSpPr>
          <p:cNvPr id="41" name="TextBox 40"/>
          <p:cNvSpPr txBox="1"/>
          <p:nvPr/>
        </p:nvSpPr>
        <p:spPr>
          <a:xfrm>
            <a:off x="6263640" y="5486400"/>
            <a:ext cx="5669280" cy="566928"/>
          </a:xfrm>
          <a:prstGeom prst="rect">
            <a:avLst/>
          </a:prstGeom>
          <a:noFill/>
        </p:spPr>
        <p:txBody>
          <a:bodyPr wrap="square">
            <a:spAutoFit/>
          </a:bodyPr>
          <a:lstStyle/>
          <a:p>
            <a:pPr algn="l"/>
            <a:r>
              <a:rPr sz="850" b="0" i="0">
                <a:solidFill>
                  <a:srgbClr val="444444"/>
                </a:solidFill>
                <a:latin typeface="Zen Kaku Gothic New"/>
              </a:rPr>
              <a:t>原則：事業年度終了日から2ヶ月以内
中間申告：前期税額48万円超は中間申告義務あり（年1〜11回）</a:t>
            </a:r>
          </a:p>
        </p:txBody>
      </p:sp>
      <p:sp>
        <p:nvSpPr>
          <p:cNvPr id="42" name="TextBox 41"/>
          <p:cNvSpPr txBox="1"/>
          <p:nvPr/>
        </p:nvSpPr>
        <p:spPr>
          <a:xfrm>
            <a:off x="182880" y="6355080"/>
            <a:ext cx="11887200" cy="365760"/>
          </a:xfrm>
          <a:prstGeom prst="rect">
            <a:avLst/>
          </a:prstGeom>
          <a:noFill/>
        </p:spPr>
        <p:txBody>
          <a:bodyPr wrap="square">
            <a:spAutoFit/>
          </a:bodyPr>
          <a:lstStyle/>
          <a:p>
            <a:pPr algn="l"/>
            <a:r>
              <a:rPr sz="800" b="0" i="0">
                <a:solidFill>
                  <a:srgbClr val="888888"/>
                </a:solidFill>
                <a:latin typeface="Zen Kaku Gothic New"/>
              </a:rPr>
              <a:t>※ 消費税の届出書は、提出期限を過ぎると翌期以降の適用になるものが多く注意が必要です。設立直後にご相談ください。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Zen Kaku Gothic New"/>
              </a:rPr>
              <a:t>05</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Zen Kaku Gothic New"/>
              </a:rPr>
              <a:t>役員報酬の基本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Zen Kaku Gothic New"/>
              </a:rPr>
              <a:t>設立後3ヶ月ルールと定期同額給与・節税効果の概要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0"/>
            <a:ext cx="9601200" cy="822960"/>
          </a:xfrm>
          <a:prstGeom prst="rect">
            <a:avLst/>
          </a:prstGeom>
          <a:noFill/>
        </p:spPr>
        <p:txBody>
          <a:bodyPr wrap="square">
            <a:spAutoFit/>
          </a:bodyPr>
          <a:lstStyle/>
          <a:p>
            <a:pPr algn="l"/>
            <a:r>
              <a:rPr sz="1600" b="1" i="0">
                <a:solidFill>
                  <a:srgbClr val="FFFFFF"/>
                </a:solidFill>
                <a:latin typeface="Zen Kaku Gothic New"/>
              </a:rPr>
              <a:t>05  役員報酬の基本</a:t>
            </a:r>
          </a:p>
        </p:txBody>
      </p:sp>
      <p:sp>
        <p:nvSpPr>
          <p:cNvPr id="4" name="TextBox 3"/>
          <p:cNvSpPr txBox="1"/>
          <p:nvPr/>
        </p:nvSpPr>
        <p:spPr>
          <a:xfrm>
            <a:off x="182880" y="1005840"/>
            <a:ext cx="5394960" cy="411480"/>
          </a:xfrm>
          <a:prstGeom prst="rect">
            <a:avLst/>
          </a:prstGeom>
          <a:noFill/>
        </p:spPr>
        <p:txBody>
          <a:bodyPr wrap="square">
            <a:spAutoFit/>
          </a:bodyPr>
          <a:lstStyle/>
          <a:p>
            <a:pPr algn="l"/>
            <a:r>
              <a:rPr sz="1300" b="1" i="0">
                <a:solidFill>
                  <a:srgbClr val="1A1A1A"/>
                </a:solidFill>
                <a:latin typeface="Zen Kaku Gothic New"/>
              </a:rPr>
              <a:t>役員報酬の3種類</a:t>
            </a:r>
          </a:p>
        </p:txBody>
      </p:sp>
      <p:sp>
        <p:nvSpPr>
          <p:cNvPr id="5" name="Rectangle 4"/>
          <p:cNvSpPr/>
          <p:nvPr/>
        </p:nvSpPr>
        <p:spPr>
          <a:xfrm>
            <a:off x="182880" y="1508760"/>
            <a:ext cx="5394960" cy="12618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508760"/>
            <a:ext cx="164592" cy="12618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600200"/>
            <a:ext cx="5074920" cy="347472"/>
          </a:xfrm>
          <a:prstGeom prst="rect">
            <a:avLst/>
          </a:prstGeom>
          <a:noFill/>
        </p:spPr>
        <p:txBody>
          <a:bodyPr wrap="square">
            <a:spAutoFit/>
          </a:bodyPr>
          <a:lstStyle/>
          <a:p>
            <a:pPr algn="l"/>
            <a:r>
              <a:rPr sz="1100" b="1" i="0">
                <a:solidFill>
                  <a:srgbClr val="1A1A1A"/>
                </a:solidFill>
                <a:latin typeface="Zen Kaku Gothic New"/>
              </a:rPr>
              <a:t>定期同額給与</a:t>
            </a:r>
          </a:p>
        </p:txBody>
      </p:sp>
      <p:sp>
        <p:nvSpPr>
          <p:cNvPr id="8" name="TextBox 7"/>
          <p:cNvSpPr txBox="1"/>
          <p:nvPr/>
        </p:nvSpPr>
        <p:spPr>
          <a:xfrm>
            <a:off x="438912" y="1965960"/>
            <a:ext cx="5074920" cy="749808"/>
          </a:xfrm>
          <a:prstGeom prst="rect">
            <a:avLst/>
          </a:prstGeom>
          <a:noFill/>
        </p:spPr>
        <p:txBody>
          <a:bodyPr wrap="square">
            <a:spAutoFit/>
          </a:bodyPr>
          <a:lstStyle/>
          <a:p>
            <a:pPr algn="l"/>
            <a:r>
              <a:rPr sz="850" b="0" i="0">
                <a:solidFill>
                  <a:srgbClr val="444444"/>
                </a:solidFill>
                <a:latin typeface="Zen Kaku Gothic New"/>
              </a:rPr>
              <a:t>毎月同額を支払う報酬。最も一般的。
変更できるのは「事業年度開始から3ヶ月以内」のみ。
この期間外に変更すると、変更分が損金不算入になる。</a:t>
            </a:r>
          </a:p>
        </p:txBody>
      </p:sp>
      <p:sp>
        <p:nvSpPr>
          <p:cNvPr id="9" name="Rectangle 8"/>
          <p:cNvSpPr/>
          <p:nvPr/>
        </p:nvSpPr>
        <p:spPr>
          <a:xfrm>
            <a:off x="182880" y="2926080"/>
            <a:ext cx="5394960" cy="12618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2926080"/>
            <a:ext cx="164592" cy="126187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3017520"/>
            <a:ext cx="5074920" cy="347472"/>
          </a:xfrm>
          <a:prstGeom prst="rect">
            <a:avLst/>
          </a:prstGeom>
          <a:noFill/>
        </p:spPr>
        <p:txBody>
          <a:bodyPr wrap="square">
            <a:spAutoFit/>
          </a:bodyPr>
          <a:lstStyle/>
          <a:p>
            <a:pPr algn="l"/>
            <a:r>
              <a:rPr sz="1100" b="1" i="0">
                <a:solidFill>
                  <a:srgbClr val="1A1A1A"/>
                </a:solidFill>
                <a:latin typeface="Zen Kaku Gothic New"/>
              </a:rPr>
              <a:t>事前確定届出給与</a:t>
            </a:r>
          </a:p>
        </p:txBody>
      </p:sp>
      <p:sp>
        <p:nvSpPr>
          <p:cNvPr id="12" name="TextBox 11"/>
          <p:cNvSpPr txBox="1"/>
          <p:nvPr/>
        </p:nvSpPr>
        <p:spPr>
          <a:xfrm>
            <a:off x="438912" y="3383280"/>
            <a:ext cx="5074920" cy="749808"/>
          </a:xfrm>
          <a:prstGeom prst="rect">
            <a:avLst/>
          </a:prstGeom>
          <a:noFill/>
        </p:spPr>
        <p:txBody>
          <a:bodyPr wrap="square">
            <a:spAutoFit/>
          </a:bodyPr>
          <a:lstStyle/>
          <a:p>
            <a:pPr algn="l"/>
            <a:r>
              <a:rPr sz="850" b="0" i="0">
                <a:solidFill>
                  <a:srgbClr val="444444"/>
                </a:solidFill>
                <a:latin typeface="Zen Kaku Gothic New"/>
              </a:rPr>
              <a:t>賞与相当。支給額・支給日を事前に税務署へ届け出ることで損金算入可。
届出期限：定時株主総会から1ヶ月以内 または 事業年度開始から4ヶ月以内。</a:t>
            </a:r>
          </a:p>
        </p:txBody>
      </p:sp>
      <p:sp>
        <p:nvSpPr>
          <p:cNvPr id="13" name="Rectangle 12"/>
          <p:cNvSpPr/>
          <p:nvPr/>
        </p:nvSpPr>
        <p:spPr>
          <a:xfrm>
            <a:off x="182880" y="4343400"/>
            <a:ext cx="5394960" cy="12618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 y="4343400"/>
            <a:ext cx="164592" cy="1261872"/>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4434840"/>
            <a:ext cx="5074920" cy="347472"/>
          </a:xfrm>
          <a:prstGeom prst="rect">
            <a:avLst/>
          </a:prstGeom>
          <a:noFill/>
        </p:spPr>
        <p:txBody>
          <a:bodyPr wrap="square">
            <a:spAutoFit/>
          </a:bodyPr>
          <a:lstStyle/>
          <a:p>
            <a:pPr algn="l"/>
            <a:r>
              <a:rPr sz="1100" b="1" i="0">
                <a:solidFill>
                  <a:srgbClr val="1A1A1A"/>
                </a:solidFill>
                <a:latin typeface="Zen Kaku Gothic New"/>
              </a:rPr>
              <a:t>業績連動給与</a:t>
            </a:r>
          </a:p>
        </p:txBody>
      </p:sp>
      <p:sp>
        <p:nvSpPr>
          <p:cNvPr id="16" name="TextBox 15"/>
          <p:cNvSpPr txBox="1"/>
          <p:nvPr/>
        </p:nvSpPr>
        <p:spPr>
          <a:xfrm>
            <a:off x="438912" y="4800600"/>
            <a:ext cx="5074920" cy="749808"/>
          </a:xfrm>
          <a:prstGeom prst="rect">
            <a:avLst/>
          </a:prstGeom>
          <a:noFill/>
        </p:spPr>
        <p:txBody>
          <a:bodyPr wrap="square">
            <a:spAutoFit/>
          </a:bodyPr>
          <a:lstStyle/>
          <a:p>
            <a:pPr algn="l"/>
            <a:r>
              <a:rPr sz="850" b="0" i="0">
                <a:solidFill>
                  <a:srgbClr val="444444"/>
                </a:solidFill>
                <a:latin typeface="Zen Kaku Gothic New"/>
              </a:rPr>
              <a:t>利益連動型の報酬。同族会社は原則不可。
上場企業等のみが対象となる特殊な制度。</a:t>
            </a:r>
          </a:p>
        </p:txBody>
      </p:sp>
      <p:sp>
        <p:nvSpPr>
          <p:cNvPr id="17" name="TextBox 16"/>
          <p:cNvSpPr txBox="1"/>
          <p:nvPr/>
        </p:nvSpPr>
        <p:spPr>
          <a:xfrm>
            <a:off x="5943600" y="1005840"/>
            <a:ext cx="6035040" cy="411480"/>
          </a:xfrm>
          <a:prstGeom prst="rect">
            <a:avLst/>
          </a:prstGeom>
          <a:noFill/>
        </p:spPr>
        <p:txBody>
          <a:bodyPr wrap="square">
            <a:spAutoFit/>
          </a:bodyPr>
          <a:lstStyle/>
          <a:p>
            <a:pPr algn="l"/>
            <a:r>
              <a:rPr sz="1300" b="1" i="0">
                <a:solidFill>
                  <a:srgbClr val="1A1A1A"/>
                </a:solidFill>
                <a:latin typeface="Zen Kaku Gothic New"/>
              </a:rPr>
              <a:t>設立直後の注意点と節税ポイント</a:t>
            </a:r>
          </a:p>
        </p:txBody>
      </p:sp>
      <p:sp>
        <p:nvSpPr>
          <p:cNvPr id="18" name="Rectangle 17"/>
          <p:cNvSpPr/>
          <p:nvPr/>
        </p:nvSpPr>
        <p:spPr>
          <a:xfrm>
            <a:off x="5943600" y="1508760"/>
            <a:ext cx="603504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0" y="1508760"/>
            <a:ext cx="16459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9632" y="1600200"/>
            <a:ext cx="5715000" cy="320040"/>
          </a:xfrm>
          <a:prstGeom prst="rect">
            <a:avLst/>
          </a:prstGeom>
          <a:noFill/>
        </p:spPr>
        <p:txBody>
          <a:bodyPr wrap="square">
            <a:spAutoFit/>
          </a:bodyPr>
          <a:lstStyle/>
          <a:p>
            <a:pPr algn="l"/>
            <a:r>
              <a:rPr sz="1000" b="1" i="0">
                <a:solidFill>
                  <a:srgbClr val="1A1A1A"/>
                </a:solidFill>
                <a:latin typeface="Zen Kaku Gothic New"/>
              </a:rPr>
              <a:t>設立後3ヶ月以内に必ず決定する</a:t>
            </a:r>
          </a:p>
        </p:txBody>
      </p:sp>
      <p:sp>
        <p:nvSpPr>
          <p:cNvPr id="21" name="TextBox 20"/>
          <p:cNvSpPr txBox="1"/>
          <p:nvPr/>
        </p:nvSpPr>
        <p:spPr>
          <a:xfrm>
            <a:off x="6199632" y="1947672"/>
            <a:ext cx="5715000" cy="548640"/>
          </a:xfrm>
          <a:prstGeom prst="rect">
            <a:avLst/>
          </a:prstGeom>
          <a:noFill/>
        </p:spPr>
        <p:txBody>
          <a:bodyPr wrap="square">
            <a:spAutoFit/>
          </a:bodyPr>
          <a:lstStyle/>
          <a:p>
            <a:pPr algn="l"/>
            <a:r>
              <a:rPr sz="850" b="0" i="0">
                <a:solidFill>
                  <a:srgbClr val="444444"/>
                </a:solidFill>
                <a:latin typeface="Zen Kaku Gothic New"/>
              </a:rPr>
              <a:t>設立1期目から定期同額給与を適用するには、設立後3ヶ月以内に支給額を確定し、
初回支払いを行う必要があります。期間を過ぎると損金算入できません。</a:t>
            </a:r>
          </a:p>
        </p:txBody>
      </p:sp>
      <p:sp>
        <p:nvSpPr>
          <p:cNvPr id="22" name="Rectangle 21"/>
          <p:cNvSpPr/>
          <p:nvPr/>
        </p:nvSpPr>
        <p:spPr>
          <a:xfrm>
            <a:off x="5943600" y="2697480"/>
            <a:ext cx="603504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0" y="2697480"/>
            <a:ext cx="164592" cy="105156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9632" y="2788920"/>
            <a:ext cx="5715000" cy="320040"/>
          </a:xfrm>
          <a:prstGeom prst="rect">
            <a:avLst/>
          </a:prstGeom>
          <a:noFill/>
        </p:spPr>
        <p:txBody>
          <a:bodyPr wrap="square">
            <a:spAutoFit/>
          </a:bodyPr>
          <a:lstStyle/>
          <a:p>
            <a:pPr algn="l"/>
            <a:r>
              <a:rPr sz="1000" b="1" i="0">
                <a:solidFill>
                  <a:srgbClr val="1A1A1A"/>
                </a:solidFill>
                <a:latin typeface="Zen Kaku Gothic New"/>
              </a:rPr>
              <a:t>高すぎても低すぎてもリスクがある</a:t>
            </a:r>
          </a:p>
        </p:txBody>
      </p:sp>
      <p:sp>
        <p:nvSpPr>
          <p:cNvPr id="25" name="TextBox 24"/>
          <p:cNvSpPr txBox="1"/>
          <p:nvPr/>
        </p:nvSpPr>
        <p:spPr>
          <a:xfrm>
            <a:off x="6199632" y="3136392"/>
            <a:ext cx="5715000" cy="548640"/>
          </a:xfrm>
          <a:prstGeom prst="rect">
            <a:avLst/>
          </a:prstGeom>
          <a:noFill/>
        </p:spPr>
        <p:txBody>
          <a:bodyPr wrap="square">
            <a:spAutoFit/>
          </a:bodyPr>
          <a:lstStyle/>
          <a:p>
            <a:pPr algn="l"/>
            <a:r>
              <a:rPr sz="850" b="0" i="0">
                <a:solidFill>
                  <a:srgbClr val="444444"/>
                </a:solidFill>
                <a:latin typeface="Zen Kaku Gothic New"/>
              </a:rPr>
              <a:t>高額すぎる役員報酬は「不相当に高額」として一部が損金不算入になる可能性。
一方で低すぎると社会保険料の等級が下がり将来の年金にも影響します。</a:t>
            </a:r>
          </a:p>
        </p:txBody>
      </p:sp>
      <p:sp>
        <p:nvSpPr>
          <p:cNvPr id="26" name="Rectangle 25"/>
          <p:cNvSpPr/>
          <p:nvPr/>
        </p:nvSpPr>
        <p:spPr>
          <a:xfrm>
            <a:off x="5943600" y="3886200"/>
            <a:ext cx="603504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3886200"/>
            <a:ext cx="164592" cy="105156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3977640"/>
            <a:ext cx="5715000" cy="320040"/>
          </a:xfrm>
          <a:prstGeom prst="rect">
            <a:avLst/>
          </a:prstGeom>
          <a:noFill/>
        </p:spPr>
        <p:txBody>
          <a:bodyPr wrap="square">
            <a:spAutoFit/>
          </a:bodyPr>
          <a:lstStyle/>
          <a:p>
            <a:pPr algn="l"/>
            <a:r>
              <a:rPr sz="1000" b="1" i="0">
                <a:solidFill>
                  <a:srgbClr val="1A1A1A"/>
                </a:solidFill>
                <a:latin typeface="Zen Kaku Gothic New"/>
              </a:rPr>
              <a:t>役員報酬は法人の節税ツール</a:t>
            </a:r>
          </a:p>
        </p:txBody>
      </p:sp>
      <p:sp>
        <p:nvSpPr>
          <p:cNvPr id="29" name="TextBox 28"/>
          <p:cNvSpPr txBox="1"/>
          <p:nvPr/>
        </p:nvSpPr>
        <p:spPr>
          <a:xfrm>
            <a:off x="6199632" y="4325112"/>
            <a:ext cx="5715000" cy="548640"/>
          </a:xfrm>
          <a:prstGeom prst="rect">
            <a:avLst/>
          </a:prstGeom>
          <a:noFill/>
        </p:spPr>
        <p:txBody>
          <a:bodyPr wrap="square">
            <a:spAutoFit/>
          </a:bodyPr>
          <a:lstStyle/>
          <a:p>
            <a:pPr algn="l"/>
            <a:r>
              <a:rPr sz="850" b="0" i="0">
                <a:solidFill>
                  <a:srgbClr val="444444"/>
                </a:solidFill>
                <a:latin typeface="Zen Kaku Gothic New"/>
              </a:rPr>
              <a:t>法人の利益 → 役員報酬として支払う → 法人の課税所得を減らせる。
ただし個人側で所得税・住民税がかかるため、最適なバランスの検討が必要。</a:t>
            </a:r>
          </a:p>
        </p:txBody>
      </p:sp>
      <p:sp>
        <p:nvSpPr>
          <p:cNvPr id="30" name="Rectangle 29"/>
          <p:cNvSpPr/>
          <p:nvPr/>
        </p:nvSpPr>
        <p:spPr>
          <a:xfrm>
            <a:off x="5943600" y="5074920"/>
            <a:ext cx="603504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5074920"/>
            <a:ext cx="164592" cy="105156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2" y="5166360"/>
            <a:ext cx="5715000" cy="320040"/>
          </a:xfrm>
          <a:prstGeom prst="rect">
            <a:avLst/>
          </a:prstGeom>
          <a:noFill/>
        </p:spPr>
        <p:txBody>
          <a:bodyPr wrap="square">
            <a:spAutoFit/>
          </a:bodyPr>
          <a:lstStyle/>
          <a:p>
            <a:pPr algn="l"/>
            <a:r>
              <a:rPr sz="1000" b="1" i="0">
                <a:solidFill>
                  <a:srgbClr val="1A1A1A"/>
                </a:solidFill>
                <a:latin typeface="Zen Kaku Gothic New"/>
              </a:rPr>
              <a:t>社会保険の扶養・健保上限も考慮</a:t>
            </a:r>
          </a:p>
        </p:txBody>
      </p:sp>
      <p:sp>
        <p:nvSpPr>
          <p:cNvPr id="33" name="TextBox 32"/>
          <p:cNvSpPr txBox="1"/>
          <p:nvPr/>
        </p:nvSpPr>
        <p:spPr>
          <a:xfrm>
            <a:off x="6199632" y="5513832"/>
            <a:ext cx="5715000" cy="548640"/>
          </a:xfrm>
          <a:prstGeom prst="rect">
            <a:avLst/>
          </a:prstGeom>
          <a:noFill/>
        </p:spPr>
        <p:txBody>
          <a:bodyPr wrap="square">
            <a:spAutoFit/>
          </a:bodyPr>
          <a:lstStyle/>
          <a:p>
            <a:pPr algn="l"/>
            <a:r>
              <a:rPr sz="850" b="0" i="0">
                <a:solidFill>
                  <a:srgbClr val="444444"/>
                </a:solidFill>
                <a:latin typeface="Zen Kaku Gothic New"/>
              </a:rPr>
              <a:t>標準報酬月額の上限（月額139万円）や、配偶者の扶養（130万円）との
兼ね合いも考えながら、報酬額を設計することが重要です。</a:t>
            </a:r>
          </a:p>
        </p:txBody>
      </p:sp>
      <p:sp>
        <p:nvSpPr>
          <p:cNvPr id="34" name="TextBox 33"/>
          <p:cNvSpPr txBox="1"/>
          <p:nvPr/>
        </p:nvSpPr>
        <p:spPr>
          <a:xfrm>
            <a:off x="182880" y="6355080"/>
            <a:ext cx="11887200" cy="365760"/>
          </a:xfrm>
          <a:prstGeom prst="rect">
            <a:avLst/>
          </a:prstGeom>
          <a:noFill/>
        </p:spPr>
        <p:txBody>
          <a:bodyPr wrap="square">
            <a:spAutoFit/>
          </a:bodyPr>
          <a:lstStyle/>
          <a:p>
            <a:pPr algn="l"/>
            <a:r>
              <a:rPr sz="800" b="0" i="0">
                <a:solidFill>
                  <a:srgbClr val="888888"/>
                </a:solidFill>
                <a:latin typeface="Zen Kaku Gothic New"/>
              </a:rPr>
              <a:t>※ 役員報酬の金額は毎月の資金繰りにも大きく影響します。設立時にシミュレーションを行い、最適な報酬設計をご提案します。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Zen Kaku Gothic New"/>
              </a:rPr>
              <a:t>06</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Zen Kaku Gothic New"/>
              </a:rPr>
              <a:t>よくある質問（FAQ）</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Zen Kaku Gothic New"/>
              </a:rPr>
              <a:t>新規顧客からよく頂く質問と回答をまとめました</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0"/>
            <a:ext cx="9601200" cy="822960"/>
          </a:xfrm>
          <a:prstGeom prst="rect">
            <a:avLst/>
          </a:prstGeom>
          <a:noFill/>
        </p:spPr>
        <p:txBody>
          <a:bodyPr wrap="square">
            <a:spAutoFit/>
          </a:bodyPr>
          <a:lstStyle/>
          <a:p>
            <a:pPr algn="l"/>
            <a:r>
              <a:rPr sz="1600" b="1" i="0">
                <a:solidFill>
                  <a:srgbClr val="FFFFFF"/>
                </a:solidFill>
                <a:latin typeface="Zen Kaku Gothic New"/>
              </a:rPr>
              <a:t>06  よくある質問（FAQ）</a:t>
            </a:r>
          </a:p>
        </p:txBody>
      </p:sp>
      <p:sp>
        <p:nvSpPr>
          <p:cNvPr id="4" name="Rectangle 3"/>
          <p:cNvSpPr/>
          <p:nvPr/>
        </p:nvSpPr>
        <p:spPr>
          <a:xfrm>
            <a:off x="182880" y="1005840"/>
            <a:ext cx="5577840" cy="1536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005840"/>
            <a:ext cx="164592" cy="15361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1115568"/>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097280"/>
            <a:ext cx="198000" cy="198000"/>
          </a:xfrm>
          <a:prstGeom prst="rect">
            <a:avLst/>
          </a:prstGeom>
          <a:noFill/>
        </p:spPr>
        <p:txBody>
          <a:bodyPr wrap="square">
            <a:spAutoFit/>
          </a:bodyPr>
          <a:lstStyle/>
          <a:p>
            <a:pPr algn="ctr"/>
            <a:r>
              <a:rPr sz="1100" b="1" i="0">
                <a:solidFill>
                  <a:srgbClr val="FFFFFF"/>
                </a:solidFill>
                <a:latin typeface="Zen Kaku Gothic New"/>
              </a:rPr>
              <a:t>Q</a:t>
            </a:r>
          </a:p>
        </p:txBody>
      </p:sp>
      <p:sp>
        <p:nvSpPr>
          <p:cNvPr id="8" name="TextBox 7"/>
          <p:cNvSpPr txBox="1"/>
          <p:nvPr/>
        </p:nvSpPr>
        <p:spPr>
          <a:xfrm>
            <a:off x="932688" y="1097280"/>
            <a:ext cx="4709160" cy="457200"/>
          </a:xfrm>
          <a:prstGeom prst="rect">
            <a:avLst/>
          </a:prstGeom>
          <a:noFill/>
        </p:spPr>
        <p:txBody>
          <a:bodyPr wrap="square">
            <a:spAutoFit/>
          </a:bodyPr>
          <a:lstStyle/>
          <a:p>
            <a:pPr algn="l"/>
            <a:r>
              <a:rPr sz="1000" b="1" i="0">
                <a:solidFill>
                  <a:srgbClr val="1A1A1A"/>
                </a:solidFill>
                <a:latin typeface="Zen Kaku Gothic New"/>
              </a:rPr>
              <a:t>会計ソフトは何を使えばいいですか？</a:t>
            </a:r>
          </a:p>
        </p:txBody>
      </p:sp>
      <p:sp>
        <p:nvSpPr>
          <p:cNvPr id="9" name="Rectangle 8"/>
          <p:cNvSpPr/>
          <p:nvPr/>
        </p:nvSpPr>
        <p:spPr>
          <a:xfrm>
            <a:off x="438912" y="1664208"/>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645920"/>
            <a:ext cx="198000" cy="198000"/>
          </a:xfrm>
          <a:prstGeom prst="rect">
            <a:avLst/>
          </a:prstGeom>
          <a:noFill/>
        </p:spPr>
        <p:txBody>
          <a:bodyPr wrap="square">
            <a:spAutoFit/>
          </a:bodyPr>
          <a:lstStyle/>
          <a:p>
            <a:pPr algn="ctr"/>
            <a:r>
              <a:rPr sz="1100" b="1" i="0">
                <a:solidFill>
                  <a:srgbClr val="FFFFFF"/>
                </a:solidFill>
                <a:latin typeface="Zen Kaku Gothic New"/>
              </a:rPr>
              <a:t>A</a:t>
            </a:r>
          </a:p>
        </p:txBody>
      </p:sp>
      <p:sp>
        <p:nvSpPr>
          <p:cNvPr id="11" name="TextBox 10"/>
          <p:cNvSpPr txBox="1"/>
          <p:nvPr/>
        </p:nvSpPr>
        <p:spPr>
          <a:xfrm>
            <a:off x="932688" y="1664208"/>
            <a:ext cx="4709160" cy="777240"/>
          </a:xfrm>
          <a:prstGeom prst="rect">
            <a:avLst/>
          </a:prstGeom>
          <a:noFill/>
        </p:spPr>
        <p:txBody>
          <a:bodyPr wrap="square">
            <a:spAutoFit/>
          </a:bodyPr>
          <a:lstStyle/>
          <a:p>
            <a:pPr algn="l"/>
            <a:r>
              <a:rPr sz="850" b="0" i="0">
                <a:solidFill>
                  <a:srgbClr val="444444"/>
                </a:solidFill>
                <a:latin typeface="Zen Kaku Gothic New"/>
              </a:rPr>
              <a:t>当事務所ではMFクラウド会計を推奨しています。銀行・クレジットカードと自動連携でき、月次の仕訳作業が大幅に効率化されます。初期設定は一緒に行います。</a:t>
            </a:r>
          </a:p>
        </p:txBody>
      </p:sp>
      <p:sp>
        <p:nvSpPr>
          <p:cNvPr id="12" name="Rectangle 11"/>
          <p:cNvSpPr/>
          <p:nvPr/>
        </p:nvSpPr>
        <p:spPr>
          <a:xfrm>
            <a:off x="6035040" y="1005840"/>
            <a:ext cx="5577840" cy="1536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1005840"/>
            <a:ext cx="164592" cy="15361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91072" y="1115568"/>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097280"/>
            <a:ext cx="198000" cy="198000"/>
          </a:xfrm>
          <a:prstGeom prst="rect">
            <a:avLst/>
          </a:prstGeom>
          <a:noFill/>
        </p:spPr>
        <p:txBody>
          <a:bodyPr wrap="square">
            <a:spAutoFit/>
          </a:bodyPr>
          <a:lstStyle/>
          <a:p>
            <a:pPr algn="ctr"/>
            <a:r>
              <a:rPr sz="1100" b="1" i="0">
                <a:solidFill>
                  <a:srgbClr val="FFFFFF"/>
                </a:solidFill>
                <a:latin typeface="Zen Kaku Gothic New"/>
              </a:rPr>
              <a:t>Q</a:t>
            </a:r>
          </a:p>
        </p:txBody>
      </p:sp>
      <p:sp>
        <p:nvSpPr>
          <p:cNvPr id="16" name="TextBox 15"/>
          <p:cNvSpPr txBox="1"/>
          <p:nvPr/>
        </p:nvSpPr>
        <p:spPr>
          <a:xfrm>
            <a:off x="6784848" y="1097280"/>
            <a:ext cx="4709160" cy="457200"/>
          </a:xfrm>
          <a:prstGeom prst="rect">
            <a:avLst/>
          </a:prstGeom>
          <a:noFill/>
        </p:spPr>
        <p:txBody>
          <a:bodyPr wrap="square">
            <a:spAutoFit/>
          </a:bodyPr>
          <a:lstStyle/>
          <a:p>
            <a:pPr algn="l"/>
            <a:r>
              <a:rPr sz="1000" b="1" i="0">
                <a:solidFill>
                  <a:srgbClr val="1A1A1A"/>
                </a:solidFill>
                <a:latin typeface="Zen Kaku Gothic New"/>
              </a:rPr>
              <a:t>領収書や請求書はどう管理すればいいですか？</a:t>
            </a:r>
          </a:p>
        </p:txBody>
      </p:sp>
      <p:sp>
        <p:nvSpPr>
          <p:cNvPr id="17" name="Rectangle 16"/>
          <p:cNvSpPr/>
          <p:nvPr/>
        </p:nvSpPr>
        <p:spPr>
          <a:xfrm>
            <a:off x="6291072" y="1664208"/>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1645920"/>
            <a:ext cx="198000" cy="198000"/>
          </a:xfrm>
          <a:prstGeom prst="rect">
            <a:avLst/>
          </a:prstGeom>
          <a:noFill/>
        </p:spPr>
        <p:txBody>
          <a:bodyPr wrap="square">
            <a:spAutoFit/>
          </a:bodyPr>
          <a:lstStyle/>
          <a:p>
            <a:pPr algn="ctr"/>
            <a:r>
              <a:rPr sz="1100" b="1" i="0">
                <a:solidFill>
                  <a:srgbClr val="FFFFFF"/>
                </a:solidFill>
                <a:latin typeface="Zen Kaku Gothic New"/>
              </a:rPr>
              <a:t>A</a:t>
            </a:r>
          </a:p>
        </p:txBody>
      </p:sp>
      <p:sp>
        <p:nvSpPr>
          <p:cNvPr id="19" name="TextBox 18"/>
          <p:cNvSpPr txBox="1"/>
          <p:nvPr/>
        </p:nvSpPr>
        <p:spPr>
          <a:xfrm>
            <a:off x="6784848" y="1664208"/>
            <a:ext cx="4709160" cy="777240"/>
          </a:xfrm>
          <a:prstGeom prst="rect">
            <a:avLst/>
          </a:prstGeom>
          <a:noFill/>
        </p:spPr>
        <p:txBody>
          <a:bodyPr wrap="square">
            <a:spAutoFit/>
          </a:bodyPr>
          <a:lstStyle/>
          <a:p>
            <a:pPr algn="l"/>
            <a:r>
              <a:rPr sz="850" b="0" i="0">
                <a:solidFill>
                  <a:srgbClr val="444444"/>
                </a:solidFill>
                <a:latin typeface="Zen Kaku Gothic New"/>
              </a:rPr>
              <a:t>電子帳簿保存法により、電子取引のデータはデータのまま保存が必要です。紙の領収書はスキャン保存も可能ですが、要件があります。まず受取方法のルール化から始めましょう。</a:t>
            </a:r>
          </a:p>
        </p:txBody>
      </p:sp>
      <p:sp>
        <p:nvSpPr>
          <p:cNvPr id="20" name="Rectangle 19"/>
          <p:cNvSpPr/>
          <p:nvPr/>
        </p:nvSpPr>
        <p:spPr>
          <a:xfrm>
            <a:off x="182880" y="2615184"/>
            <a:ext cx="5577840" cy="1536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2615184"/>
            <a:ext cx="164592" cy="15361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 y="2724912"/>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2706624"/>
            <a:ext cx="198000" cy="198000"/>
          </a:xfrm>
          <a:prstGeom prst="rect">
            <a:avLst/>
          </a:prstGeom>
          <a:noFill/>
        </p:spPr>
        <p:txBody>
          <a:bodyPr wrap="square">
            <a:spAutoFit/>
          </a:bodyPr>
          <a:lstStyle/>
          <a:p>
            <a:pPr algn="ctr"/>
            <a:r>
              <a:rPr sz="1100" b="1" i="0">
                <a:solidFill>
                  <a:srgbClr val="FFFFFF"/>
                </a:solidFill>
                <a:latin typeface="Zen Kaku Gothic New"/>
              </a:rPr>
              <a:t>Q</a:t>
            </a:r>
          </a:p>
        </p:txBody>
      </p:sp>
      <p:sp>
        <p:nvSpPr>
          <p:cNvPr id="24" name="TextBox 23"/>
          <p:cNvSpPr txBox="1"/>
          <p:nvPr/>
        </p:nvSpPr>
        <p:spPr>
          <a:xfrm>
            <a:off x="932688" y="2706624"/>
            <a:ext cx="4709160" cy="457200"/>
          </a:xfrm>
          <a:prstGeom prst="rect">
            <a:avLst/>
          </a:prstGeom>
          <a:noFill/>
        </p:spPr>
        <p:txBody>
          <a:bodyPr wrap="square">
            <a:spAutoFit/>
          </a:bodyPr>
          <a:lstStyle/>
          <a:p>
            <a:pPr algn="l"/>
            <a:r>
              <a:rPr sz="1000" b="1" i="0">
                <a:solidFill>
                  <a:srgbClr val="1A1A1A"/>
                </a:solidFill>
                <a:latin typeface="Zen Kaku Gothic New"/>
              </a:rPr>
              <a:t>消費税の免税はいつまで続きますか？</a:t>
            </a:r>
          </a:p>
        </p:txBody>
      </p:sp>
      <p:sp>
        <p:nvSpPr>
          <p:cNvPr id="25" name="Rectangle 24"/>
          <p:cNvSpPr/>
          <p:nvPr/>
        </p:nvSpPr>
        <p:spPr>
          <a:xfrm>
            <a:off x="438912" y="32735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3255264"/>
            <a:ext cx="198000" cy="198000"/>
          </a:xfrm>
          <a:prstGeom prst="rect">
            <a:avLst/>
          </a:prstGeom>
          <a:noFill/>
        </p:spPr>
        <p:txBody>
          <a:bodyPr wrap="square">
            <a:spAutoFit/>
          </a:bodyPr>
          <a:lstStyle/>
          <a:p>
            <a:pPr algn="ctr"/>
            <a:r>
              <a:rPr sz="1100" b="1" i="0">
                <a:solidFill>
                  <a:srgbClr val="FFFFFF"/>
                </a:solidFill>
                <a:latin typeface="Zen Kaku Gothic New"/>
              </a:rPr>
              <a:t>A</a:t>
            </a:r>
          </a:p>
        </p:txBody>
      </p:sp>
      <p:sp>
        <p:nvSpPr>
          <p:cNvPr id="27" name="TextBox 26"/>
          <p:cNvSpPr txBox="1"/>
          <p:nvPr/>
        </p:nvSpPr>
        <p:spPr>
          <a:xfrm>
            <a:off x="932688" y="3273552"/>
            <a:ext cx="4709160" cy="777240"/>
          </a:xfrm>
          <a:prstGeom prst="rect">
            <a:avLst/>
          </a:prstGeom>
          <a:noFill/>
        </p:spPr>
        <p:txBody>
          <a:bodyPr wrap="square">
            <a:spAutoFit/>
          </a:bodyPr>
          <a:lstStyle/>
          <a:p>
            <a:pPr algn="l"/>
            <a:r>
              <a:rPr sz="850" b="0" i="0">
                <a:solidFill>
                  <a:srgbClr val="444444"/>
                </a:solidFill>
                <a:latin typeface="Zen Kaku Gothic New"/>
              </a:rPr>
              <a:t>原則、設立から2期は免税です（資本金1,000万円未満・特定期間の売上が1,000万円以下の場合）。ただし、インボイス登録をすると免税期間中でも課税事業者になります。</a:t>
            </a:r>
          </a:p>
        </p:txBody>
      </p:sp>
      <p:sp>
        <p:nvSpPr>
          <p:cNvPr id="28" name="Rectangle 27"/>
          <p:cNvSpPr/>
          <p:nvPr/>
        </p:nvSpPr>
        <p:spPr>
          <a:xfrm>
            <a:off x="6035040" y="2615184"/>
            <a:ext cx="5577840" cy="1536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035040" y="2615184"/>
            <a:ext cx="164592" cy="15361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91072" y="2724912"/>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1072" y="2706624"/>
            <a:ext cx="198000" cy="198000"/>
          </a:xfrm>
          <a:prstGeom prst="rect">
            <a:avLst/>
          </a:prstGeom>
          <a:noFill/>
        </p:spPr>
        <p:txBody>
          <a:bodyPr wrap="square">
            <a:spAutoFit/>
          </a:bodyPr>
          <a:lstStyle/>
          <a:p>
            <a:pPr algn="ctr"/>
            <a:r>
              <a:rPr sz="1100" b="1" i="0">
                <a:solidFill>
                  <a:srgbClr val="FFFFFF"/>
                </a:solidFill>
                <a:latin typeface="Zen Kaku Gothic New"/>
              </a:rPr>
              <a:t>Q</a:t>
            </a:r>
          </a:p>
        </p:txBody>
      </p:sp>
      <p:sp>
        <p:nvSpPr>
          <p:cNvPr id="32" name="TextBox 31"/>
          <p:cNvSpPr txBox="1"/>
          <p:nvPr/>
        </p:nvSpPr>
        <p:spPr>
          <a:xfrm>
            <a:off x="6784848" y="2706624"/>
            <a:ext cx="4709160" cy="457200"/>
          </a:xfrm>
          <a:prstGeom prst="rect">
            <a:avLst/>
          </a:prstGeom>
          <a:noFill/>
        </p:spPr>
        <p:txBody>
          <a:bodyPr wrap="square">
            <a:spAutoFit/>
          </a:bodyPr>
          <a:lstStyle/>
          <a:p>
            <a:pPr algn="l"/>
            <a:r>
              <a:rPr sz="1000" b="1" i="0">
                <a:solidFill>
                  <a:srgbClr val="1A1A1A"/>
                </a:solidFill>
                <a:latin typeface="Zen Kaku Gothic New"/>
              </a:rPr>
              <a:t>役員報酬はいつでも変更できますか？</a:t>
            </a:r>
          </a:p>
        </p:txBody>
      </p:sp>
      <p:sp>
        <p:nvSpPr>
          <p:cNvPr id="33" name="Rectangle 32"/>
          <p:cNvSpPr/>
          <p:nvPr/>
        </p:nvSpPr>
        <p:spPr>
          <a:xfrm>
            <a:off x="6291072" y="32735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91072" y="3255264"/>
            <a:ext cx="198000" cy="198000"/>
          </a:xfrm>
          <a:prstGeom prst="rect">
            <a:avLst/>
          </a:prstGeom>
          <a:noFill/>
        </p:spPr>
        <p:txBody>
          <a:bodyPr wrap="square">
            <a:spAutoFit/>
          </a:bodyPr>
          <a:lstStyle/>
          <a:p>
            <a:pPr algn="ctr"/>
            <a:r>
              <a:rPr sz="1100" b="1" i="0">
                <a:solidFill>
                  <a:srgbClr val="FFFFFF"/>
                </a:solidFill>
                <a:latin typeface="Zen Kaku Gothic New"/>
              </a:rPr>
              <a:t>A</a:t>
            </a:r>
          </a:p>
        </p:txBody>
      </p:sp>
      <p:sp>
        <p:nvSpPr>
          <p:cNvPr id="35" name="TextBox 34"/>
          <p:cNvSpPr txBox="1"/>
          <p:nvPr/>
        </p:nvSpPr>
        <p:spPr>
          <a:xfrm>
            <a:off x="6784848" y="3273552"/>
            <a:ext cx="4709160" cy="777240"/>
          </a:xfrm>
          <a:prstGeom prst="rect">
            <a:avLst/>
          </a:prstGeom>
          <a:noFill/>
        </p:spPr>
        <p:txBody>
          <a:bodyPr wrap="square">
            <a:spAutoFit/>
          </a:bodyPr>
          <a:lstStyle/>
          <a:p>
            <a:pPr algn="l"/>
            <a:r>
              <a:rPr sz="850" b="0" i="0">
                <a:solidFill>
                  <a:srgbClr val="444444"/>
                </a:solidFill>
                <a:latin typeface="Zen Kaku Gothic New"/>
              </a:rPr>
              <a:t>定期同額給与として損金算入するには、事業年度開始から3ヶ月以内に変更する必要があります。それ以外のタイミングで変更すると、変更分が損金不算入となりご注意ください。</a:t>
            </a:r>
          </a:p>
        </p:txBody>
      </p:sp>
      <p:sp>
        <p:nvSpPr>
          <p:cNvPr id="36" name="Rectangle 35"/>
          <p:cNvSpPr/>
          <p:nvPr/>
        </p:nvSpPr>
        <p:spPr>
          <a:xfrm>
            <a:off x="182880" y="4224528"/>
            <a:ext cx="5577840" cy="1536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2880" y="4224528"/>
            <a:ext cx="164592" cy="153619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8912" y="4334256"/>
            <a:ext cx="198000" cy="1980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 y="4315968"/>
            <a:ext cx="198000" cy="198000"/>
          </a:xfrm>
          <a:prstGeom prst="rect">
            <a:avLst/>
          </a:prstGeom>
          <a:noFill/>
        </p:spPr>
        <p:txBody>
          <a:bodyPr wrap="square">
            <a:spAutoFit/>
          </a:bodyPr>
          <a:lstStyle/>
          <a:p>
            <a:pPr algn="ctr"/>
            <a:r>
              <a:rPr sz="1100" b="1" i="0">
                <a:solidFill>
                  <a:srgbClr val="FFFFFF"/>
                </a:solidFill>
                <a:latin typeface="Zen Kaku Gothic New"/>
              </a:rPr>
              <a:t>Q</a:t>
            </a:r>
          </a:p>
        </p:txBody>
      </p:sp>
      <p:sp>
        <p:nvSpPr>
          <p:cNvPr id="40" name="TextBox 39"/>
          <p:cNvSpPr txBox="1"/>
          <p:nvPr/>
        </p:nvSpPr>
        <p:spPr>
          <a:xfrm>
            <a:off x="932688" y="4315968"/>
            <a:ext cx="4709160" cy="457200"/>
          </a:xfrm>
          <a:prstGeom prst="rect">
            <a:avLst/>
          </a:prstGeom>
          <a:noFill/>
        </p:spPr>
        <p:txBody>
          <a:bodyPr wrap="square">
            <a:spAutoFit/>
          </a:bodyPr>
          <a:lstStyle/>
          <a:p>
            <a:pPr algn="l"/>
            <a:r>
              <a:rPr sz="1000" b="1" i="0">
                <a:solidFill>
                  <a:srgbClr val="1A1A1A"/>
                </a:solidFill>
                <a:latin typeface="Zen Kaku Gothic New"/>
              </a:rPr>
              <a:t>赤字でも税金はかかりますか？</a:t>
            </a:r>
          </a:p>
        </p:txBody>
      </p:sp>
      <p:sp>
        <p:nvSpPr>
          <p:cNvPr id="41" name="Rectangle 40"/>
          <p:cNvSpPr/>
          <p:nvPr/>
        </p:nvSpPr>
        <p:spPr>
          <a:xfrm>
            <a:off x="438912" y="488289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 y="4864608"/>
            <a:ext cx="198000" cy="198000"/>
          </a:xfrm>
          <a:prstGeom prst="rect">
            <a:avLst/>
          </a:prstGeom>
          <a:noFill/>
        </p:spPr>
        <p:txBody>
          <a:bodyPr wrap="square">
            <a:spAutoFit/>
          </a:bodyPr>
          <a:lstStyle/>
          <a:p>
            <a:pPr algn="ctr"/>
            <a:r>
              <a:rPr sz="1100" b="1" i="0">
                <a:solidFill>
                  <a:srgbClr val="FFFFFF"/>
                </a:solidFill>
                <a:latin typeface="Zen Kaku Gothic New"/>
              </a:rPr>
              <a:t>A</a:t>
            </a:r>
          </a:p>
        </p:txBody>
      </p:sp>
      <p:sp>
        <p:nvSpPr>
          <p:cNvPr id="43" name="TextBox 42"/>
          <p:cNvSpPr txBox="1"/>
          <p:nvPr/>
        </p:nvSpPr>
        <p:spPr>
          <a:xfrm>
            <a:off x="932688" y="4882896"/>
            <a:ext cx="4709160" cy="777240"/>
          </a:xfrm>
          <a:prstGeom prst="rect">
            <a:avLst/>
          </a:prstGeom>
          <a:noFill/>
        </p:spPr>
        <p:txBody>
          <a:bodyPr wrap="square">
            <a:spAutoFit/>
          </a:bodyPr>
          <a:lstStyle/>
          <a:p>
            <a:pPr algn="l"/>
            <a:r>
              <a:rPr sz="850" b="0" i="0">
                <a:solidFill>
                  <a:srgbClr val="444444"/>
                </a:solidFill>
                <a:latin typeface="Zen Kaku Gothic New"/>
              </a:rPr>
              <a:t>法人税・事業税は所得ゼロなら課税されませんが、法人住民税の均等割（年間7万円程度〜）は赤字でも発生します。また、消費税は売上・仕入の状況により別途課税されます。</a:t>
            </a:r>
          </a:p>
        </p:txBody>
      </p:sp>
      <p:sp>
        <p:nvSpPr>
          <p:cNvPr id="44" name="Rectangle 43"/>
          <p:cNvSpPr/>
          <p:nvPr/>
        </p:nvSpPr>
        <p:spPr>
          <a:xfrm>
            <a:off x="6035040" y="4224528"/>
            <a:ext cx="5577840" cy="1536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035040" y="4224528"/>
            <a:ext cx="164592" cy="153619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91072" y="4334256"/>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91072" y="4315968"/>
            <a:ext cx="198000" cy="198000"/>
          </a:xfrm>
          <a:prstGeom prst="rect">
            <a:avLst/>
          </a:prstGeom>
          <a:noFill/>
        </p:spPr>
        <p:txBody>
          <a:bodyPr wrap="square">
            <a:spAutoFit/>
          </a:bodyPr>
          <a:lstStyle/>
          <a:p>
            <a:pPr algn="ctr"/>
            <a:r>
              <a:rPr sz="1100" b="1" i="0">
                <a:solidFill>
                  <a:srgbClr val="FFFFFF"/>
                </a:solidFill>
                <a:latin typeface="Zen Kaku Gothic New"/>
              </a:rPr>
              <a:t>Q</a:t>
            </a:r>
          </a:p>
        </p:txBody>
      </p:sp>
      <p:sp>
        <p:nvSpPr>
          <p:cNvPr id="48" name="TextBox 47"/>
          <p:cNvSpPr txBox="1"/>
          <p:nvPr/>
        </p:nvSpPr>
        <p:spPr>
          <a:xfrm>
            <a:off x="6784848" y="4315968"/>
            <a:ext cx="4709160" cy="457200"/>
          </a:xfrm>
          <a:prstGeom prst="rect">
            <a:avLst/>
          </a:prstGeom>
          <a:noFill/>
        </p:spPr>
        <p:txBody>
          <a:bodyPr wrap="square">
            <a:spAutoFit/>
          </a:bodyPr>
          <a:lstStyle/>
          <a:p>
            <a:pPr algn="l"/>
            <a:r>
              <a:rPr sz="1000" b="1" i="0">
                <a:solidFill>
                  <a:srgbClr val="1A1A1A"/>
                </a:solidFill>
                <a:latin typeface="Zen Kaku Gothic New"/>
              </a:rPr>
              <a:t>顧問税理士には何をお任せできますか？</a:t>
            </a:r>
          </a:p>
        </p:txBody>
      </p:sp>
      <p:sp>
        <p:nvSpPr>
          <p:cNvPr id="49" name="Rectangle 48"/>
          <p:cNvSpPr/>
          <p:nvPr/>
        </p:nvSpPr>
        <p:spPr>
          <a:xfrm>
            <a:off x="6291072" y="488289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91072" y="4864608"/>
            <a:ext cx="198000" cy="198000"/>
          </a:xfrm>
          <a:prstGeom prst="rect">
            <a:avLst/>
          </a:prstGeom>
          <a:noFill/>
        </p:spPr>
        <p:txBody>
          <a:bodyPr wrap="square">
            <a:spAutoFit/>
          </a:bodyPr>
          <a:lstStyle/>
          <a:p>
            <a:pPr algn="ctr"/>
            <a:r>
              <a:rPr sz="1100" b="1" i="0">
                <a:solidFill>
                  <a:srgbClr val="FFFFFF"/>
                </a:solidFill>
                <a:latin typeface="Zen Kaku Gothic New"/>
              </a:rPr>
              <a:t>A</a:t>
            </a:r>
          </a:p>
        </p:txBody>
      </p:sp>
      <p:sp>
        <p:nvSpPr>
          <p:cNvPr id="51" name="TextBox 50"/>
          <p:cNvSpPr txBox="1"/>
          <p:nvPr/>
        </p:nvSpPr>
        <p:spPr>
          <a:xfrm>
            <a:off x="6784848" y="4882896"/>
            <a:ext cx="4709160" cy="777240"/>
          </a:xfrm>
          <a:prstGeom prst="rect">
            <a:avLst/>
          </a:prstGeom>
          <a:noFill/>
        </p:spPr>
        <p:txBody>
          <a:bodyPr wrap="square">
            <a:spAutoFit/>
          </a:bodyPr>
          <a:lstStyle/>
          <a:p>
            <a:pPr algn="l"/>
            <a:r>
              <a:rPr sz="850" b="0" i="0">
                <a:solidFill>
                  <a:srgbClr val="444444"/>
                </a:solidFill>
                <a:latin typeface="Zen Kaku Gothic New"/>
              </a:rPr>
              <a:t>月次の仕訳チェック・試算表作成・税務相談・決算申告・給与計算サポートなどをご提供しています。経営上の判断に関わる数字の相談も、気軽にお声がけください。</a:t>
            </a:r>
          </a:p>
        </p:txBody>
      </p:sp>
      <p:sp>
        <p:nvSpPr>
          <p:cNvPr id="52" name="TextBox 51"/>
          <p:cNvSpPr txBox="1"/>
          <p:nvPr/>
        </p:nvSpPr>
        <p:spPr>
          <a:xfrm>
            <a:off x="182880" y="6355080"/>
            <a:ext cx="11887200" cy="365760"/>
          </a:xfrm>
          <a:prstGeom prst="rect">
            <a:avLst/>
          </a:prstGeom>
          <a:noFill/>
        </p:spPr>
        <p:txBody>
          <a:bodyPr wrap="square">
            <a:spAutoFit/>
          </a:bodyPr>
          <a:lstStyle/>
          <a:p>
            <a:pPr algn="ctr"/>
            <a:r>
              <a:rPr sz="850" b="0" i="0">
                <a:solidFill>
                  <a:srgbClr val="888888"/>
                </a:solidFill>
                <a:latin typeface="Zen Kaku Gothic New"/>
              </a:rPr>
              <a:t>ご不明な点は何でもお気軽にご相談ください。SEVENRICH 会計事務所 ｜ Tel: XXX-XXXX-XXXX ｜ Mail: info@sevenrich-accounting.jp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