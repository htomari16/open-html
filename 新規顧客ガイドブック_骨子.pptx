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Zen Kaku Gothic New"/>
              </a:rPr>
              <a:t>SEVENRICH
会計事務所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Zen Kaku Gothic New"/>
              </a:rPr>
              <a:t>新規顧客向け
ガイドブック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661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Zen Kaku Gothic New"/>
              </a:rPr>
              <a:t>会社設立後に知っておくべき
税務・経理の基本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Zen Kaku Gothic New"/>
              </a:rPr>
              <a:t>2026年版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Zen Kaku Gothic New"/>
              </a:rPr>
              <a:t>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37360"/>
            <a:ext cx="75895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105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Zen Kaku Gothic New"/>
              </a:rPr>
              <a:t>設立完了直後〜3ヶ月以内に行う各種手続きの一覧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200400"/>
            <a:ext cx="75895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291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735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Zen Kaku Gothic New"/>
              </a:rPr>
              <a:t>毎月・毎週・日次で行うべき経理・労務業務の一覧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4663440"/>
            <a:ext cx="75895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754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736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Zen Kaku Gothic New"/>
              </a:rPr>
              <a:t>法人税・消費税・源泉所得税など税目別の納期一覧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Zen Kaku Gothic New"/>
              </a:rPr>
              <a:t>設立完了直後から3ヶ月以内に行うべき手続きをまとめました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Zen Kaku Gothic New"/>
              </a:rPr>
              <a:t>01  設立後の対応チェックリスト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Zen Kaku Gothic New"/>
              </a:rPr>
              <a:t>設立直後〜3ヶ月以内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35661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356616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880" y="1005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Zen Kaku Gothic New"/>
              </a:rPr>
              <a:t>A. 税務署・自治体への届出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880" y="1608480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2880" y="1554480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法人設立届出書（税務署・都道府県・市区町村）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880" y="2266848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880" y="2212848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青色申告の承認申請書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880" y="2925216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880" y="2871216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給与支払事務所等の開設届出書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880" y="3583584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880" y="3529584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源泉所得税の納期の特例の承認申請書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880" y="4241952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880" y="4187952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消費税課税事業者選択届出書（必要な場合）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880" y="4900320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880" y="4846320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棚卸資産の評価方法の届出書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880" y="5558688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880" y="5504688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減価償却資産の償却方法の届出書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1005840"/>
            <a:ext cx="35661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1005840"/>
            <a:ext cx="356616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39920" y="1005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Zen Kaku Gothic New"/>
              </a:rPr>
              <a:t>B. 金融機関・その他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39920" y="1608480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1920" y="1554480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法人口座の開設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39920" y="2266848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1920" y="2212848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法人クレジットカードの申請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39920" y="2925216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1920" y="2871216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会計ソフトの導入・設定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9920" y="3583584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1920" y="3529584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電子帳簿保存法の対応確認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39920" y="4241952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1920" y="4187952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freee / MFクラウド 初期設定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39920" y="4900320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1920" y="4846320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許認可の取得（業種による）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39920" y="5558688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1920" y="5504688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法人印鑑証明書の取得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1005840"/>
            <a:ext cx="35661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1005840"/>
            <a:ext cx="356616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88960" y="1005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Zen Kaku Gothic New"/>
              </a:rPr>
              <a:t>C. 社会保険・労務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88960" y="1608480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0960" y="1554480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健康保険・厚生年金保険 新規適用届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88960" y="2266848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0960" y="2212848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雇用保険 適用事業所設置届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88960" y="2925216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0960" y="2871216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労災保険 保険関係成立届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88960" y="3583584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0960" y="3529584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役員報酬の決定（設立後3ヶ月以内）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88960" y="4241952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0960" y="4187952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就業規則の作成（10人以上の場合届出必要）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88960" y="4900320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0960" y="4846320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雇用契約書の整備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88960" y="5558688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0960" y="5504688"/>
            <a:ext cx="309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給与規程・旅費規程の整備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Zen Kaku Gothic New"/>
              </a:rPr>
              <a:t>※ 届出書の提出期限は設立日を起算点とするものが多く、遅延すると不利益が生じる場合があります。詳細はご相談ください。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Zen Kaku Gothic New"/>
              </a:rPr>
              <a:t>毎月・毎週・日次で行うべき経理・労務業務の一覧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Zen Kaku Gothic New"/>
              </a:rPr>
              <a:t>02  月次の社内業務チェックリスト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2651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2651760" cy="457200"/>
          </a:xfrm>
          <a:prstGeom prst="rect">
            <a:avLst/>
          </a:prstGeom>
          <a:solidFill>
            <a:srgbClr val="44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0880" y="1005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Zen Kaku Gothic New"/>
              </a:rPr>
              <a:t>日次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880" y="1608480"/>
            <a:ext cx="162000" cy="162000"/>
          </a:xfrm>
          <a:prstGeom prst="rect">
            <a:avLst/>
          </a:prstGeom>
          <a:noFill/>
          <a:ln w="19050">
            <a:solidFill>
              <a:srgbClr val="44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2880" y="1554480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領収書・請求書の回収・保管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880" y="2358288"/>
            <a:ext cx="162000" cy="162000"/>
          </a:xfrm>
          <a:prstGeom prst="rect">
            <a:avLst/>
          </a:prstGeom>
          <a:noFill/>
          <a:ln w="19050">
            <a:solidFill>
              <a:srgbClr val="44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2880" y="2304288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現金出納帳の記帳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880" y="3108096"/>
            <a:ext cx="162000" cy="162000"/>
          </a:xfrm>
          <a:prstGeom prst="rect">
            <a:avLst/>
          </a:prstGeom>
          <a:noFill/>
          <a:ln w="19050">
            <a:solidFill>
              <a:srgbClr val="44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880" y="3054096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銀行入出金の確認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880" y="3857904"/>
            <a:ext cx="162000" cy="162000"/>
          </a:xfrm>
          <a:prstGeom prst="rect">
            <a:avLst/>
          </a:prstGeom>
          <a:noFill/>
          <a:ln w="19050">
            <a:solidFill>
              <a:srgbClr val="44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880" y="3803904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売上・入金の記録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005840"/>
            <a:ext cx="2651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0" y="1005840"/>
            <a:ext cx="2651760" cy="457200"/>
          </a:xfrm>
          <a:prstGeom prst="rect">
            <a:avLst/>
          </a:prstGeom>
          <a:solidFill>
            <a:srgbClr val="00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6960" y="1005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Zen Kaku Gothic New"/>
              </a:rPr>
              <a:t>週次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6960" y="1608480"/>
            <a:ext cx="162000" cy="162000"/>
          </a:xfrm>
          <a:prstGeom prst="rect">
            <a:avLst/>
          </a:prstGeom>
          <a:noFill/>
          <a:ln w="19050">
            <a:solidFill>
              <a:srgbClr val="00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8960" y="1554480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仕訳入力（会計ソフト）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6960" y="2358288"/>
            <a:ext cx="162000" cy="162000"/>
          </a:xfrm>
          <a:prstGeom prst="rect">
            <a:avLst/>
          </a:prstGeom>
          <a:noFill/>
          <a:ln w="19050">
            <a:solidFill>
              <a:srgbClr val="00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8960" y="2304288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未払請求書の確認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6960" y="3108096"/>
            <a:ext cx="162000" cy="162000"/>
          </a:xfrm>
          <a:prstGeom prst="rect">
            <a:avLst/>
          </a:prstGeom>
          <a:noFill/>
          <a:ln w="19050">
            <a:solidFill>
              <a:srgbClr val="00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8960" y="3054096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売掛金・買掛金の確認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6960" y="3857904"/>
            <a:ext cx="162000" cy="162000"/>
          </a:xfrm>
          <a:prstGeom prst="rect">
            <a:avLst/>
          </a:prstGeom>
          <a:noFill/>
          <a:ln w="19050">
            <a:solidFill>
              <a:srgbClr val="00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8960" y="3803904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経費精算の処理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1005840"/>
            <a:ext cx="2651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0" y="1005840"/>
            <a:ext cx="265176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0160" y="1005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Zen Kaku Gothic New"/>
              </a:rPr>
              <a:t>月初（1〜5日）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60160" y="1608480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2160" y="1554480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前月の仕訳締め・確認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0160" y="2358288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2160" y="2304288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給与計算（締め日による）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60160" y="3108096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2160" y="3054096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源泉所得税の納付（10日まで）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60160" y="3857904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2160" y="3803904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社会保険料の納付（翌月末まで）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60160" y="4607712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2160" y="4553712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試算表の確認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60160" y="5357520"/>
            <a:ext cx="162000" cy="1620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2160" y="5303520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資金繰り表の更新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1005840"/>
            <a:ext cx="26517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0" y="1005840"/>
            <a:ext cx="2651760" cy="457200"/>
          </a:xfrm>
          <a:prstGeom prst="rect">
            <a:avLst/>
          </a:prstGeom>
          <a:solidFill>
            <a:srgbClr val="88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4800" y="1005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Zen Kaku Gothic New"/>
              </a:rPr>
              <a:t>月末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94800" y="1608480"/>
            <a:ext cx="162000" cy="162000"/>
          </a:xfrm>
          <a:prstGeom prst="rect">
            <a:avLst/>
          </a:prstGeom>
          <a:noFill/>
          <a:ln w="19050">
            <a:solidFill>
              <a:srgbClr val="88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6800" y="1554480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売上・費用の計上確認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94800" y="2358288"/>
            <a:ext cx="162000" cy="162000"/>
          </a:xfrm>
          <a:prstGeom prst="rect">
            <a:avLst/>
          </a:prstGeom>
          <a:noFill/>
          <a:ln w="19050">
            <a:solidFill>
              <a:srgbClr val="88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46800" y="2304288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請求書の発行・送付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94800" y="3108096"/>
            <a:ext cx="162000" cy="162000"/>
          </a:xfrm>
          <a:prstGeom prst="rect">
            <a:avLst/>
          </a:prstGeom>
          <a:noFill/>
          <a:ln w="19050">
            <a:solidFill>
              <a:srgbClr val="88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46800" y="3054096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預金残高の突合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94800" y="3857904"/>
            <a:ext cx="162000" cy="162000"/>
          </a:xfrm>
          <a:prstGeom prst="rect">
            <a:avLst/>
          </a:prstGeom>
          <a:noFill/>
          <a:ln w="19050">
            <a:solidFill>
              <a:srgbClr val="88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46800" y="3803904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棚卸（対象がある場合）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94800" y="4607712"/>
            <a:ext cx="162000" cy="162000"/>
          </a:xfrm>
          <a:prstGeom prst="rect">
            <a:avLst/>
          </a:prstGeom>
          <a:noFill/>
          <a:ln w="19050">
            <a:solidFill>
              <a:srgbClr val="88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46800" y="4553712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翌月の資金繰り確認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94800" y="5357520"/>
            <a:ext cx="162000" cy="162000"/>
          </a:xfrm>
          <a:prstGeom prst="rect">
            <a:avLst/>
          </a:prstGeom>
          <a:noFill/>
          <a:ln w="19050">
            <a:solidFill>
              <a:srgbClr val="88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46800" y="5303520"/>
            <a:ext cx="218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Zen Kaku Gothic New"/>
              </a:rPr>
              <a:t>MFクラウド 月次レポート確認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Zen Kaku Gothic New"/>
              </a:rPr>
              <a:t>※ 源泉所得税の納期の特例（半年に1回）を選択している場合は、毎月の納付は不要です。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Zen Kaku Gothic New"/>
              </a:rPr>
              <a:t>法人税・消費税・源泉所得税など主要税目の納期カレンダー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Zen Kaku Gothic New"/>
              </a:rPr>
              <a:t>03  年間の税務スケジュール（3月決算法人の例）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Zen Kaku Gothic New"/>
              </a:rPr>
              <a:t>※ 決算月により異なります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60120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60120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4月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087560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069560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法人税・地方税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202760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前期分 申告・納付（期末翌月2ヶ月以内）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2504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64504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897704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前期分 申告・納付（同上）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477448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9448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592648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3月分 納付（10日まで）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0672" y="960120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90672" y="960120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960120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5月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6472" y="1087560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1069560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1202760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4月分 納付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6472" y="1782504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6472" y="1764504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法人住民税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1897704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均等割の中間申告（対象の場合）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98464" y="960120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8464" y="960120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98464" y="960120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6月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84264" y="1087560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1069560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1202760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5月分 納付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84264" y="1782504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4264" y="1764504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住民税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1897704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特別徴収 1期（個人住民税）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06256" y="960120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06256" y="960120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6" y="960120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7月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92056" y="1087560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92056" y="1069560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1202760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1〜6月分 納付（特例選択の場合）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92056" y="1782504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92056" y="1764504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法人税等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9488" y="1897704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中間申告・納付（6月決算の半数が対象）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2679192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2679192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2679192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8月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2806632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2788632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2921832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7月分 納付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90672" y="2679192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090672" y="2679192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90672" y="2679192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9月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76472" y="2806632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76472" y="2788632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03904" y="2921832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8月分 納付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76472" y="3501576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76472" y="3483576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03904" y="3616776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中間申告・納付（年1回中間の場合）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98464" y="2679192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98464" y="2679192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98464" y="2679192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10月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84264" y="2806632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84264" y="2788632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11696" y="2921832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9月分 納付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4264" y="3501576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84264" y="3483576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法人税等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11696" y="3616776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中間申告・納付（9月末決算半数）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06256" y="2679192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906256" y="2679192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06256" y="2679192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11月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92056" y="2806632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92056" y="2788632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19488" y="2921832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10月分 納付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98264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2880" y="4398264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" y="4398264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12月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8680" y="4525704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4507704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6112" y="4640904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11月分 納付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8680" y="5220648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8680" y="5202648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年末調整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" y="5335848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給与所得者の年末調整実施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90672" y="4398264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90672" y="4398264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90672" y="4398264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1月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776472" y="4525704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776472" y="4507704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03904" y="4640904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7〜12月分 納付（特例選択の場合）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776472" y="5220648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76472" y="5202648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法定調書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03904" y="5335848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給与支払報告書・法定調書合計表の提出（31日まで）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776472" y="5915592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76472" y="5897592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償却資産税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03904" y="6030792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申告（1月31日まで）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998464" y="4398264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998464" y="4398264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98464" y="4398264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2月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84264" y="4525704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684264" y="4507704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11696" y="4640904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1月分 納付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06256" y="4398264"/>
            <a:ext cx="283464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06256" y="4398264"/>
            <a:ext cx="6400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06256" y="4398264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Zen Kaku Gothic New"/>
              </a:rPr>
              <a:t>3月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92056" y="4525704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92056" y="4507704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19488" y="4640904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2月分 納付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592056" y="5220648"/>
            <a:ext cx="216000" cy="9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592056" y="5202648"/>
            <a:ext cx="201168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Zen Kaku Gothic New"/>
              </a:rPr>
              <a:t>決算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619488" y="5335848"/>
            <a:ext cx="2057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  <a:latin typeface="Zen Kaku Gothic New"/>
              </a:rPr>
              <a:t>3月末 期末（決算作業開始）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