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0" y="0"/>
            <a:ext cx="54864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Zen Kaku Gothic New"/>
              </a:rPr>
              <a:t>SEVENRICH 会計事務所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Zen Kaku Gothic New"/>
              </a:rPr>
              <a:t>新規顧客向け
ガイドブック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004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Zen Kaku Gothic New"/>
              </a:rPr>
              <a:t>会社設立後に知っておくべき
税務・経理の基本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2976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Zen Kaku Gothic New"/>
              </a:rPr>
              <a:t>設立おめでとうございます。
これから一緒に頑張りましょう。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126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Zen Kaku Gothic New"/>
              </a:rPr>
              <a:t>2026年版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5029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0000"/>
                </a:solidFill>
                <a:latin typeface="Zen Kaku Gothic New"/>
              </a:rPr>
              <a:t>CONTENTS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005840"/>
            <a:ext cx="768096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042416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Zen Kaku Gothic New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1033272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設立後の対応チェックリスト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307592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設立直後〜3ヶ月以内に行う各種手続き（役割分担付き）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581912"/>
            <a:ext cx="768096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618488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Zen Kaku Gothic New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1609344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月次の社内業務チェックリスト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1883664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まず3つのルールから始める経理・労務業務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2157984"/>
            <a:ext cx="768096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2194560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Zen Kaku Gothic New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2185416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年間の税務スケジュール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2459736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申告・納付カレンダー（決算月基準の相対表示）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2734056"/>
            <a:ext cx="768096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2770632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Zen Kaku Gothic New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276148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消費税の基本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3035808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免税・課税の判定とBtoB/BtoC別の目安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3310128"/>
            <a:ext cx="768096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3346704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Zen Kaku Gothic New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333756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役員報酬の基本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3611880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3ヶ月ルールと金額の決め方ガイド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3886200"/>
            <a:ext cx="768096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400" y="3922776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Zen Kaku Gothic New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3913632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会社と個人のお金の分離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83480" y="4187952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一番大事な基本ルール―ここだけは絶対に守る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4462272"/>
            <a:ext cx="768096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4498848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Zen Kaku Gothic New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83480" y="4489704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SEVENRICHとのやり取り＆SOSリスト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3480" y="4764024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連絡方法・提出期限・動く前に相談すべきこと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06240" y="5038344"/>
            <a:ext cx="768096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43400" y="5074920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Zen Kaku Gothic New"/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83480" y="5065776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よくある質問（FAQ）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83480" y="5340096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新規顧客からよく頂く質問と回答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5614416"/>
            <a:ext cx="768096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43400" y="5650992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Zen Kaku Gothic New"/>
              </a:rPr>
              <a:t>09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83480" y="564184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法人口座・クレジットカード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83480" y="5916168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おすすめ銀行・カードの選び方と4口座の使い分け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Zen Kaku Gothic New"/>
              </a:rPr>
              <a:t>設立おめでとうございます！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5544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Zen Kaku Gothic New"/>
              </a:rPr>
              <a:t>これから一緒に頑張りましょう。面倒な手続きや数字のことは、私たちがしっかりサポートします。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286000"/>
            <a:ext cx="3657600" cy="393192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2286000"/>
            <a:ext cx="3657600" cy="1097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4688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C0000"/>
                </a:solidFill>
                <a:latin typeface="Zen Kaku Gothic New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Zen Kaku Gothic New"/>
              </a:rPr>
              <a:t>手続きはお任せください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0332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Zen Kaku Gothic New"/>
              </a:rPr>
              <a:t>設立直後に必要な税務署・自治体への届出は、当事務所が代わりに行います。
社長はビジネスに集中してください。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2286000"/>
            <a:ext cx="3657600" cy="393192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2286000"/>
            <a:ext cx="3657600" cy="1097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24688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C0000"/>
                </a:solidFill>
                <a:latin typeface="Zen Kaku Gothic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1089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Zen Kaku Gothic New"/>
              </a:rPr>
              <a:t>毎月の数字を一緒に見ます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70332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Zen Kaku Gothic New"/>
              </a:rPr>
              <a:t>月次の試算表を毎月確認し、資金繰りや節税のアドバイスをお伝えします。
「数字がわからない」は当事務所に入ってからは言わせません。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286000"/>
            <a:ext cx="3657600" cy="393192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2286000"/>
            <a:ext cx="3657600" cy="1097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4688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C0000"/>
                </a:solidFill>
                <a:latin typeface="Zen Kaku Gothic New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1089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Zen Kaku Gothic New"/>
              </a:rPr>
              <a:t>動く前に一言ください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70332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Zen Kaku Gothic New"/>
              </a:rPr>
              <a:t>役員報酬の変更・大きな買い物・人を雇う…など、やる前に相談してもらえると
最大限の税務メリットをご提案できます。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30936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8888"/>
                </a:solidFill>
                <a:latin typeface="Zen Kaku Gothic New"/>
              </a:rPr>
              <a:t>このガイドブックに沿って、最初の1年を一緒に乗り越えましょう。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C0000"/>
                </a:solidFill>
                <a:latin typeface="Zen Kaku Gothic New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Zen Kaku Gothic New"/>
              </a:rPr>
              <a:t>設立後の対応チェックリスト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Zen Kaku Gothic New"/>
              </a:rPr>
              <a:t>「誰が・いつまでに」を明確にした手続き一覧です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" y="-73152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DDDDDD"/>
                </a:solidFill>
                <a:latin typeface="Zen Kaku Gothic New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C0000"/>
                </a:solidFill>
                <a:latin typeface="Zen Kaku Gothic New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384048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Zen Kaku Gothic New"/>
              </a:rPr>
              <a:t>設立後の対応チェックリスト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1691640" y="960120"/>
            <a:ext cx="10332720" cy="25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1371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Zen Kaku Gothic New"/>
              </a:rPr>
              <a:t>設立直後〜3ヶ月以内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86868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Zen Kaku Gothic New"/>
              </a:rPr>
              <a:t>役割：</a:t>
            </a:r>
          </a:p>
        </p:txBody>
      </p:sp>
      <p:sp>
        <p:nvSpPr>
          <p:cNvPr id="8" name="Rectangle 7"/>
          <p:cNvSpPr/>
          <p:nvPr/>
        </p:nvSpPr>
        <p:spPr>
          <a:xfrm>
            <a:off x="9098280" y="879480"/>
            <a:ext cx="378000" cy="86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98280" y="865080"/>
            <a:ext cx="3780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SRA代行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66960" y="879480"/>
            <a:ext cx="378000" cy="864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0" y="865080"/>
            <a:ext cx="3780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社長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35640" y="879480"/>
            <a:ext cx="378000" cy="864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35640" y="865080"/>
            <a:ext cx="3780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社労士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704320" y="879480"/>
            <a:ext cx="378000" cy="86400"/>
          </a:xfrm>
          <a:prstGeom prst="rect">
            <a:avLst/>
          </a:prstGeom>
          <a:solidFill>
            <a:srgbClr val="BB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0" y="865080"/>
            <a:ext cx="3780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SRA支援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" y="1051560"/>
            <a:ext cx="3566160" cy="5349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1051560"/>
            <a:ext cx="3566160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0880" y="11430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C0000"/>
                </a:solidFill>
                <a:latin typeface="Zen Kaku Gothic New"/>
              </a:rPr>
              <a:t>A. 税務署・自治体への届出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2880" y="1562760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2880" y="1548360"/>
            <a:ext cx="378000" cy="86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2880" y="15411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SRA代行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4880" y="15195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法人設立届出書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2880" y="16707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税務署・都道府県・市区町村 各1通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2880" y="2248560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2880" y="2234160"/>
            <a:ext cx="378000" cy="86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2880" y="22269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SRA代行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4880" y="22053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青色申告の承認申請書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2880" y="23565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設立後3ヶ月以内または最初の期末まで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2880" y="2934360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2880" y="2919960"/>
            <a:ext cx="378000" cy="86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2880" y="29127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SRA代行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4880" y="28911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給与支払事務所等の開設届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2880" y="30423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開設から1ヶ月以内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2880" y="3620160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2880" y="3605760"/>
            <a:ext cx="378000" cy="86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2880" y="35985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SRA代行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4880" y="35769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源泉所得税 納期の特例申請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2880" y="37281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常時10人未満の場合に申請可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2880" y="4305960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2880" y="4291560"/>
            <a:ext cx="378000" cy="86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2880" y="42843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SRA代行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4880" y="42627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消費税 課税事業者選択届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2880" y="44139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インボイス登録と合わせて要相談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2880" y="4991760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2880" y="4977360"/>
            <a:ext cx="378000" cy="86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2880" y="49701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SRA代行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4880" y="49485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棚卸資産の評価方法の届出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2880" y="50997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最初の期の確定申告期限まで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2880" y="5677560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42880" y="5663160"/>
            <a:ext cx="378000" cy="86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2880" y="56559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SRA代行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4880" y="56343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減価償却資産の償却方法届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2880" y="57855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同上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931920" y="1051560"/>
            <a:ext cx="3566160" cy="5349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931920" y="1051560"/>
            <a:ext cx="3566160" cy="64008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039920" y="11430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255CC"/>
                </a:solidFill>
                <a:latin typeface="Zen Kaku Gothic New"/>
              </a:rPr>
              <a:t>B. 金融機関・会計準備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21920" y="1562760"/>
            <a:ext cx="151200" cy="151200"/>
          </a:xfrm>
          <a:prstGeom prst="rect">
            <a:avLst/>
          </a:prstGeom>
          <a:noFill/>
          <a:ln w="1905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291920" y="1548360"/>
            <a:ext cx="378000" cy="864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91920" y="15411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社長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23920" y="15195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法人口座の開設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91920" y="16707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設立登記後すぐに（審査に時間がかかる）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021920" y="2248560"/>
            <a:ext cx="151200" cy="151200"/>
          </a:xfrm>
          <a:prstGeom prst="rect">
            <a:avLst/>
          </a:prstGeom>
          <a:noFill/>
          <a:ln w="1905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291920" y="2234160"/>
            <a:ext cx="378000" cy="864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91920" y="22269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社長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23920" y="22053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法人クレジットカードの申請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1920" y="23565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経費管理の効率化のため早めに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021920" y="2934360"/>
            <a:ext cx="151200" cy="151200"/>
          </a:xfrm>
          <a:prstGeom prst="rect">
            <a:avLst/>
          </a:prstGeom>
          <a:noFill/>
          <a:ln w="1905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291920" y="2919960"/>
            <a:ext cx="378000" cy="86400"/>
          </a:xfrm>
          <a:prstGeom prst="rect">
            <a:avLst/>
          </a:prstGeom>
          <a:solidFill>
            <a:srgbClr val="BB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291920" y="29127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SRA支援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23920" y="28911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会計ソフトの導入・初期設定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91920" y="30423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MFクラウド会計 / freee 等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021920" y="3620160"/>
            <a:ext cx="151200" cy="151200"/>
          </a:xfrm>
          <a:prstGeom prst="rect">
            <a:avLst/>
          </a:prstGeom>
          <a:noFill/>
          <a:ln w="1905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291920" y="3605760"/>
            <a:ext cx="378000" cy="86400"/>
          </a:xfrm>
          <a:prstGeom prst="rect">
            <a:avLst/>
          </a:prstGeom>
          <a:solidFill>
            <a:srgbClr val="BB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291920" y="35985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SRA支援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723920" y="35769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電子帳簿保存法の対応確認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91920" y="37281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電子取引データの保存方法を整備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021920" y="4305960"/>
            <a:ext cx="151200" cy="151200"/>
          </a:xfrm>
          <a:prstGeom prst="rect">
            <a:avLst/>
          </a:prstGeom>
          <a:noFill/>
          <a:ln w="1905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291920" y="4291560"/>
            <a:ext cx="378000" cy="86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291920" y="42843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SRA代行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723920" y="42627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インボイス登録申請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91920" y="44139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登録番号の取得（適格請求書発行事業者）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021920" y="4991760"/>
            <a:ext cx="151200" cy="151200"/>
          </a:xfrm>
          <a:prstGeom prst="rect">
            <a:avLst/>
          </a:prstGeom>
          <a:noFill/>
          <a:ln w="1905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291920" y="4977360"/>
            <a:ext cx="378000" cy="864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291920" y="49701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社長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723920" y="49485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法人印鑑証明書の取得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291920" y="50997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各種手続きに複数枚必要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021920" y="5677560"/>
            <a:ext cx="151200" cy="151200"/>
          </a:xfrm>
          <a:prstGeom prst="rect">
            <a:avLst/>
          </a:prstGeom>
          <a:noFill/>
          <a:ln w="1905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291920" y="5663160"/>
            <a:ext cx="378000" cy="864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291920" y="56559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社長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723920" y="56343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許認可の取得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291920" y="57855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業種による（行政書士へ依頼）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680960" y="1051560"/>
            <a:ext cx="3566160" cy="5349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680960" y="1051560"/>
            <a:ext cx="3566160" cy="64008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788960" y="11430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8855"/>
                </a:solidFill>
                <a:latin typeface="Zen Kaku Gothic New"/>
              </a:rPr>
              <a:t>C. 社会保険・労務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770960" y="1562760"/>
            <a:ext cx="151200" cy="151200"/>
          </a:xfrm>
          <a:prstGeom prst="rect">
            <a:avLst/>
          </a:prstGeom>
          <a:noFill/>
          <a:ln w="19050">
            <a:solidFill>
              <a:srgbClr val="008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040960" y="1548360"/>
            <a:ext cx="378000" cy="864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040960" y="15411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社労士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472960" y="15195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健保・厚生年金 新規適用届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040960" y="16707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設立から5日以内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770960" y="2248560"/>
            <a:ext cx="151200" cy="151200"/>
          </a:xfrm>
          <a:prstGeom prst="rect">
            <a:avLst/>
          </a:prstGeom>
          <a:noFill/>
          <a:ln w="19050">
            <a:solidFill>
              <a:srgbClr val="008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040960" y="2234160"/>
            <a:ext cx="378000" cy="864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040960" y="22269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社労士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472960" y="22053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雇用保険 適用事業所設置届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040960" y="23565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設立翌日から10日以内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770960" y="2934360"/>
            <a:ext cx="151200" cy="151200"/>
          </a:xfrm>
          <a:prstGeom prst="rect">
            <a:avLst/>
          </a:prstGeom>
          <a:noFill/>
          <a:ln w="19050">
            <a:solidFill>
              <a:srgbClr val="008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040960" y="2919960"/>
            <a:ext cx="378000" cy="864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040960" y="29127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社労士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472960" y="28911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労災保険 保険関係成立届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040960" y="30423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保険関係成立翌日から10日以内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770960" y="3620160"/>
            <a:ext cx="151200" cy="151200"/>
          </a:xfrm>
          <a:prstGeom prst="rect">
            <a:avLst/>
          </a:prstGeom>
          <a:noFill/>
          <a:ln w="19050">
            <a:solidFill>
              <a:srgbClr val="008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040960" y="3605760"/>
            <a:ext cx="378000" cy="864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040960" y="35985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社長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472960" y="35769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役員報酬の決定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0960" y="37281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設立後3ヶ月以内（定期同額給与の要件）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770960" y="4305960"/>
            <a:ext cx="151200" cy="151200"/>
          </a:xfrm>
          <a:prstGeom prst="rect">
            <a:avLst/>
          </a:prstGeom>
          <a:noFill/>
          <a:ln w="19050">
            <a:solidFill>
              <a:srgbClr val="008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040960" y="4291560"/>
            <a:ext cx="378000" cy="864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040960" y="42843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社労士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472960" y="42627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就業規則の作成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040960" y="44139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常時10人以上は届出義務あり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770960" y="4991760"/>
            <a:ext cx="151200" cy="151200"/>
          </a:xfrm>
          <a:prstGeom prst="rect">
            <a:avLst/>
          </a:prstGeom>
          <a:noFill/>
          <a:ln w="19050">
            <a:solidFill>
              <a:srgbClr val="008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040960" y="4977360"/>
            <a:ext cx="378000" cy="864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040960" y="49701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社労士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472960" y="49485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雇用契約書・労働条件通知書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040960" y="50997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雇用開始前に交付が必要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770960" y="5677560"/>
            <a:ext cx="151200" cy="151200"/>
          </a:xfrm>
          <a:prstGeom prst="rect">
            <a:avLst/>
          </a:prstGeom>
          <a:noFill/>
          <a:ln w="19050">
            <a:solidFill>
              <a:srgbClr val="008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8040960" y="5663160"/>
            <a:ext cx="378000" cy="86400"/>
          </a:xfrm>
          <a:prstGeom prst="rect">
            <a:avLst/>
          </a:prstGeom>
          <a:solidFill>
            <a:srgbClr val="BB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040960" y="56559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SRA支援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472960" y="56343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給与規程・旅費規程の整備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040960" y="57855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経費精算ルールの明文化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82880" y="6400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Zen Kaku Gothic New"/>
              </a:rPr>
              <a:t>※ 届出書の提出期限は設立日基準のものが多く、遅延すると不利益が生じます。提出はSRAが代行します（C列は社労士へ依頼）。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C0000"/>
                </a:solidFill>
                <a:latin typeface="Zen Kaku Gothic New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Zen Kaku Gothic New"/>
              </a:rPr>
              <a:t>月次の社内業務チェックリスト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Zen Kaku Gothic New"/>
              </a:rPr>
              <a:t>まず3つのルールから始めてください。あとはSRAがサポートします。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" y="-73152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DDDDDD"/>
                </a:solidFill>
                <a:latin typeface="Zen Kaku Gothic New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C0000"/>
                </a:solidFill>
                <a:latin typeface="Zen Kaku Gothic New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384048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Zen Kaku Gothic New"/>
              </a:rPr>
              <a:t>月次の社内業務チェックリスト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1691640" y="960120"/>
            <a:ext cx="10332720" cy="25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960120"/>
            <a:ext cx="11887200" cy="96012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960120"/>
            <a:ext cx="91440" cy="9601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9669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0000"/>
                </a:solidFill>
                <a:latin typeface="Zen Kaku Gothic New"/>
              </a:rPr>
              <a:t>まず、これだけ！3つのルール（仕訳は私たちがチェックします。社長はこれだけ意識してください）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990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Zen Kaku Gothic New"/>
              </a:rPr>
              <a:t>① 領収書は捨てずに箱 or MFクラウドで写真撮影    ② 会社の経費は個人の財布から払わない    ③ 月末に取引先への請求書を必ず発行する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" y="2057400"/>
            <a:ext cx="265176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" y="2057400"/>
            <a:ext cx="2651760" cy="64008"/>
          </a:xfrm>
          <a:prstGeom prst="rect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880" y="2148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622AA"/>
                </a:solidFill>
                <a:latin typeface="Zen Kaku Gothic New"/>
              </a:rPr>
              <a:t>日次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2880" y="2568600"/>
            <a:ext cx="151200" cy="151200"/>
          </a:xfrm>
          <a:prstGeom prst="rect">
            <a:avLst/>
          </a:prstGeom>
          <a:noFill/>
          <a:ln w="19050">
            <a:solidFill>
              <a:srgbClr val="66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880" y="2514600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領収書・請求書の収集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4880" y="2761488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紙・電子ともに当日中に保管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2880" y="3135528"/>
            <a:ext cx="151200" cy="151200"/>
          </a:xfrm>
          <a:prstGeom prst="rect">
            <a:avLst/>
          </a:prstGeom>
          <a:noFill/>
          <a:ln w="19050">
            <a:solidFill>
              <a:srgbClr val="66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4880" y="3081528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現金出納帳の記帳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880" y="3328416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現金残高を実際に確認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2880" y="3702456"/>
            <a:ext cx="151200" cy="151200"/>
          </a:xfrm>
          <a:prstGeom prst="rect">
            <a:avLst/>
          </a:prstGeom>
          <a:noFill/>
          <a:ln w="19050">
            <a:solidFill>
              <a:srgbClr val="66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4880" y="3648456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銀行入出金の確認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880" y="3895344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ネットバンキングで毎日チェック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2880" y="4269384"/>
            <a:ext cx="151200" cy="151200"/>
          </a:xfrm>
          <a:prstGeom prst="rect">
            <a:avLst/>
          </a:prstGeom>
          <a:noFill/>
          <a:ln w="19050">
            <a:solidFill>
              <a:srgbClr val="66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4880" y="4215384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売上・入金の記録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4880" y="4462272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入金漏れを早期発見するため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08960" y="2057400"/>
            <a:ext cx="265176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08960" y="2057400"/>
            <a:ext cx="2651760" cy="64008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80960" y="2148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55CC"/>
                </a:solidFill>
                <a:latin typeface="Zen Kaku Gothic New"/>
              </a:rPr>
              <a:t>週次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98960" y="2568600"/>
            <a:ext cx="151200" cy="151200"/>
          </a:xfrm>
          <a:prstGeom prst="rect">
            <a:avLst/>
          </a:prstGeom>
          <a:noFill/>
          <a:ln w="1905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50960" y="2514600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仕訳入力（会計ソフト）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0960" y="2761488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週1回まとめて入力が目安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98960" y="3135528"/>
            <a:ext cx="151200" cy="151200"/>
          </a:xfrm>
          <a:prstGeom prst="rect">
            <a:avLst/>
          </a:prstGeom>
          <a:noFill/>
          <a:ln w="1905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50960" y="3081528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未払請求書の確認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50960" y="3328416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支払期日の管理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98960" y="3702456"/>
            <a:ext cx="151200" cy="151200"/>
          </a:xfrm>
          <a:prstGeom prst="rect">
            <a:avLst/>
          </a:prstGeom>
          <a:noFill/>
          <a:ln w="1905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50960" y="3648456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売掛金・買掛金の確認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50960" y="3895344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回収漏れ・支払遅延の防止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98960" y="4269384"/>
            <a:ext cx="151200" cy="151200"/>
          </a:xfrm>
          <a:prstGeom prst="rect">
            <a:avLst/>
          </a:prstGeom>
          <a:noFill/>
          <a:ln w="1905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50960" y="4215384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経費精算の処理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50960" y="4462272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社員からの申請をまとめて処理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52160" y="2057400"/>
            <a:ext cx="265176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52160" y="2057400"/>
            <a:ext cx="2651760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24160" y="2148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0000"/>
                </a:solidFill>
                <a:latin typeface="Zen Kaku Gothic New"/>
              </a:rPr>
              <a:t>月初（1〜10日）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2160" y="2568600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4160" y="2514600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前月の仕訳締め・確認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94160" y="2761488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会計ソフトで月次締め処理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2160" y="3135528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94160" y="3081528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給与計算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94160" y="3328416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締め日・支払日に合わせて実施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2160" y="3702456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94160" y="3648456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源泉所得税の納付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94160" y="3895344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翌月10日まで（特例：7月・1月）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2160" y="4269384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94160" y="4215384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社会保険料の納付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94160" y="4462272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翌月末まで（口座振替推奨）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2160" y="4836312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94160" y="4782312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試算表の確認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94160" y="5029200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損益・貸借をSRAと共に確認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2160" y="5403240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94160" y="5349240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資金繰り表の更新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94160" y="5596128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向こう3ヶ月の資金計画を見直し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686800" y="2057400"/>
            <a:ext cx="265176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686800" y="2057400"/>
            <a:ext cx="2651760" cy="6400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758800" y="2148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6600"/>
                </a:solidFill>
                <a:latin typeface="Zen Kaku Gothic New"/>
              </a:rPr>
              <a:t>月末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776800" y="2568600"/>
            <a:ext cx="151200" cy="151200"/>
          </a:xfrm>
          <a:prstGeom prst="rect">
            <a:avLst/>
          </a:prstGeom>
          <a:noFill/>
          <a:ln w="1905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28800" y="2514600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売上・費用の計上確認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28800" y="2761488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発生主義で漏れなく計上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776800" y="3135528"/>
            <a:ext cx="151200" cy="151200"/>
          </a:xfrm>
          <a:prstGeom prst="rect">
            <a:avLst/>
          </a:prstGeom>
          <a:noFill/>
          <a:ln w="1905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028800" y="3081528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請求書の発行・送付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28800" y="3328416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取引先への請求を月末締めで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776800" y="3702456"/>
            <a:ext cx="151200" cy="151200"/>
          </a:xfrm>
          <a:prstGeom prst="rect">
            <a:avLst/>
          </a:prstGeom>
          <a:noFill/>
          <a:ln w="1905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028800" y="3648456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預金残高の突合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28800" y="3895344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帳簿残高と通帳残高の一致確認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776800" y="4269384"/>
            <a:ext cx="151200" cy="151200"/>
          </a:xfrm>
          <a:prstGeom prst="rect">
            <a:avLst/>
          </a:prstGeom>
          <a:noFill/>
          <a:ln w="1905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028800" y="4215384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棚卸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28800" y="4462272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在庫がある場合は月末に実施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776800" y="4836312"/>
            <a:ext cx="151200" cy="151200"/>
          </a:xfrm>
          <a:prstGeom prst="rect">
            <a:avLst/>
          </a:prstGeom>
          <a:noFill/>
          <a:ln w="1905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028800" y="4782312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翌月の資金繰り確認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28800" y="5029200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支払予定・入金予定の洗い出し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776800" y="5403240"/>
            <a:ext cx="151200" cy="151200"/>
          </a:xfrm>
          <a:prstGeom prst="rect">
            <a:avLst/>
          </a:prstGeom>
          <a:noFill/>
          <a:ln w="1905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028800" y="5349240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月次レポートの共有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28800" y="5596128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MFクラウドでSRAへ資料連携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" y="6400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Zen Kaku Gothic New"/>
              </a:rPr>
              <a:t>※ 源泉所得税の納期の特例（常時10人未満）を選択した場合、1〜6月分は7月10日、7〜12月分は翌年1月20日に一括納付します。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C0000"/>
                </a:solidFill>
                <a:latin typeface="Zen Kaku Gothic New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Zen Kaku Gothic New"/>
              </a:rPr>
              <a:t>年間の税務スケジュール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Zen Kaku Gothic New"/>
              </a:rPr>
              <a:t>M = 貴社の決算月。M+1が翌月、M+2が翌々月…と置き換えて読んでください。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" y="-73152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DDDDDD"/>
                </a:solidFill>
                <a:latin typeface="Zen Kaku Gothic New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C0000"/>
                </a:solidFill>
                <a:latin typeface="Zen Kaku Gothic New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384048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Zen Kaku Gothic New"/>
              </a:rPr>
              <a:t>年間の税務スケジュール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1691640" y="960120"/>
            <a:ext cx="10332720" cy="25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1371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Zen Kaku Gothic New"/>
              </a:rPr>
              <a:t>M = 決算月  ★ = まとまった出費が発生します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9509760" y="137160"/>
            <a:ext cx="2468880" cy="50292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16459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C0000"/>
                </a:solidFill>
                <a:latin typeface="Zen Kaku Gothic New"/>
              </a:rPr>
              <a:t>★ = 事前に資金を確保してください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" y="960120"/>
            <a:ext cx="28346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" y="960120"/>
            <a:ext cx="658368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960120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M+1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1032984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4912" y="1029384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14458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前月（期末月）分 納付（10日まで）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90672" y="960120"/>
            <a:ext cx="2834640" cy="1572768"/>
          </a:xfrm>
          <a:prstGeom prst="roundRect">
            <a:avLst>
              <a:gd name="adj" fmla="val 3000"/>
            </a:avLst>
          </a:prstGeom>
          <a:solidFill>
            <a:srgbClr val="FF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90672" y="960120"/>
            <a:ext cx="658368" cy="15727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90672" y="960120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M+2
申告期限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03904" y="1032984"/>
            <a:ext cx="914400" cy="93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32704" y="1029384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法人税・地方税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22192" y="114458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★ 申告・納付（期末後2ヶ月以内）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03904" y="1508472"/>
            <a:ext cx="914400" cy="936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32704" y="1504872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消費税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22192" y="16200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★ 申告・納付（同上）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03904" y="1983960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32704" y="1980360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22192" y="20955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前月分 納付（10日）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98464" y="960120"/>
            <a:ext cx="28346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98464" y="960120"/>
            <a:ext cx="658368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98464" y="960120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M+3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11696" y="1032984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40496" y="1029384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9984" y="114458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前月分 納付（10日まで）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06256" y="960120"/>
            <a:ext cx="28346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06256" y="960120"/>
            <a:ext cx="658368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06256" y="960120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M+4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19488" y="1032984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48288" y="1029384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14458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1〜6月分 一括納付（20日）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19488" y="1508472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48288" y="1504872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37776" y="16200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前月分 納付（10日）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82880" y="2578608"/>
            <a:ext cx="28346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82880" y="2578608"/>
            <a:ext cx="658368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2880" y="2578608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M+5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6112" y="2651472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4912" y="2647872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27630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前月分 納付（10日まで）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090672" y="2578608"/>
            <a:ext cx="2834640" cy="1572768"/>
          </a:xfrm>
          <a:prstGeom prst="roundRect">
            <a:avLst>
              <a:gd name="adj" fmla="val 3000"/>
            </a:avLst>
          </a:prstGeom>
          <a:solidFill>
            <a:srgbClr val="FF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090672" y="2578608"/>
            <a:ext cx="658368" cy="15727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90672" y="2578608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M+6
中間申告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03904" y="2651472"/>
            <a:ext cx="914400" cy="93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32704" y="2647872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法人税等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22192" y="27630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★ 中間申告・納付（前期税額の1/2）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03904" y="3126960"/>
            <a:ext cx="914400" cy="936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832704" y="3123360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消費税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22192" y="32385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中間申告（年1回中間の場合）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03904" y="3602448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832704" y="3598848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22192" y="371404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前月分 納付（10日）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998464" y="2578608"/>
            <a:ext cx="28346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98464" y="2578608"/>
            <a:ext cx="658368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98464" y="2578608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M+7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11696" y="2651472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40496" y="2647872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29984" y="27630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前月分 納付（10日まで）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906256" y="2578608"/>
            <a:ext cx="28346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906256" y="2578608"/>
            <a:ext cx="658368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906256" y="2578608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M+8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619488" y="2651472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48288" y="2647872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37776" y="27630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前月分 納付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619488" y="3126960"/>
            <a:ext cx="914400" cy="936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648288" y="3123360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消費税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37776" y="32385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中間申告（年3回の場合・2回目）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82880" y="4197096"/>
            <a:ext cx="28346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82880" y="4197096"/>
            <a:ext cx="658368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82880" y="4197096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M+9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96112" y="4269960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24912" y="4266360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4400" y="43815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前月分 納付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96112" y="4745448"/>
            <a:ext cx="914400" cy="93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24912" y="4741848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法人税等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14400" y="485704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中間申告（年3回の場合・3回目）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090672" y="4197096"/>
            <a:ext cx="28346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090672" y="4197096"/>
            <a:ext cx="658368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90672" y="4197096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M+10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803904" y="4269960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832704" y="4266360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822192" y="43815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7〜12月分 一括納付（20日）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803904" y="4745448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832704" y="4741848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822192" y="485704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前月分 納付（10日）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998464" y="4197096"/>
            <a:ext cx="28346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998464" y="4197096"/>
            <a:ext cx="658368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998464" y="4197096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M+11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711696" y="4269960"/>
            <a:ext cx="914400" cy="936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740496" y="4266360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年末調整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729984" y="43815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12月給与で年末調整を実施（毎年12月固定）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711696" y="4745448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740496" y="4741848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729984" y="485704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前月分 納付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8906256" y="4197096"/>
            <a:ext cx="28346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06256" y="4197096"/>
            <a:ext cx="658368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906256" y="4197096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M+12
（決算月）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619488" y="4269960"/>
            <a:ext cx="914400" cy="93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648288" y="4266360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決算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637776" y="43815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期末 → 決算資料の収集・整理開始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619488" y="4745448"/>
            <a:ext cx="914400" cy="93600"/>
          </a:xfrm>
          <a:prstGeom prst="rect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648288" y="4741848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法定調書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637776" y="485704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給与支払報告書・合計表（1月31日固定）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619488" y="5220936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648288" y="5217336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637776" y="533253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前月分 納付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82880" y="6400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Zen Kaku Gothic New"/>
              </a:rPr>
              <a:t>※ 年末調整（毎年12月）・法定調書（毎年1月31日）・償却資産税申告（毎年1月31日）は暦年固定のイベントです。M+Nとは別に管理してください。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C0000"/>
                </a:solidFill>
                <a:latin typeface="Zen Kaku Gothic New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Zen Kaku Gothic New"/>
              </a:rPr>
              <a:t>消費税の基本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Zen Kaku Gothic New"/>
              </a:rPr>
              <a:t>免税事業者のルールと、インボイス制度対応の考え方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" y="-73152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DDDDDD"/>
                </a:solidFill>
                <a:latin typeface="Zen Kaku Gothic New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C0000"/>
                </a:solidFill>
                <a:latin typeface="Zen Kaku Gothic New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384048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Zen Kaku Gothic New"/>
              </a:rPr>
              <a:t>消費税の基本</a:t>
            </a:r>
          </a:p>
        </p:txBody>
      </p:sp>
      <p:sp>
        <p:nvSpPr>
          <p:cNvPr id="5" name="Rectangle 4"/>
          <p:cNvSpPr/>
          <p:nvPr/>
        </p:nvSpPr>
        <p:spPr>
          <a:xfrm>
            <a:off x="1691640" y="960120"/>
            <a:ext cx="10332720" cy="25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0058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免税事業者の判定フロー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" y="1463040"/>
            <a:ext cx="5394960" cy="10789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463040"/>
            <a:ext cx="749808" cy="1078992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1463040"/>
            <a:ext cx="74980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Zen Kaku Gothic New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基準期間（2期前）の課税売上高は？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96596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1,000万円以下 → 次のSTEPへ　/　超 → 課税事業者（申告義務あり）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" y="2651760"/>
            <a:ext cx="5394960" cy="10789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2651760"/>
            <a:ext cx="749808" cy="1078992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2651760"/>
            <a:ext cx="74980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Zen Kaku Gothic New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7432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特定期間（前期上半期）の売上・給与は？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15468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各1,000万円以下 → 次のSTEPへ　/　超 → 課税事業者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" y="3840480"/>
            <a:ext cx="5394960" cy="10789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" y="3840480"/>
            <a:ext cx="749808" cy="1078992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" y="3840480"/>
            <a:ext cx="74980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Zen Kaku Gothic New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9319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資本金は1,000万円未満か？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34340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1,000万円以上 → 設立1・2期目から課税事業者になる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" y="5029200"/>
            <a:ext cx="5394960" cy="10789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" y="5029200"/>
            <a:ext cx="749808" cy="1078992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" y="5029200"/>
            <a:ext cx="74980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Zen Kaku Gothic New"/>
              </a:rPr>
              <a:t>STEP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1206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インボイス（適格請求書）の登録をするか？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53212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登録する → 登録日から課税事業者（免税期間でも課税）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100584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登録すべき？ ケース別の目安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52160" y="1463040"/>
            <a:ext cx="6126480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52160" y="1463040"/>
            <a:ext cx="182880" cy="1417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0" y="1536192"/>
            <a:ext cx="1005840" cy="1008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1517904"/>
            <a:ext cx="100584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Zen Kaku Gothic New"/>
              </a:rPr>
              <a:t>BtoB 中心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1865376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取引先が法人・個人事業主メインの場合
→ インボイス登録（課税事業者）がほぼ必須
  未登録だと相手が仕入税額控除できず、取引を敬遠される可能性あり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98480" y="2487168"/>
            <a:ext cx="1097280" cy="10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98480" y="2468880"/>
            <a:ext cx="109728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Zen Kaku Gothic New"/>
              </a:rPr>
              <a:t>登録を強く推奨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52160" y="3035808"/>
            <a:ext cx="6126480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52160" y="3035808"/>
            <a:ext cx="182880" cy="141732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6480" y="3108960"/>
            <a:ext cx="1005840" cy="1008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3090672"/>
            <a:ext cx="100584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Zen Kaku Gothic New"/>
              </a:rPr>
              <a:t>BtoC 中心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3438144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エンドユーザー（個人消費者）がメインの場合
→ 売上が1,000万円以下なら免税のままでも可
  ただし将来的に売上が伸びる場合はタイミングを検討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698480" y="4059936"/>
            <a:ext cx="1097280" cy="1080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98480" y="4041648"/>
            <a:ext cx="109728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Zen Kaku Gothic New"/>
              </a:rPr>
              <a:t>免税継続も選択肢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52160" y="4608576"/>
            <a:ext cx="6126480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852160" y="4608576"/>
            <a:ext cx="182880" cy="141732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26480" y="4681728"/>
            <a:ext cx="1005840" cy="1008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26480" y="4663440"/>
            <a:ext cx="100584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Zen Kaku Gothic New"/>
              </a:rPr>
              <a:t>届出書と期限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5010912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課税事業者選択届：適用課税期間の開始前日
簡易課税制度選択届：同上（売上5,000万円以下が対象）
消費税の中間申告：前期税額48万円超で義務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698480" y="5632704"/>
            <a:ext cx="1097280" cy="1080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698480" y="5614416"/>
            <a:ext cx="109728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Zen Kaku Gothic New"/>
              </a:rPr>
              <a:t>期限厳守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2880" y="6400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Zen Kaku Gothic New"/>
              </a:rPr>
              <a:t>迷ったらすぐ相談してください！登録するかどうかは、売上状況・取引先構成を見ながら一緒に判断します。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C0000"/>
                </a:solidFill>
                <a:latin typeface="Zen Kaku Gothic New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Zen Kaku Gothic New"/>
              </a:rPr>
              <a:t>役員報酬の基本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Zen Kaku Gothic New"/>
              </a:rPr>
              <a:t>3ヶ月ルールを守りつつ、最適な金額を一緒に設計します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" y="-73152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DDDDDD"/>
                </a:solidFill>
                <a:latin typeface="Zen Kaku Gothic New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C0000"/>
                </a:solidFill>
                <a:latin typeface="Zen Kaku Gothic New"/>
              </a:rP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384048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Zen Kaku Gothic New"/>
              </a:rPr>
              <a:t>役員報酬の基本</a:t>
            </a:r>
          </a:p>
        </p:txBody>
      </p:sp>
      <p:sp>
        <p:nvSpPr>
          <p:cNvPr id="5" name="Rectangle 4"/>
          <p:cNvSpPr/>
          <p:nvPr/>
        </p:nvSpPr>
        <p:spPr>
          <a:xfrm>
            <a:off x="1691640" y="960120"/>
            <a:ext cx="10332720" cy="25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0058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役員報酬の3種類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" y="1463040"/>
            <a:ext cx="5394960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463040"/>
            <a:ext cx="182880" cy="1371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Zen Kaku Gothic New"/>
              </a:rPr>
              <a:t>定期同額給与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38528"/>
            <a:ext cx="5029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毎月同額を支払う。最も一般的な方法。
変更できるのは「事業年度開始から3ヶ月以内」のみ。期間外の変更分は損金不算入。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" y="2971800"/>
            <a:ext cx="5394960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" y="2971800"/>
            <a:ext cx="182880" cy="1371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0632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Zen Kaku Gothic New"/>
              </a:rPr>
              <a:t>事前確定届出給与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47288"/>
            <a:ext cx="5029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賞与相当。支給額・日付を事前に税務署へ届け出ることで損金算入可。
届出期限：定時株主総会から1ヶ月以内 または 事業年度開始から4ヶ月以内。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" y="4480560"/>
            <a:ext cx="5394960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880" y="4480560"/>
            <a:ext cx="182880" cy="1371600"/>
          </a:xfrm>
          <a:prstGeom prst="rect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5720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Zen Kaku Gothic New"/>
              </a:rPr>
              <a:t>業績連動給与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956048"/>
            <a:ext cx="5029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利益連動型。同族会社は原則不可。上場企業向けの特殊制度。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100584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金額はどう決める？ 設定ガイド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1463040"/>
            <a:ext cx="6126480" cy="105156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52160" y="1463040"/>
            <a:ext cx="822960" cy="105156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0" y="1463040"/>
            <a:ext cx="822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Zen Kaku Gothic New"/>
              </a:rPr>
              <a:t>STEP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15544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生活に必要な最低額から逆算する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1920240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手取りで月〇〇万円必要 → 所得税・住民税・社会保険を逆算し、
総支給額（役員報酬）を算出します。生活費がベースラインです。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0" y="2651760"/>
            <a:ext cx="6126480" cy="105156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51760"/>
            <a:ext cx="822960" cy="105156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2651760"/>
            <a:ext cx="822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Zen Kaku Gothic New"/>
              </a:rPr>
              <a:t>STEP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7432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社会保険料の「壁」を意識する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108960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標準報酬月額は等級ごとに上限あり（最高139万円）。
報酬が上がるほど社会保険料も増えるため、法人・個人の合算でシミュレーションします。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3840480"/>
            <a:ext cx="6126480" cy="105156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52160" y="3840480"/>
            <a:ext cx="822960" cy="105156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60" y="3840480"/>
            <a:ext cx="822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Zen Kaku Gothic New"/>
              </a:rPr>
              <a:t>STEP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39319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法人の利益計画と照らし合わせる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297680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役員報酬を増やす → 法人税↓・個人所得税↑。
最適なバランスはその年の利益予測によって変わるため、期初に一緒に試算します。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52160" y="5029200"/>
            <a:ext cx="6126480" cy="1051560"/>
          </a:xfrm>
          <a:prstGeom prst="roundRect">
            <a:avLst>
              <a:gd name="adj" fmla="val 3000"/>
            </a:avLst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52160" y="5029200"/>
            <a:ext cx="822960" cy="10515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52160" y="5029200"/>
            <a:ext cx="822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Zen Kaku Gothic New"/>
              </a:rPr>
              <a:t>提案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51206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初回キックオフ面談でシミュレーションします！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5486400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設立後すぐに「利益計画×役員報酬シミュレーション」を作成します。
「何円にすればいいかわからない」という悩みは一緒に解決しましょう。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" y="6400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Zen Kaku Gothic New"/>
              </a:rPr>
              <a:t>※ 役員報酬の変更は期初3ヶ月以内が鉄則です。変更予定がある場合は必ず事前にご相談ください。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C6600"/>
                </a:solidFill>
                <a:latin typeface="Zen Kaku Gothic New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Zen Kaku Gothic New"/>
              </a:rPr>
              <a:t>会社と個人のお金の分離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Zen Kaku Gothic New"/>
              </a:rPr>
              <a:t>これが一番大事な基本ルール。最初に必ず押さえてください。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" y="-73152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DDDDDD"/>
                </a:solidFill>
                <a:latin typeface="Zen Kaku Gothic New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C0000"/>
                </a:solidFill>
                <a:latin typeface="Zen Kaku Gothic New"/>
              </a:rP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384048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Zen Kaku Gothic New"/>
              </a:rPr>
              <a:t>会社と個人のお金の分離</a:t>
            </a:r>
          </a:p>
        </p:txBody>
      </p:sp>
      <p:sp>
        <p:nvSpPr>
          <p:cNvPr id="5" name="Rectangle 4"/>
          <p:cNvSpPr/>
          <p:nvPr/>
        </p:nvSpPr>
        <p:spPr>
          <a:xfrm>
            <a:off x="1691640" y="960120"/>
            <a:ext cx="10332720" cy="25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960120"/>
            <a:ext cx="5760720" cy="54864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960120"/>
            <a:ext cx="5760720" cy="50292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96012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Zen Kaku Gothic New"/>
              </a:rPr>
              <a:t>NG  やってはいけない行動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960120"/>
            <a:ext cx="5669280" cy="5486400"/>
          </a:xfrm>
          <a:prstGeom prst="rect">
            <a:avLst/>
          </a:prstGeom>
          <a:solidFill>
            <a:srgbClr val="F0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960120"/>
            <a:ext cx="5669280" cy="50292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96012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Zen Kaku Gothic New"/>
              </a:rPr>
              <a:t>OK  正しいやり方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608768"/>
            <a:ext cx="198000" cy="19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594368"/>
            <a:ext cx="19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Zen Kaku Gothic New"/>
              </a:rPr>
              <a:t>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5727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B0000"/>
                </a:solidFill>
                <a:latin typeface="Zen Kaku Gothic New"/>
              </a:rPr>
              <a:t>個人カードで会社の経費を払う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88366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何が会社の経費か追えなくなる。税務調査で否認されるリスク大。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514024"/>
            <a:ext cx="198000" cy="19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499624"/>
            <a:ext cx="19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Zen Kaku Gothic New"/>
              </a:rPr>
              <a:t>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47802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B0000"/>
                </a:solidFill>
                <a:latin typeface="Zen Kaku Gothic New"/>
              </a:rPr>
              <a:t>会社口座から生活費を引き出す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7889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「役員貸付金」になり法人税上の問題に。最悪の場合、認定利息課税も。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419280"/>
            <a:ext cx="198000" cy="19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3404880"/>
            <a:ext cx="19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Zen Kaku Gothic New"/>
              </a:rPr>
              <a:t>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3832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B0000"/>
                </a:solidFill>
                <a:latin typeface="Zen Kaku Gothic New"/>
              </a:rPr>
              <a:t>個人と会社の口座を同じ通帳で管理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69417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決算処理が複雑になり、正確な損益計算ができなくなる。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324536"/>
            <a:ext cx="198000" cy="19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4310136"/>
            <a:ext cx="19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Zen Kaku Gothic New"/>
              </a:rPr>
              <a:t>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28853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B0000"/>
                </a:solidFill>
                <a:latin typeface="Zen Kaku Gothic New"/>
              </a:rPr>
              <a:t>個人名義の固定費を会社費用にする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59943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按分や根拠がないと全額否認される。事前に税理士と相談を。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229792"/>
            <a:ext cx="198000" cy="19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5215392"/>
            <a:ext cx="19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Zen Kaku Gothic New"/>
              </a:rPr>
              <a:t>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19379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B0000"/>
                </a:solidFill>
                <a:latin typeface="Zen Kaku Gothic New"/>
              </a:rPr>
              <a:t>レシート・領収書をすぐ捨てる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50468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経費の証拠がなくなる。最低7年間の保存義務があります。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1608768"/>
            <a:ext cx="198000" cy="1980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1594368"/>
            <a:ext cx="19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Zen Kaku Gothic New"/>
              </a:rPr>
              <a:t>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15727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8855"/>
                </a:solidFill>
                <a:latin typeface="Zen Kaku Gothic New"/>
              </a:rPr>
              <a:t>法人口座・法人カードを設立直後に開設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1883664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経費はすべて法人カードで。通帳は会社専用を維持する。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514024"/>
            <a:ext cx="198000" cy="1980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2499624"/>
            <a:ext cx="19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Zen Kaku Gothic New"/>
              </a:rPr>
              <a:t>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247802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8855"/>
                </a:solidFill>
                <a:latin typeface="Zen Kaku Gothic New"/>
              </a:rPr>
              <a:t>生活費は毎月の役員報酬から賄う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27889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報酬以外で個人口座に入金しない。足りない場合は役員報酬額を見直す。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419280"/>
            <a:ext cx="198000" cy="1980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3404880"/>
            <a:ext cx="19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Zen Kaku Gothic New"/>
              </a:rPr>
              <a:t>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3383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8855"/>
                </a:solidFill>
                <a:latin typeface="Zen Kaku Gothic New"/>
              </a:rPr>
              <a:t>立替払いをした場合は「社員立替精算書」で処理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369417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やむを得ず個人払いした場合は記録を残し、月次で精算する。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4324536"/>
            <a:ext cx="198000" cy="1980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4310136"/>
            <a:ext cx="19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Zen Kaku Gothic New"/>
              </a:rPr>
              <a:t>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428853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8855"/>
                </a:solidFill>
                <a:latin typeface="Zen Kaku Gothic New"/>
              </a:rPr>
              <a:t>個人・法人の費用を按分するときは根拠を記録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459943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自宅兼事務所・車両等は使用割合を計算し書面で残しておく。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55080" y="5229792"/>
            <a:ext cx="198000" cy="1980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5215392"/>
            <a:ext cx="19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Zen Kaku Gothic New"/>
              </a:rPr>
              <a:t>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51937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8855"/>
                </a:solidFill>
                <a:latin typeface="Zen Kaku Gothic New"/>
              </a:rPr>
              <a:t>毎月MFクラウドで帳簿を最新状態に保つ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550468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リアルタイムの帳簿は税務調査対策にも、資金繰り管理にも有効。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2880" y="6400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Zen Kaku Gothic New"/>
              </a:rPr>
              <a:t>混在が続くと決算処理が膨大になり、費用がかかります。最初の習慣が最も大切です。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2255CC"/>
                </a:solidFill>
                <a:latin typeface="Zen Kaku Gothic New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Zen Kaku Gothic New"/>
              </a:rPr>
              <a:t>SEVENRICHとのやり取り＆SOSリスト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Zen Kaku Gothic New"/>
              </a:rPr>
              <a:t>連絡方法・資料提出のルール・動く前に必ず相談すること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" y="-73152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DDDDDD"/>
                </a:solidFill>
                <a:latin typeface="Zen Kaku Gothic New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C0000"/>
                </a:solidFill>
                <a:latin typeface="Zen Kaku Gothic New"/>
              </a:rPr>
              <a:t>SECTION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384048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Zen Kaku Gothic New"/>
              </a:rPr>
              <a:t>SEVENRICHとのやり取り＆SOSリスト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1691640" y="960120"/>
            <a:ext cx="10332720" cy="25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コミュニケーションルール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" y="1463040"/>
            <a:ext cx="5486400" cy="10789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463040"/>
            <a:ext cx="164592" cy="1078992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554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連絡手段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9202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Chatwork でいつでも気軽にご連絡ください。
緊急の場合は電話も歓迎です。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" y="2651760"/>
            <a:ext cx="5486400" cy="10789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" y="2651760"/>
            <a:ext cx="164592" cy="1078992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7432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資料の連携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31089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毎月〇日までに、前月分の通帳データ・領収書・請求書を
MFクラウドまたはChatworkに共有してください。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" y="3840480"/>
            <a:ext cx="5486400" cy="10789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880" y="3840480"/>
            <a:ext cx="164592" cy="1078992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39319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返信の目安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42976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通常メッセージは 2 営業日以内にご返信します。
税務上の判断が必要な場合は少し時間をいただくことがあります。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" y="5029200"/>
            <a:ext cx="5486400" cy="10789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880" y="5029200"/>
            <a:ext cx="164592" cy="107899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51206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月次面談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" y="54864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毎月1回、試算表をもとに30分の確認MTGを行います。
数字の読み方・節税策・資金繰りを一緒に確認します。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10058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動く前に必ずひと言ください！ SOSリスト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1463040"/>
            <a:ext cx="6035040" cy="41148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1481328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C0000"/>
                </a:solidFill>
                <a:latin typeface="Zen Kaku Gothic New"/>
              </a:rPr>
              <a:t>事後報告では税務メリットを受けられないケースがあります。必ず「動く前に」チャットで一言ご連絡ください。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2011680"/>
            <a:ext cx="283464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0" y="2011680"/>
            <a:ext cx="164592" cy="8046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9632" y="20848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役員報酬を変更したい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9632" y="24505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変更タイミングが損金算入の可否を決めます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2926080"/>
            <a:ext cx="283464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0" y="2926080"/>
            <a:ext cx="164592" cy="8046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9632" y="29992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従業員を雇うことになった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9632" y="33649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社会保険・雇用保険の手続きが必要です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3840480"/>
            <a:ext cx="283464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43600" y="3840480"/>
            <a:ext cx="164592" cy="8046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9632" y="39136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オフィス・登記住所を移転する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9632" y="42793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税務署・自治体・法務局への届出が必要です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0" y="4754880"/>
            <a:ext cx="283464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43600" y="4754880"/>
            <a:ext cx="164592" cy="8046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99632" y="48280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100万円以上の大きな買い物をした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99632" y="51937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資産計上か経費かの判断が必要です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0" y="5669280"/>
            <a:ext cx="283464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43600" y="5669280"/>
            <a:ext cx="164592" cy="8046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9632" y="57424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銀行から借入・出資を受けたい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99632" y="61081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返済計画と税務の両面でアドバイスします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61120" y="2011680"/>
            <a:ext cx="283464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961120" y="2011680"/>
            <a:ext cx="164592" cy="8046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17152" y="20848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会社名・事業内容を変更したい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7152" y="24505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定款変更・登記・税務届出が伴います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61120" y="2926080"/>
            <a:ext cx="283464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961120" y="2926080"/>
            <a:ext cx="164592" cy="8046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17152" y="29992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役員を追加・変更したい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17152" y="33649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株主総会議事録・社会保険の手続きが必要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961120" y="3840480"/>
            <a:ext cx="283464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961120" y="3840480"/>
            <a:ext cx="164592" cy="8046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17152" y="39136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廃業・会社清算を考えている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17152" y="42793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タイミングにより税負担が大きく変わります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961120" y="4754880"/>
            <a:ext cx="283464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961120" y="4754880"/>
            <a:ext cx="164592" cy="8046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217152" y="48280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大きな投資や保険の加入を検討中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17152" y="51937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節税効果のシミュレーションを事前に行います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2880" y="6400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Zen Kaku Gothic New"/>
              </a:rPr>
              <a:t>「こんなことでも相談していいの？」と思ったことでも、ぜひ気軽にご連絡ください。早めの相談ほど選択肢が広がります。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C0000"/>
                </a:solidFill>
                <a:latin typeface="Zen Kaku Gothic New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Zen Kaku Gothic New"/>
              </a:rPr>
              <a:t>よくある質問（FAQ）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Zen Kaku Gothic New"/>
              </a:rPr>
              <a:t>新規顧客からよく頂く質問と回答をまとめました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" y="-73152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DDDDDD"/>
                </a:solidFill>
                <a:latin typeface="Zen Kaku Gothic New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C0000"/>
                </a:solidFill>
                <a:latin typeface="Zen Kaku Gothic New"/>
              </a:rPr>
              <a:t>SECTION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384048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Zen Kaku Gothic New"/>
              </a:rPr>
              <a:t>よくある質問（FAQ）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691640" y="960120"/>
            <a:ext cx="10332720" cy="25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" y="1005840"/>
            <a:ext cx="55778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005840"/>
            <a:ext cx="164592" cy="15727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1097280"/>
            <a:ext cx="198000" cy="19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088136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0972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会計ソフトは何を使えばいいですか？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1673352"/>
            <a:ext cx="198000" cy="198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664208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673352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当事務所ではMFクラウド会計を推奨しています。銀行・クレカと自動連携でき、月次仕訳が大幅に効率化されます。初期設定はSRAが一緒に行います。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005840"/>
            <a:ext cx="55778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005840"/>
            <a:ext cx="164592" cy="157276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91072" y="1097280"/>
            <a:ext cx="198000" cy="1980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1088136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10972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領収書や請求書はどう管理すればいいですか？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91072" y="1673352"/>
            <a:ext cx="198000" cy="198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1664208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1673352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電子取引のデータは原則データで保存が必要です（電子帳簿保存法）。紙の領収書はMFクラウドで撮影保存が便利。まずは「捨てない」「箱に入れる」から始めましょう。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" y="2633472"/>
            <a:ext cx="55778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" y="2633472"/>
            <a:ext cx="164592" cy="157276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" y="2724912"/>
            <a:ext cx="198000" cy="1980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2715768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272491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消費税の免税はいつまで続きますか？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" y="3300984"/>
            <a:ext cx="198000" cy="198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" y="3291840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3300984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原則、設立後2期は免税です（資本金1,000万円未満・特定期間売上1,000万円以下の場合）。ただしインボイス登録をすると免税中でも課税事業者になります。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2633472"/>
            <a:ext cx="55778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35040" y="2633472"/>
            <a:ext cx="164592" cy="15727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91072" y="2724912"/>
            <a:ext cx="198000" cy="19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91072" y="2715768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Q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272491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役員報酬はいつでも変更できますか？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91072" y="3300984"/>
            <a:ext cx="198000" cy="198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1072" y="3291840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3300984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定期同額給与として損金算入するには、事業年度開始から3ヶ月以内に変更する必要があります。期間外の変更分は損金不算入となります。必ず事前にご相談ください。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82880" y="4261104"/>
            <a:ext cx="55778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82880" y="4261104"/>
            <a:ext cx="164592" cy="1572768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8912" y="4352544"/>
            <a:ext cx="198000" cy="1980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" y="4343400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Q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435254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赤字でも税金はかかりますか？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4928616"/>
            <a:ext cx="198000" cy="198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4919472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" y="4928616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法人税・事業税は所得ゼロなら課税されませんが、法人住民税の均等割（年約7万円〜）は赤字でも発生します。また消費税は売上・仕入の状況により別途課税されます。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35040" y="4261104"/>
            <a:ext cx="55778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35040" y="4261104"/>
            <a:ext cx="164592" cy="1572768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91072" y="4352544"/>
            <a:ext cx="198000" cy="1980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91072" y="4343400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Q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12280" y="435254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SEVENRICHには何をお任せできますか？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91072" y="4928616"/>
            <a:ext cx="198000" cy="198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1072" y="4919472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12280" y="4928616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月次仕訳チェック・試算表作成・税務相談・決算申告・給与計算サポートなどをご提供します。経営判断に関わる数字の相談も、いつでも気軽にお声がけください。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2880" y="6400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Zen Kaku Gothic New"/>
              </a:rPr>
              <a:t>ご不明な点は何でもお気軽にご相談ください。  SEVENRICH 会計事務所  ｜  Tel: XXX-XXXX-XXXX  ｜  Chatwork: xxxxxxxx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2255CC"/>
                </a:solidFill>
                <a:latin typeface="Zen Kaku Gothic New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Zen Kaku Gothic New"/>
              </a:rPr>
              <a:t>法人口座・クレジットカード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Zen Kaku Gothic New"/>
              </a:rPr>
              <a:t>設立後すぐに開設！口座4種類の使い分けとおすすめ銀行・カード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" y="-73152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DDDDDD"/>
                </a:solidFill>
                <a:latin typeface="Zen Kaku Gothic New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C0000"/>
                </a:solidFill>
                <a:latin typeface="Zen Kaku Gothic New"/>
              </a:rP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384048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Zen Kaku Gothic New"/>
              </a:rPr>
              <a:t>法人口座・クレジットカード</a:t>
            </a:r>
          </a:p>
        </p:txBody>
      </p:sp>
      <p:sp>
        <p:nvSpPr>
          <p:cNvPr id="5" name="Rectangle 4"/>
          <p:cNvSpPr/>
          <p:nvPr/>
        </p:nvSpPr>
        <p:spPr>
          <a:xfrm>
            <a:off x="1691640" y="960120"/>
            <a:ext cx="10332720" cy="25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法人口座の作り方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" y="1463040"/>
            <a:ext cx="548640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463040"/>
            <a:ext cx="182880" cy="713232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入金用口座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47088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売上・入金の受け取り先。法人口座のメイン。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" y="2231136"/>
            <a:ext cx="548640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" y="2231136"/>
            <a:ext cx="182880" cy="713232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304288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支払用口座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15184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経費・人件費などの支払い専用。毎月入金口座から移動。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" y="2999232"/>
            <a:ext cx="548640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880" y="2999232"/>
            <a:ext cx="182880" cy="71323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072384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納税用口座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38328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法人税・消費税の積立専用。決して取り崩さない。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" y="3767328"/>
            <a:ext cx="548640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880" y="3767328"/>
            <a:ext cx="182880" cy="713232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840480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設備投資用口座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51376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大型購入・将来の投資のための積立口座。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2880" y="4645152"/>
            <a:ext cx="1780032" cy="12070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2880" y="4645152"/>
            <a:ext cx="1780032" cy="292608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" y="4645152"/>
            <a:ext cx="1780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Zen Kaku Gothic New"/>
              </a:rPr>
              <a:t>都市銀行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4880" y="4992624"/>
            <a:ext cx="163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Zen Kaku Gothic New"/>
              </a:rPr>
              <a:t>三井住友銀行 Trunk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4880" y="5321808"/>
            <a:ext cx="163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他行宛145円・月額無料
融資・補助金・対外信用◎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36064" y="4645152"/>
            <a:ext cx="1780032" cy="12070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36064" y="4645152"/>
            <a:ext cx="1780032" cy="292608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36064" y="4645152"/>
            <a:ext cx="1780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Zen Kaku Gothic New"/>
              </a:rPr>
              <a:t>ネット銀行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8064" y="4992624"/>
            <a:ext cx="163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Zen Kaku Gothic New"/>
              </a:rPr>
              <a:t>GMOあおぞらネット銀行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8064" y="5321808"/>
            <a:ext cx="163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他行宛130円（業界最安）
Pay-easy対応・翌営業日開設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89248" y="4645152"/>
            <a:ext cx="1780032" cy="12070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9248" y="4645152"/>
            <a:ext cx="1780032" cy="292608"/>
          </a:xfrm>
          <a:prstGeom prst="rect">
            <a:avLst/>
          </a:prstGeom>
          <a:solidFill>
            <a:srgbClr val="BB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89248" y="4645152"/>
            <a:ext cx="1780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Zen Kaku Gothic New"/>
              </a:rPr>
              <a:t>地方銀行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61248" y="4992624"/>
            <a:ext cx="163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Zen Kaku Gothic New"/>
              </a:rPr>
              <a:t>地元の信用金庫（任意）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61248" y="5321808"/>
            <a:ext cx="163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融資関係が目的の場合のみ
日常口座には不向き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10058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法人クレジットカード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0" y="1463040"/>
            <a:ext cx="6035040" cy="11521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43600" y="1463040"/>
            <a:ext cx="182880" cy="1152144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1545336"/>
            <a:ext cx="2103120" cy="936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1527048"/>
            <a:ext cx="210312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当事務所 第1推奨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1828800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Zen Kaku Gothic New"/>
              </a:rPr>
              <a:t>MFビジネスカード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2157984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MFクラウド会計とAPI完全連携。利用→明細自動取得→仕訳自動生成が途切れない。年会費実質無料・個人事業主も申込可。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2468880"/>
            <a:ext cx="5577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8855"/>
                </a:solidFill>
                <a:latin typeface="Zen Kaku Gothic New"/>
              </a:rPr>
              <a:t>→ MFクラウドを使う方 全員に推奨（当事務所推奨）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0" y="2670048"/>
            <a:ext cx="6035040" cy="11521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943600" y="2670048"/>
            <a:ext cx="182880" cy="1152144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17920" y="2752344"/>
            <a:ext cx="2103120" cy="936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17920" y="2734056"/>
            <a:ext cx="210312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スタートアップ向け・高還元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3035808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Zen Kaku Gothic New"/>
              </a:rPr>
              <a:t>UPSIDER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3364992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還元率1〜1.5%・決算書不要で審査最短10分。設立直後の法人でも通過率が高く、限度額は最大10億円。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3675888"/>
            <a:ext cx="5577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C6600"/>
                </a:solidFill>
                <a:latin typeface="Zen Kaku Gothic New"/>
              </a:rPr>
              <a:t>→ 設立間もない法人・審査が不安な方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943600" y="3877056"/>
            <a:ext cx="6035040" cy="11521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943600" y="3877056"/>
            <a:ext cx="182880" cy="1152144"/>
          </a:xfrm>
          <a:prstGeom prst="rect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17920" y="3959352"/>
            <a:ext cx="2103120" cy="93600"/>
          </a:xfrm>
          <a:prstGeom prst="rect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17920" y="3941064"/>
            <a:ext cx="210312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経理DX・中規模企業向け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0" y="4242816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Zen Kaku Gothic New"/>
              </a:rPr>
              <a:t>バクラク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7920" y="4572000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キャッシュバック1%（半年間1.5%）。請求書・経費精算・支払管理を一元化。電子帳簿保存法対応済み。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4882896"/>
            <a:ext cx="5577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622AA"/>
                </a:solidFill>
                <a:latin typeface="Zen Kaku Gothic New"/>
              </a:rPr>
              <a:t>→ 経費精算をシステム化・組織化したい方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943600" y="5084064"/>
            <a:ext cx="6035040" cy="11521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5084064"/>
            <a:ext cx="182880" cy="1152144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17920" y="5166360"/>
            <a:ext cx="210312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17920" y="5148072"/>
            <a:ext cx="210312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海外出張・ステータス用途のみ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17920" y="5449824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Zen Kaku Gothic New"/>
              </a:rPr>
              <a:t>AMEX（参考）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17920" y="5779008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ブランド力・旅行保険・ラウンジは充実。ただしMFクラウドとのAPI連携が非対応・年会費3.6万円〜のため主軸カードには非推奨。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17920" y="6089904"/>
            <a:ext cx="5577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255CC"/>
                </a:solidFill>
                <a:latin typeface="Zen Kaku Gothic New"/>
              </a:rPr>
              <a:t>→ 海外出張が多い方のサブカードとして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82880" y="6400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Zen Kaku Gothic New"/>
              </a:rPr>
              <a:t>※ 口座開設・クレジットカード発行の代行も承ります。口座1行：30,000円 / 追加口座またはカード発行：各10,000円（すべて税抜）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