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84048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54864"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457200"/>
            <a:ext cx="3291840" cy="548640"/>
          </a:xfrm>
          <a:prstGeom prst="rect">
            <a:avLst/>
          </a:prstGeom>
          <a:noFill/>
        </p:spPr>
        <p:txBody>
          <a:bodyPr wrap="square">
            <a:spAutoFit/>
          </a:bodyPr>
          <a:lstStyle/>
          <a:p>
            <a:pPr algn="l"/>
            <a:r>
              <a:rPr sz="1200" b="1" i="0">
                <a:solidFill>
                  <a:srgbClr val="FFFFFF"/>
                </a:solidFill>
                <a:latin typeface="Noto Sans JP"/>
              </a:rPr>
              <a:t>SEVENRICH 会計事務所</a:t>
            </a:r>
          </a:p>
        </p:txBody>
      </p:sp>
      <p:sp>
        <p:nvSpPr>
          <p:cNvPr id="5" name="TextBox 4"/>
          <p:cNvSpPr txBox="1"/>
          <p:nvPr/>
        </p:nvSpPr>
        <p:spPr>
          <a:xfrm>
            <a:off x="365760" y="1280160"/>
            <a:ext cx="3291840" cy="1737360"/>
          </a:xfrm>
          <a:prstGeom prst="rect">
            <a:avLst/>
          </a:prstGeom>
          <a:noFill/>
        </p:spPr>
        <p:txBody>
          <a:bodyPr wrap="square">
            <a:spAutoFit/>
          </a:bodyPr>
          <a:lstStyle/>
          <a:p>
            <a:pPr algn="l"/>
            <a:r>
              <a:rPr sz="2700" b="1" i="0">
                <a:solidFill>
                  <a:srgbClr val="FFFFFF"/>
                </a:solidFill>
                <a:latin typeface="Noto Sans JP"/>
              </a:rPr>
              <a:t>新規顧客向け
ガイドブック</a:t>
            </a:r>
          </a:p>
        </p:txBody>
      </p:sp>
      <p:sp>
        <p:nvSpPr>
          <p:cNvPr id="6" name="TextBox 5"/>
          <p:cNvSpPr txBox="1"/>
          <p:nvPr/>
        </p:nvSpPr>
        <p:spPr>
          <a:xfrm>
            <a:off x="365760" y="3200400"/>
            <a:ext cx="3291840" cy="914400"/>
          </a:xfrm>
          <a:prstGeom prst="rect">
            <a:avLst/>
          </a:prstGeom>
          <a:noFill/>
        </p:spPr>
        <p:txBody>
          <a:bodyPr wrap="square">
            <a:spAutoFit/>
          </a:bodyPr>
          <a:lstStyle/>
          <a:p>
            <a:pPr algn="l"/>
            <a:r>
              <a:rPr sz="1100" b="0" i="0">
                <a:solidFill>
                  <a:srgbClr val="888888"/>
                </a:solidFill>
                <a:latin typeface="Noto Sans JP"/>
              </a:rPr>
              <a:t>会社設立後に知っておくべき
税務・経理の基本</a:t>
            </a:r>
          </a:p>
        </p:txBody>
      </p:sp>
      <p:sp>
        <p:nvSpPr>
          <p:cNvPr id="7" name="TextBox 6"/>
          <p:cNvSpPr txBox="1"/>
          <p:nvPr/>
        </p:nvSpPr>
        <p:spPr>
          <a:xfrm>
            <a:off x="365760" y="4297680"/>
            <a:ext cx="3291840" cy="822960"/>
          </a:xfrm>
          <a:prstGeom prst="rect">
            <a:avLst/>
          </a:prstGeom>
          <a:noFill/>
        </p:spPr>
        <p:txBody>
          <a:bodyPr wrap="square">
            <a:spAutoFit/>
          </a:bodyPr>
          <a:lstStyle/>
          <a:p>
            <a:pPr algn="l"/>
            <a:r>
              <a:rPr sz="1000" b="0" i="1">
                <a:solidFill>
                  <a:srgbClr val="AAAAAA"/>
                </a:solidFill>
                <a:latin typeface="Noto Sans JP"/>
              </a:rPr>
              <a:t>設立おめでとうございます。
ともに歩んでまいりましょう。</a:t>
            </a:r>
          </a:p>
        </p:txBody>
      </p:sp>
      <p:sp>
        <p:nvSpPr>
          <p:cNvPr id="8" name="TextBox 7"/>
          <p:cNvSpPr txBox="1"/>
          <p:nvPr/>
        </p:nvSpPr>
        <p:spPr>
          <a:xfrm>
            <a:off x="365760" y="6126480"/>
            <a:ext cx="3291840" cy="365760"/>
          </a:xfrm>
          <a:prstGeom prst="rect">
            <a:avLst/>
          </a:prstGeom>
          <a:noFill/>
        </p:spPr>
        <p:txBody>
          <a:bodyPr wrap="square">
            <a:spAutoFit/>
          </a:bodyPr>
          <a:lstStyle/>
          <a:p>
            <a:pPr algn="l"/>
            <a:r>
              <a:rPr sz="900" b="0" i="0">
                <a:solidFill>
                  <a:srgbClr val="888888"/>
                </a:solidFill>
                <a:latin typeface="Noto Sans JP"/>
              </a:rPr>
              <a:t>2026年版</a:t>
            </a:r>
          </a:p>
        </p:txBody>
      </p:sp>
      <p:sp>
        <p:nvSpPr>
          <p:cNvPr id="9" name="TextBox 8"/>
          <p:cNvSpPr txBox="1"/>
          <p:nvPr/>
        </p:nvSpPr>
        <p:spPr>
          <a:xfrm>
            <a:off x="4206240" y="502920"/>
            <a:ext cx="7315200" cy="411480"/>
          </a:xfrm>
          <a:prstGeom prst="rect">
            <a:avLst/>
          </a:prstGeom>
          <a:noFill/>
        </p:spPr>
        <p:txBody>
          <a:bodyPr wrap="square">
            <a:spAutoFit/>
          </a:bodyPr>
          <a:lstStyle/>
          <a:p>
            <a:pPr algn="l"/>
            <a:r>
              <a:rPr sz="1100" b="1" i="0">
                <a:solidFill>
                  <a:srgbClr val="CC0000"/>
                </a:solidFill>
                <a:latin typeface="Noto Sans JP"/>
              </a:rPr>
              <a:t>CONTENTS</a:t>
            </a:r>
          </a:p>
        </p:txBody>
      </p:sp>
      <p:sp>
        <p:nvSpPr>
          <p:cNvPr id="10" name="Rectangle 9"/>
          <p:cNvSpPr/>
          <p:nvPr/>
        </p:nvSpPr>
        <p:spPr>
          <a:xfrm>
            <a:off x="4206240" y="1005840"/>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43400" y="1042416"/>
            <a:ext cx="502920" cy="301752"/>
          </a:xfrm>
          <a:prstGeom prst="rect">
            <a:avLst/>
          </a:prstGeom>
          <a:noFill/>
        </p:spPr>
        <p:txBody>
          <a:bodyPr wrap="square">
            <a:spAutoFit/>
          </a:bodyPr>
          <a:lstStyle/>
          <a:p>
            <a:pPr algn="l"/>
            <a:r>
              <a:rPr sz="1400" b="1" i="0">
                <a:solidFill>
                  <a:srgbClr val="CC0000"/>
                </a:solidFill>
                <a:latin typeface="Noto Sans JP"/>
              </a:rPr>
              <a:t>01</a:t>
            </a:r>
          </a:p>
        </p:txBody>
      </p:sp>
      <p:sp>
        <p:nvSpPr>
          <p:cNvPr id="12" name="TextBox 11"/>
          <p:cNvSpPr txBox="1"/>
          <p:nvPr/>
        </p:nvSpPr>
        <p:spPr>
          <a:xfrm>
            <a:off x="4983480" y="1033272"/>
            <a:ext cx="6675120" cy="274320"/>
          </a:xfrm>
          <a:prstGeom prst="rect">
            <a:avLst/>
          </a:prstGeom>
          <a:noFill/>
        </p:spPr>
        <p:txBody>
          <a:bodyPr wrap="square">
            <a:spAutoFit/>
          </a:bodyPr>
          <a:lstStyle/>
          <a:p>
            <a:pPr algn="l"/>
            <a:r>
              <a:rPr sz="1200" b="1" i="0">
                <a:solidFill>
                  <a:srgbClr val="1A1A1A"/>
                </a:solidFill>
                <a:latin typeface="Noto Sans JP"/>
              </a:rPr>
              <a:t>設立後の対応チェックリスト</a:t>
            </a:r>
          </a:p>
        </p:txBody>
      </p:sp>
      <p:sp>
        <p:nvSpPr>
          <p:cNvPr id="13" name="TextBox 12"/>
          <p:cNvSpPr txBox="1"/>
          <p:nvPr/>
        </p:nvSpPr>
        <p:spPr>
          <a:xfrm>
            <a:off x="4983480" y="1307592"/>
            <a:ext cx="6675120" cy="219456"/>
          </a:xfrm>
          <a:prstGeom prst="rect">
            <a:avLst/>
          </a:prstGeom>
          <a:noFill/>
        </p:spPr>
        <p:txBody>
          <a:bodyPr wrap="square">
            <a:spAutoFit/>
          </a:bodyPr>
          <a:lstStyle/>
          <a:p>
            <a:pPr algn="l"/>
            <a:r>
              <a:rPr sz="800" b="0" i="0">
                <a:solidFill>
                  <a:srgbClr val="444444"/>
                </a:solidFill>
                <a:latin typeface="Noto Sans JP"/>
              </a:rPr>
              <a:t>設立直後〜3ヶ月以内に行う各種手続き（役割分担付き）</a:t>
            </a:r>
          </a:p>
        </p:txBody>
      </p:sp>
      <p:sp>
        <p:nvSpPr>
          <p:cNvPr id="14" name="Rectangle 13"/>
          <p:cNvSpPr/>
          <p:nvPr/>
        </p:nvSpPr>
        <p:spPr>
          <a:xfrm>
            <a:off x="4206240" y="1581912"/>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43400" y="1618488"/>
            <a:ext cx="502920" cy="301752"/>
          </a:xfrm>
          <a:prstGeom prst="rect">
            <a:avLst/>
          </a:prstGeom>
          <a:noFill/>
        </p:spPr>
        <p:txBody>
          <a:bodyPr wrap="square">
            <a:spAutoFit/>
          </a:bodyPr>
          <a:lstStyle/>
          <a:p>
            <a:pPr algn="l"/>
            <a:r>
              <a:rPr sz="1400" b="1" i="0">
                <a:solidFill>
                  <a:srgbClr val="CC0000"/>
                </a:solidFill>
                <a:latin typeface="Noto Sans JP"/>
              </a:rPr>
              <a:t>02</a:t>
            </a:r>
          </a:p>
        </p:txBody>
      </p:sp>
      <p:sp>
        <p:nvSpPr>
          <p:cNvPr id="16" name="TextBox 15"/>
          <p:cNvSpPr txBox="1"/>
          <p:nvPr/>
        </p:nvSpPr>
        <p:spPr>
          <a:xfrm>
            <a:off x="4983480" y="1609344"/>
            <a:ext cx="6675120" cy="274320"/>
          </a:xfrm>
          <a:prstGeom prst="rect">
            <a:avLst/>
          </a:prstGeom>
          <a:noFill/>
        </p:spPr>
        <p:txBody>
          <a:bodyPr wrap="square">
            <a:spAutoFit/>
          </a:bodyPr>
          <a:lstStyle/>
          <a:p>
            <a:pPr algn="l"/>
            <a:r>
              <a:rPr sz="1200" b="1" i="0">
                <a:solidFill>
                  <a:srgbClr val="1A1A1A"/>
                </a:solidFill>
                <a:latin typeface="Noto Sans JP"/>
              </a:rPr>
              <a:t>月次の社内業務チェックリスト</a:t>
            </a:r>
          </a:p>
        </p:txBody>
      </p:sp>
      <p:sp>
        <p:nvSpPr>
          <p:cNvPr id="17" name="TextBox 16"/>
          <p:cNvSpPr txBox="1"/>
          <p:nvPr/>
        </p:nvSpPr>
        <p:spPr>
          <a:xfrm>
            <a:off x="4983480" y="1883664"/>
            <a:ext cx="6675120" cy="219456"/>
          </a:xfrm>
          <a:prstGeom prst="rect">
            <a:avLst/>
          </a:prstGeom>
          <a:noFill/>
        </p:spPr>
        <p:txBody>
          <a:bodyPr wrap="square">
            <a:spAutoFit/>
          </a:bodyPr>
          <a:lstStyle/>
          <a:p>
            <a:pPr algn="l"/>
            <a:r>
              <a:rPr sz="800" b="0" i="0">
                <a:solidFill>
                  <a:srgbClr val="444444"/>
                </a:solidFill>
                <a:latin typeface="Noto Sans JP"/>
              </a:rPr>
              <a:t>まず3つのルールから始める経理・労務業務</a:t>
            </a:r>
          </a:p>
        </p:txBody>
      </p:sp>
      <p:sp>
        <p:nvSpPr>
          <p:cNvPr id="18" name="Rectangle 17"/>
          <p:cNvSpPr/>
          <p:nvPr/>
        </p:nvSpPr>
        <p:spPr>
          <a:xfrm>
            <a:off x="4206240" y="2157984"/>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43400" y="2194560"/>
            <a:ext cx="502920" cy="301752"/>
          </a:xfrm>
          <a:prstGeom prst="rect">
            <a:avLst/>
          </a:prstGeom>
          <a:noFill/>
        </p:spPr>
        <p:txBody>
          <a:bodyPr wrap="square">
            <a:spAutoFit/>
          </a:bodyPr>
          <a:lstStyle/>
          <a:p>
            <a:pPr algn="l"/>
            <a:r>
              <a:rPr sz="1400" b="1" i="0">
                <a:solidFill>
                  <a:srgbClr val="CC0000"/>
                </a:solidFill>
                <a:latin typeface="Noto Sans JP"/>
              </a:rPr>
              <a:t>03</a:t>
            </a:r>
          </a:p>
        </p:txBody>
      </p:sp>
      <p:sp>
        <p:nvSpPr>
          <p:cNvPr id="20" name="TextBox 19"/>
          <p:cNvSpPr txBox="1"/>
          <p:nvPr/>
        </p:nvSpPr>
        <p:spPr>
          <a:xfrm>
            <a:off x="4983480" y="2185416"/>
            <a:ext cx="6675120" cy="274320"/>
          </a:xfrm>
          <a:prstGeom prst="rect">
            <a:avLst/>
          </a:prstGeom>
          <a:noFill/>
        </p:spPr>
        <p:txBody>
          <a:bodyPr wrap="square">
            <a:spAutoFit/>
          </a:bodyPr>
          <a:lstStyle/>
          <a:p>
            <a:pPr algn="l"/>
            <a:r>
              <a:rPr sz="1200" b="1" i="0">
                <a:solidFill>
                  <a:srgbClr val="1A1A1A"/>
                </a:solidFill>
                <a:latin typeface="Noto Sans JP"/>
              </a:rPr>
              <a:t>年間の税務スケジュール</a:t>
            </a:r>
          </a:p>
        </p:txBody>
      </p:sp>
      <p:sp>
        <p:nvSpPr>
          <p:cNvPr id="21" name="TextBox 20"/>
          <p:cNvSpPr txBox="1"/>
          <p:nvPr/>
        </p:nvSpPr>
        <p:spPr>
          <a:xfrm>
            <a:off x="4983480" y="2459736"/>
            <a:ext cx="6675120" cy="219456"/>
          </a:xfrm>
          <a:prstGeom prst="rect">
            <a:avLst/>
          </a:prstGeom>
          <a:noFill/>
        </p:spPr>
        <p:txBody>
          <a:bodyPr wrap="square">
            <a:spAutoFit/>
          </a:bodyPr>
          <a:lstStyle/>
          <a:p>
            <a:pPr algn="l"/>
            <a:r>
              <a:rPr sz="800" b="0" i="0">
                <a:solidFill>
                  <a:srgbClr val="444444"/>
                </a:solidFill>
                <a:latin typeface="Noto Sans JP"/>
              </a:rPr>
              <a:t>申告・納付カレンダー（決算月基準の相対表示）</a:t>
            </a:r>
          </a:p>
        </p:txBody>
      </p:sp>
      <p:sp>
        <p:nvSpPr>
          <p:cNvPr id="22" name="Rectangle 21"/>
          <p:cNvSpPr/>
          <p:nvPr/>
        </p:nvSpPr>
        <p:spPr>
          <a:xfrm>
            <a:off x="4206240" y="2734056"/>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43400" y="2770632"/>
            <a:ext cx="502920" cy="301752"/>
          </a:xfrm>
          <a:prstGeom prst="rect">
            <a:avLst/>
          </a:prstGeom>
          <a:noFill/>
        </p:spPr>
        <p:txBody>
          <a:bodyPr wrap="square">
            <a:spAutoFit/>
          </a:bodyPr>
          <a:lstStyle/>
          <a:p>
            <a:pPr algn="l"/>
            <a:r>
              <a:rPr sz="1400" b="1" i="0">
                <a:solidFill>
                  <a:srgbClr val="CC0000"/>
                </a:solidFill>
                <a:latin typeface="Noto Sans JP"/>
              </a:rPr>
              <a:t>04</a:t>
            </a:r>
          </a:p>
        </p:txBody>
      </p:sp>
      <p:sp>
        <p:nvSpPr>
          <p:cNvPr id="24" name="TextBox 23"/>
          <p:cNvSpPr txBox="1"/>
          <p:nvPr/>
        </p:nvSpPr>
        <p:spPr>
          <a:xfrm>
            <a:off x="4983480" y="2761488"/>
            <a:ext cx="6675120" cy="274320"/>
          </a:xfrm>
          <a:prstGeom prst="rect">
            <a:avLst/>
          </a:prstGeom>
          <a:noFill/>
        </p:spPr>
        <p:txBody>
          <a:bodyPr wrap="square">
            <a:spAutoFit/>
          </a:bodyPr>
          <a:lstStyle/>
          <a:p>
            <a:pPr algn="l"/>
            <a:r>
              <a:rPr sz="1200" b="1" i="0">
                <a:solidFill>
                  <a:srgbClr val="1A1A1A"/>
                </a:solidFill>
                <a:latin typeface="Noto Sans JP"/>
              </a:rPr>
              <a:t>消費税の基本</a:t>
            </a:r>
          </a:p>
        </p:txBody>
      </p:sp>
      <p:sp>
        <p:nvSpPr>
          <p:cNvPr id="25" name="TextBox 24"/>
          <p:cNvSpPr txBox="1"/>
          <p:nvPr/>
        </p:nvSpPr>
        <p:spPr>
          <a:xfrm>
            <a:off x="4983480" y="3035808"/>
            <a:ext cx="6675120" cy="219456"/>
          </a:xfrm>
          <a:prstGeom prst="rect">
            <a:avLst/>
          </a:prstGeom>
          <a:noFill/>
        </p:spPr>
        <p:txBody>
          <a:bodyPr wrap="square">
            <a:spAutoFit/>
          </a:bodyPr>
          <a:lstStyle/>
          <a:p>
            <a:pPr algn="l"/>
            <a:r>
              <a:rPr sz="800" b="0" i="0">
                <a:solidFill>
                  <a:srgbClr val="444444"/>
                </a:solidFill>
                <a:latin typeface="Noto Sans JP"/>
              </a:rPr>
              <a:t>免税・課税の判定とBtoB/BtoC別の目安</a:t>
            </a:r>
          </a:p>
        </p:txBody>
      </p:sp>
      <p:sp>
        <p:nvSpPr>
          <p:cNvPr id="26" name="Rectangle 25"/>
          <p:cNvSpPr/>
          <p:nvPr/>
        </p:nvSpPr>
        <p:spPr>
          <a:xfrm>
            <a:off x="4206240" y="3310128"/>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43400" y="3346704"/>
            <a:ext cx="502920" cy="301752"/>
          </a:xfrm>
          <a:prstGeom prst="rect">
            <a:avLst/>
          </a:prstGeom>
          <a:noFill/>
        </p:spPr>
        <p:txBody>
          <a:bodyPr wrap="square">
            <a:spAutoFit/>
          </a:bodyPr>
          <a:lstStyle/>
          <a:p>
            <a:pPr algn="l"/>
            <a:r>
              <a:rPr sz="1400" b="1" i="0">
                <a:solidFill>
                  <a:srgbClr val="CC0000"/>
                </a:solidFill>
                <a:latin typeface="Noto Sans JP"/>
              </a:rPr>
              <a:t>05</a:t>
            </a:r>
          </a:p>
        </p:txBody>
      </p:sp>
      <p:sp>
        <p:nvSpPr>
          <p:cNvPr id="28" name="TextBox 27"/>
          <p:cNvSpPr txBox="1"/>
          <p:nvPr/>
        </p:nvSpPr>
        <p:spPr>
          <a:xfrm>
            <a:off x="4983480" y="3337560"/>
            <a:ext cx="6675120" cy="274320"/>
          </a:xfrm>
          <a:prstGeom prst="rect">
            <a:avLst/>
          </a:prstGeom>
          <a:noFill/>
        </p:spPr>
        <p:txBody>
          <a:bodyPr wrap="square">
            <a:spAutoFit/>
          </a:bodyPr>
          <a:lstStyle/>
          <a:p>
            <a:pPr algn="l"/>
            <a:r>
              <a:rPr sz="1200" b="1" i="0">
                <a:solidFill>
                  <a:srgbClr val="1A1A1A"/>
                </a:solidFill>
                <a:latin typeface="Noto Sans JP"/>
              </a:rPr>
              <a:t>役員報酬の基本</a:t>
            </a:r>
          </a:p>
        </p:txBody>
      </p:sp>
      <p:sp>
        <p:nvSpPr>
          <p:cNvPr id="29" name="TextBox 28"/>
          <p:cNvSpPr txBox="1"/>
          <p:nvPr/>
        </p:nvSpPr>
        <p:spPr>
          <a:xfrm>
            <a:off x="4983480" y="3611880"/>
            <a:ext cx="6675120" cy="219456"/>
          </a:xfrm>
          <a:prstGeom prst="rect">
            <a:avLst/>
          </a:prstGeom>
          <a:noFill/>
        </p:spPr>
        <p:txBody>
          <a:bodyPr wrap="square">
            <a:spAutoFit/>
          </a:bodyPr>
          <a:lstStyle/>
          <a:p>
            <a:pPr algn="l"/>
            <a:r>
              <a:rPr sz="800" b="0" i="0">
                <a:solidFill>
                  <a:srgbClr val="444444"/>
                </a:solidFill>
                <a:latin typeface="Noto Sans JP"/>
              </a:rPr>
              <a:t>3ヶ月ルールと金額の決め方ガイド</a:t>
            </a:r>
          </a:p>
        </p:txBody>
      </p:sp>
      <p:sp>
        <p:nvSpPr>
          <p:cNvPr id="30" name="Rectangle 29"/>
          <p:cNvSpPr/>
          <p:nvPr/>
        </p:nvSpPr>
        <p:spPr>
          <a:xfrm>
            <a:off x="4206240" y="3886200"/>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43400" y="3922776"/>
            <a:ext cx="502920" cy="301752"/>
          </a:xfrm>
          <a:prstGeom prst="rect">
            <a:avLst/>
          </a:prstGeom>
          <a:noFill/>
        </p:spPr>
        <p:txBody>
          <a:bodyPr wrap="square">
            <a:spAutoFit/>
          </a:bodyPr>
          <a:lstStyle/>
          <a:p>
            <a:pPr algn="l"/>
            <a:r>
              <a:rPr sz="1400" b="1" i="0">
                <a:solidFill>
                  <a:srgbClr val="CC0000"/>
                </a:solidFill>
                <a:latin typeface="Noto Sans JP"/>
              </a:rPr>
              <a:t>06</a:t>
            </a:r>
          </a:p>
        </p:txBody>
      </p:sp>
      <p:sp>
        <p:nvSpPr>
          <p:cNvPr id="32" name="TextBox 31"/>
          <p:cNvSpPr txBox="1"/>
          <p:nvPr/>
        </p:nvSpPr>
        <p:spPr>
          <a:xfrm>
            <a:off x="4983480" y="3913632"/>
            <a:ext cx="6675120" cy="274320"/>
          </a:xfrm>
          <a:prstGeom prst="rect">
            <a:avLst/>
          </a:prstGeom>
          <a:noFill/>
        </p:spPr>
        <p:txBody>
          <a:bodyPr wrap="square">
            <a:spAutoFit/>
          </a:bodyPr>
          <a:lstStyle/>
          <a:p>
            <a:pPr algn="l"/>
            <a:r>
              <a:rPr sz="1200" b="1" i="0">
                <a:solidFill>
                  <a:srgbClr val="1A1A1A"/>
                </a:solidFill>
                <a:latin typeface="Noto Sans JP"/>
              </a:rPr>
              <a:t>会社と個人のお金の分離</a:t>
            </a:r>
          </a:p>
        </p:txBody>
      </p:sp>
      <p:sp>
        <p:nvSpPr>
          <p:cNvPr id="33" name="TextBox 32"/>
          <p:cNvSpPr txBox="1"/>
          <p:nvPr/>
        </p:nvSpPr>
        <p:spPr>
          <a:xfrm>
            <a:off x="4983480" y="4187952"/>
            <a:ext cx="6675120" cy="219456"/>
          </a:xfrm>
          <a:prstGeom prst="rect">
            <a:avLst/>
          </a:prstGeom>
          <a:noFill/>
        </p:spPr>
        <p:txBody>
          <a:bodyPr wrap="square">
            <a:spAutoFit/>
          </a:bodyPr>
          <a:lstStyle/>
          <a:p>
            <a:pPr algn="l"/>
            <a:r>
              <a:rPr sz="800" b="0" i="0">
                <a:solidFill>
                  <a:srgbClr val="444444"/>
                </a:solidFill>
                <a:latin typeface="Noto Sans JP"/>
              </a:rPr>
              <a:t>一番大事な基本ルール―ここだけは絶対に守る</a:t>
            </a:r>
          </a:p>
        </p:txBody>
      </p:sp>
      <p:sp>
        <p:nvSpPr>
          <p:cNvPr id="34" name="Rectangle 33"/>
          <p:cNvSpPr/>
          <p:nvPr/>
        </p:nvSpPr>
        <p:spPr>
          <a:xfrm>
            <a:off x="4206240" y="4462272"/>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43400" y="4498848"/>
            <a:ext cx="502920" cy="301752"/>
          </a:xfrm>
          <a:prstGeom prst="rect">
            <a:avLst/>
          </a:prstGeom>
          <a:noFill/>
        </p:spPr>
        <p:txBody>
          <a:bodyPr wrap="square">
            <a:spAutoFit/>
          </a:bodyPr>
          <a:lstStyle/>
          <a:p>
            <a:pPr algn="l"/>
            <a:r>
              <a:rPr sz="1400" b="1" i="0">
                <a:solidFill>
                  <a:srgbClr val="CC0000"/>
                </a:solidFill>
                <a:latin typeface="Noto Sans JP"/>
              </a:rPr>
              <a:t>07</a:t>
            </a:r>
          </a:p>
        </p:txBody>
      </p:sp>
      <p:sp>
        <p:nvSpPr>
          <p:cNvPr id="36" name="TextBox 35"/>
          <p:cNvSpPr txBox="1"/>
          <p:nvPr/>
        </p:nvSpPr>
        <p:spPr>
          <a:xfrm>
            <a:off x="4983480" y="4489704"/>
            <a:ext cx="6675120" cy="274320"/>
          </a:xfrm>
          <a:prstGeom prst="rect">
            <a:avLst/>
          </a:prstGeom>
          <a:noFill/>
        </p:spPr>
        <p:txBody>
          <a:bodyPr wrap="square">
            <a:spAutoFit/>
          </a:bodyPr>
          <a:lstStyle/>
          <a:p>
            <a:pPr algn="l"/>
            <a:r>
              <a:rPr sz="1200" b="1" i="0">
                <a:solidFill>
                  <a:srgbClr val="1A1A1A"/>
                </a:solidFill>
                <a:latin typeface="Noto Sans JP"/>
              </a:rPr>
              <a:t>SEVENRICHとのやり取り＆SOSリスト</a:t>
            </a:r>
          </a:p>
        </p:txBody>
      </p:sp>
      <p:sp>
        <p:nvSpPr>
          <p:cNvPr id="37" name="TextBox 36"/>
          <p:cNvSpPr txBox="1"/>
          <p:nvPr/>
        </p:nvSpPr>
        <p:spPr>
          <a:xfrm>
            <a:off x="4983480" y="4764024"/>
            <a:ext cx="6675120" cy="219456"/>
          </a:xfrm>
          <a:prstGeom prst="rect">
            <a:avLst/>
          </a:prstGeom>
          <a:noFill/>
        </p:spPr>
        <p:txBody>
          <a:bodyPr wrap="square">
            <a:spAutoFit/>
          </a:bodyPr>
          <a:lstStyle/>
          <a:p>
            <a:pPr algn="l"/>
            <a:r>
              <a:rPr sz="800" b="0" i="0">
                <a:solidFill>
                  <a:srgbClr val="444444"/>
                </a:solidFill>
                <a:latin typeface="Noto Sans JP"/>
              </a:rPr>
              <a:t>連絡方法・提出期限・動く前に相談すべきこと</a:t>
            </a:r>
          </a:p>
        </p:txBody>
      </p:sp>
      <p:sp>
        <p:nvSpPr>
          <p:cNvPr id="38" name="Rectangle 37"/>
          <p:cNvSpPr/>
          <p:nvPr/>
        </p:nvSpPr>
        <p:spPr>
          <a:xfrm>
            <a:off x="4206240" y="5038344"/>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43400" y="5074920"/>
            <a:ext cx="502920" cy="301752"/>
          </a:xfrm>
          <a:prstGeom prst="rect">
            <a:avLst/>
          </a:prstGeom>
          <a:noFill/>
        </p:spPr>
        <p:txBody>
          <a:bodyPr wrap="square">
            <a:spAutoFit/>
          </a:bodyPr>
          <a:lstStyle/>
          <a:p>
            <a:pPr algn="l"/>
            <a:r>
              <a:rPr sz="1400" b="1" i="0">
                <a:solidFill>
                  <a:srgbClr val="CC0000"/>
                </a:solidFill>
                <a:latin typeface="Noto Sans JP"/>
              </a:rPr>
              <a:t>08</a:t>
            </a:r>
          </a:p>
        </p:txBody>
      </p:sp>
      <p:sp>
        <p:nvSpPr>
          <p:cNvPr id="40" name="TextBox 39"/>
          <p:cNvSpPr txBox="1"/>
          <p:nvPr/>
        </p:nvSpPr>
        <p:spPr>
          <a:xfrm>
            <a:off x="4983480" y="5065776"/>
            <a:ext cx="6675120" cy="274320"/>
          </a:xfrm>
          <a:prstGeom prst="rect">
            <a:avLst/>
          </a:prstGeom>
          <a:noFill/>
        </p:spPr>
        <p:txBody>
          <a:bodyPr wrap="square">
            <a:spAutoFit/>
          </a:bodyPr>
          <a:lstStyle/>
          <a:p>
            <a:pPr algn="l"/>
            <a:r>
              <a:rPr sz="1200" b="1" i="0">
                <a:solidFill>
                  <a:srgbClr val="1A1A1A"/>
                </a:solidFill>
                <a:latin typeface="Noto Sans JP"/>
              </a:rPr>
              <a:t>法人口座・クレジットカード</a:t>
            </a:r>
          </a:p>
        </p:txBody>
      </p:sp>
      <p:sp>
        <p:nvSpPr>
          <p:cNvPr id="41" name="TextBox 40"/>
          <p:cNvSpPr txBox="1"/>
          <p:nvPr/>
        </p:nvSpPr>
        <p:spPr>
          <a:xfrm>
            <a:off x="4983480" y="5340096"/>
            <a:ext cx="6675120" cy="219456"/>
          </a:xfrm>
          <a:prstGeom prst="rect">
            <a:avLst/>
          </a:prstGeom>
          <a:noFill/>
        </p:spPr>
        <p:txBody>
          <a:bodyPr wrap="square">
            <a:spAutoFit/>
          </a:bodyPr>
          <a:lstStyle/>
          <a:p>
            <a:pPr algn="l"/>
            <a:r>
              <a:rPr sz="800" b="0" i="0">
                <a:solidFill>
                  <a:srgbClr val="444444"/>
                </a:solidFill>
                <a:latin typeface="Noto Sans JP"/>
              </a:rPr>
              <a:t>おすすめ銀行・カードの選び方と4口座の使い分け</a:t>
            </a:r>
          </a:p>
        </p:txBody>
      </p:sp>
      <p:sp>
        <p:nvSpPr>
          <p:cNvPr id="42" name="Rectangle 41"/>
          <p:cNvSpPr/>
          <p:nvPr/>
        </p:nvSpPr>
        <p:spPr>
          <a:xfrm>
            <a:off x="4206240" y="5614416"/>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343400" y="5650992"/>
            <a:ext cx="502920" cy="301752"/>
          </a:xfrm>
          <a:prstGeom prst="rect">
            <a:avLst/>
          </a:prstGeom>
          <a:noFill/>
        </p:spPr>
        <p:txBody>
          <a:bodyPr wrap="square">
            <a:spAutoFit/>
          </a:bodyPr>
          <a:lstStyle/>
          <a:p>
            <a:pPr algn="l"/>
            <a:r>
              <a:rPr sz="1400" b="1" i="0">
                <a:solidFill>
                  <a:srgbClr val="CC0000"/>
                </a:solidFill>
                <a:latin typeface="Noto Sans JP"/>
              </a:rPr>
              <a:t>09</a:t>
            </a:r>
          </a:p>
        </p:txBody>
      </p:sp>
      <p:sp>
        <p:nvSpPr>
          <p:cNvPr id="44" name="TextBox 43"/>
          <p:cNvSpPr txBox="1"/>
          <p:nvPr/>
        </p:nvSpPr>
        <p:spPr>
          <a:xfrm>
            <a:off x="4983480" y="5641848"/>
            <a:ext cx="6675120" cy="274320"/>
          </a:xfrm>
          <a:prstGeom prst="rect">
            <a:avLst/>
          </a:prstGeom>
          <a:noFill/>
        </p:spPr>
        <p:txBody>
          <a:bodyPr wrap="square">
            <a:spAutoFit/>
          </a:bodyPr>
          <a:lstStyle/>
          <a:p>
            <a:pPr algn="l"/>
            <a:r>
              <a:rPr sz="1200" b="1" i="0">
                <a:solidFill>
                  <a:srgbClr val="1A1A1A"/>
                </a:solidFill>
                <a:latin typeface="Noto Sans JP"/>
              </a:rPr>
              <a:t>よくある質問（FAQ）</a:t>
            </a:r>
          </a:p>
        </p:txBody>
      </p:sp>
      <p:sp>
        <p:nvSpPr>
          <p:cNvPr id="45" name="TextBox 44"/>
          <p:cNvSpPr txBox="1"/>
          <p:nvPr/>
        </p:nvSpPr>
        <p:spPr>
          <a:xfrm>
            <a:off x="4983480" y="5916168"/>
            <a:ext cx="6675120" cy="219456"/>
          </a:xfrm>
          <a:prstGeom prst="rect">
            <a:avLst/>
          </a:prstGeom>
          <a:noFill/>
        </p:spPr>
        <p:txBody>
          <a:bodyPr wrap="square">
            <a:spAutoFit/>
          </a:bodyPr>
          <a:lstStyle/>
          <a:p>
            <a:pPr algn="l"/>
            <a:r>
              <a:rPr sz="800" b="0" i="0">
                <a:solidFill>
                  <a:srgbClr val="444444"/>
                </a:solidFill>
                <a:latin typeface="Noto Sans JP"/>
              </a:rPr>
              <a:t>新規顧客からよく頂く質問と回答</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914400" y="548640"/>
            <a:ext cx="10332720" cy="1005840"/>
          </a:xfrm>
          <a:prstGeom prst="rect">
            <a:avLst/>
          </a:prstGeom>
          <a:noFill/>
        </p:spPr>
        <p:txBody>
          <a:bodyPr wrap="square">
            <a:spAutoFit/>
          </a:bodyPr>
          <a:lstStyle/>
          <a:p>
            <a:pPr algn="ctr"/>
            <a:r>
              <a:rPr sz="3600" b="1" i="0">
                <a:solidFill>
                  <a:srgbClr val="FFFFFF"/>
                </a:solidFill>
                <a:latin typeface="Noto Sans JP"/>
              </a:rPr>
              <a:t>設立おめでとうございます！</a:t>
            </a:r>
          </a:p>
        </p:txBody>
      </p:sp>
      <p:sp>
        <p:nvSpPr>
          <p:cNvPr id="3" name="TextBox 2"/>
          <p:cNvSpPr txBox="1"/>
          <p:nvPr/>
        </p:nvSpPr>
        <p:spPr>
          <a:xfrm>
            <a:off x="1371600" y="1554480"/>
            <a:ext cx="9418320" cy="548640"/>
          </a:xfrm>
          <a:prstGeom prst="rect">
            <a:avLst/>
          </a:prstGeom>
          <a:noFill/>
        </p:spPr>
        <p:txBody>
          <a:bodyPr wrap="square">
            <a:spAutoFit/>
          </a:bodyPr>
          <a:lstStyle/>
          <a:p>
            <a:pPr algn="ctr"/>
            <a:r>
              <a:rPr sz="1300" b="0" i="0">
                <a:solidFill>
                  <a:srgbClr val="888888"/>
                </a:solidFill>
                <a:latin typeface="Noto Sans JP"/>
              </a:rPr>
              <a:t>これからの経営を、しっかりとサポートさせていただきます。手続きや数字のことは、どうぞ私どもにお任せください。</a:t>
            </a:r>
          </a:p>
        </p:txBody>
      </p:sp>
      <p:sp>
        <p:nvSpPr>
          <p:cNvPr id="4" name="Rectangle 3"/>
          <p:cNvSpPr/>
          <p:nvPr/>
        </p:nvSpPr>
        <p:spPr>
          <a:xfrm>
            <a:off x="365760" y="2286000"/>
            <a:ext cx="3657600" cy="393192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2286000"/>
            <a:ext cx="3657600" cy="1097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468880"/>
            <a:ext cx="3657600" cy="548640"/>
          </a:xfrm>
          <a:prstGeom prst="rect">
            <a:avLst/>
          </a:prstGeom>
          <a:noFill/>
        </p:spPr>
        <p:txBody>
          <a:bodyPr wrap="square">
            <a:spAutoFit/>
          </a:bodyPr>
          <a:lstStyle/>
          <a:p>
            <a:pPr algn="ctr"/>
            <a:r>
              <a:rPr sz="2800" b="1" i="0">
                <a:solidFill>
                  <a:srgbClr val="CC0000"/>
                </a:solidFill>
                <a:latin typeface="Noto Sans JP"/>
              </a:rPr>
              <a:t>01</a:t>
            </a:r>
          </a:p>
        </p:txBody>
      </p:sp>
      <p:sp>
        <p:nvSpPr>
          <p:cNvPr id="7" name="TextBox 6"/>
          <p:cNvSpPr txBox="1"/>
          <p:nvPr/>
        </p:nvSpPr>
        <p:spPr>
          <a:xfrm>
            <a:off x="548640" y="3108960"/>
            <a:ext cx="3291840" cy="502920"/>
          </a:xfrm>
          <a:prstGeom prst="rect">
            <a:avLst/>
          </a:prstGeom>
          <a:noFill/>
        </p:spPr>
        <p:txBody>
          <a:bodyPr wrap="square">
            <a:spAutoFit/>
          </a:bodyPr>
          <a:lstStyle/>
          <a:p>
            <a:pPr algn="ctr"/>
            <a:r>
              <a:rPr sz="1500" b="1" i="0">
                <a:solidFill>
                  <a:srgbClr val="FFFFFF"/>
                </a:solidFill>
                <a:latin typeface="Noto Sans JP"/>
              </a:rPr>
              <a:t>手続きはお任せください</a:t>
            </a:r>
          </a:p>
        </p:txBody>
      </p:sp>
      <p:sp>
        <p:nvSpPr>
          <p:cNvPr id="8" name="TextBox 7"/>
          <p:cNvSpPr txBox="1"/>
          <p:nvPr/>
        </p:nvSpPr>
        <p:spPr>
          <a:xfrm>
            <a:off x="548640" y="3703320"/>
            <a:ext cx="3291840" cy="2194560"/>
          </a:xfrm>
          <a:prstGeom prst="rect">
            <a:avLst/>
          </a:prstGeom>
          <a:noFill/>
        </p:spPr>
        <p:txBody>
          <a:bodyPr wrap="square">
            <a:spAutoFit/>
          </a:bodyPr>
          <a:lstStyle/>
          <a:p>
            <a:pPr algn="l"/>
            <a:r>
              <a:rPr sz="1000" b="0" i="0">
                <a:solidFill>
                  <a:srgbClr val="888888"/>
                </a:solidFill>
                <a:latin typeface="Noto Sans JP"/>
              </a:rPr>
              <a:t>設立直後に必要な税務署・自治体への届出は、当事務所が代行いたします。
社長様はビジネスに専念いただけます。</a:t>
            </a:r>
          </a:p>
        </p:txBody>
      </p:sp>
      <p:sp>
        <p:nvSpPr>
          <p:cNvPr id="9" name="Rectangle 8"/>
          <p:cNvSpPr/>
          <p:nvPr/>
        </p:nvSpPr>
        <p:spPr>
          <a:xfrm>
            <a:off x="4297680" y="2286000"/>
            <a:ext cx="3657600" cy="393192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2286000"/>
            <a:ext cx="3657600" cy="1097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2468880"/>
            <a:ext cx="3657600" cy="548640"/>
          </a:xfrm>
          <a:prstGeom prst="rect">
            <a:avLst/>
          </a:prstGeom>
          <a:noFill/>
        </p:spPr>
        <p:txBody>
          <a:bodyPr wrap="square">
            <a:spAutoFit/>
          </a:bodyPr>
          <a:lstStyle/>
          <a:p>
            <a:pPr algn="ctr"/>
            <a:r>
              <a:rPr sz="2800" b="1" i="0">
                <a:solidFill>
                  <a:srgbClr val="CC0000"/>
                </a:solidFill>
                <a:latin typeface="Noto Sans JP"/>
              </a:rPr>
              <a:t>02</a:t>
            </a:r>
          </a:p>
        </p:txBody>
      </p:sp>
      <p:sp>
        <p:nvSpPr>
          <p:cNvPr id="12" name="TextBox 11"/>
          <p:cNvSpPr txBox="1"/>
          <p:nvPr/>
        </p:nvSpPr>
        <p:spPr>
          <a:xfrm>
            <a:off x="4480560" y="3108960"/>
            <a:ext cx="3291840" cy="502920"/>
          </a:xfrm>
          <a:prstGeom prst="rect">
            <a:avLst/>
          </a:prstGeom>
          <a:noFill/>
        </p:spPr>
        <p:txBody>
          <a:bodyPr wrap="square">
            <a:spAutoFit/>
          </a:bodyPr>
          <a:lstStyle/>
          <a:p>
            <a:pPr algn="ctr"/>
            <a:r>
              <a:rPr sz="1500" b="1" i="0">
                <a:solidFill>
                  <a:srgbClr val="FFFFFF"/>
                </a:solidFill>
                <a:latin typeface="Noto Sans JP"/>
              </a:rPr>
              <a:t>毎月の数字を一緒に見ます</a:t>
            </a:r>
          </a:p>
        </p:txBody>
      </p:sp>
      <p:sp>
        <p:nvSpPr>
          <p:cNvPr id="13" name="TextBox 12"/>
          <p:cNvSpPr txBox="1"/>
          <p:nvPr/>
        </p:nvSpPr>
        <p:spPr>
          <a:xfrm>
            <a:off x="4480560" y="3703320"/>
            <a:ext cx="3291840" cy="2194560"/>
          </a:xfrm>
          <a:prstGeom prst="rect">
            <a:avLst/>
          </a:prstGeom>
          <a:noFill/>
        </p:spPr>
        <p:txBody>
          <a:bodyPr wrap="square">
            <a:spAutoFit/>
          </a:bodyPr>
          <a:lstStyle/>
          <a:p>
            <a:pPr algn="l"/>
            <a:r>
              <a:rPr sz="1000" b="0" i="0">
                <a:solidFill>
                  <a:srgbClr val="888888"/>
                </a:solidFill>
                <a:latin typeface="Noto Sans JP"/>
              </a:rPr>
              <a:t>月次の試算表を毎月確認し、資金繰りや節税のアドバイスをお伝えします。
「数字がわからない」というお悩みは、一緒に解消してまいります。</a:t>
            </a:r>
          </a:p>
        </p:txBody>
      </p:sp>
      <p:sp>
        <p:nvSpPr>
          <p:cNvPr id="14" name="Rectangle 13"/>
          <p:cNvSpPr/>
          <p:nvPr/>
        </p:nvSpPr>
        <p:spPr>
          <a:xfrm>
            <a:off x="8229600" y="2286000"/>
            <a:ext cx="3657600" cy="393192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0" y="2286000"/>
            <a:ext cx="3657600" cy="1097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68880"/>
            <a:ext cx="3657600" cy="548640"/>
          </a:xfrm>
          <a:prstGeom prst="rect">
            <a:avLst/>
          </a:prstGeom>
          <a:noFill/>
        </p:spPr>
        <p:txBody>
          <a:bodyPr wrap="square">
            <a:spAutoFit/>
          </a:bodyPr>
          <a:lstStyle/>
          <a:p>
            <a:pPr algn="ctr"/>
            <a:r>
              <a:rPr sz="2800" b="1" i="0">
                <a:solidFill>
                  <a:srgbClr val="CC0000"/>
                </a:solidFill>
                <a:latin typeface="Noto Sans JP"/>
              </a:rPr>
              <a:t>03</a:t>
            </a:r>
          </a:p>
        </p:txBody>
      </p:sp>
      <p:sp>
        <p:nvSpPr>
          <p:cNvPr id="17" name="TextBox 16"/>
          <p:cNvSpPr txBox="1"/>
          <p:nvPr/>
        </p:nvSpPr>
        <p:spPr>
          <a:xfrm>
            <a:off x="8412480" y="3108960"/>
            <a:ext cx="3291840" cy="502920"/>
          </a:xfrm>
          <a:prstGeom prst="rect">
            <a:avLst/>
          </a:prstGeom>
          <a:noFill/>
        </p:spPr>
        <p:txBody>
          <a:bodyPr wrap="square">
            <a:spAutoFit/>
          </a:bodyPr>
          <a:lstStyle/>
          <a:p>
            <a:pPr algn="ctr"/>
            <a:r>
              <a:rPr sz="1500" b="1" i="0">
                <a:solidFill>
                  <a:srgbClr val="FFFFFF"/>
                </a:solidFill>
                <a:latin typeface="Noto Sans JP"/>
              </a:rPr>
              <a:t>ご実施前にご相談ください</a:t>
            </a:r>
          </a:p>
        </p:txBody>
      </p:sp>
      <p:sp>
        <p:nvSpPr>
          <p:cNvPr id="18" name="TextBox 17"/>
          <p:cNvSpPr txBox="1"/>
          <p:nvPr/>
        </p:nvSpPr>
        <p:spPr>
          <a:xfrm>
            <a:off x="8412480" y="3703320"/>
            <a:ext cx="3291840" cy="2194560"/>
          </a:xfrm>
          <a:prstGeom prst="rect">
            <a:avLst/>
          </a:prstGeom>
          <a:noFill/>
        </p:spPr>
        <p:txBody>
          <a:bodyPr wrap="square">
            <a:spAutoFit/>
          </a:bodyPr>
          <a:lstStyle/>
          <a:p>
            <a:pPr algn="l"/>
            <a:r>
              <a:rPr sz="1000" b="0" i="0">
                <a:solidFill>
                  <a:srgbClr val="888888"/>
                </a:solidFill>
                <a:latin typeface="Noto Sans JP"/>
              </a:rPr>
              <a:t>役員報酬の変更・大きなお買い物・採用など、ご実施前にひとことご相談いただけますと、
最大限の税務メリットをご提案することができます。</a:t>
            </a:r>
          </a:p>
        </p:txBody>
      </p:sp>
      <p:sp>
        <p:nvSpPr>
          <p:cNvPr id="19" name="TextBox 18"/>
          <p:cNvSpPr txBox="1"/>
          <p:nvPr/>
        </p:nvSpPr>
        <p:spPr>
          <a:xfrm>
            <a:off x="1371600" y="6309360"/>
            <a:ext cx="9418320" cy="411480"/>
          </a:xfrm>
          <a:prstGeom prst="rect">
            <a:avLst/>
          </a:prstGeom>
          <a:noFill/>
        </p:spPr>
        <p:txBody>
          <a:bodyPr wrap="square">
            <a:spAutoFit/>
          </a:bodyPr>
          <a:lstStyle/>
          <a:p>
            <a:pPr algn="ctr"/>
            <a:r>
              <a:rPr sz="1100" b="0" i="1">
                <a:solidFill>
                  <a:srgbClr val="888888"/>
                </a:solidFill>
                <a:latin typeface="Noto Sans JP"/>
              </a:rPr>
              <a:t>このガイドブックをご活用いただきながら、最初の1年を一緒に歩んでまいりましょう。</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01</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設立後の対応チェックリスト</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「誰が・いつまでに」を明確にした手続き一覧です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01</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01</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設立後の対応チェックリスト</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0" y="137160"/>
            <a:ext cx="3566160" cy="274320"/>
          </a:xfrm>
          <a:prstGeom prst="rect">
            <a:avLst/>
          </a:prstGeom>
          <a:noFill/>
        </p:spPr>
        <p:txBody>
          <a:bodyPr wrap="square">
            <a:spAutoFit/>
          </a:bodyPr>
          <a:lstStyle/>
          <a:p>
            <a:pPr algn="r"/>
            <a:r>
              <a:rPr sz="800" b="0" i="0">
                <a:solidFill>
                  <a:srgbClr val="888888"/>
                </a:solidFill>
                <a:latin typeface="Noto Sans JP"/>
              </a:rPr>
              <a:t>設立直後〜3ヶ月以内</a:t>
            </a:r>
          </a:p>
        </p:txBody>
      </p:sp>
      <p:sp>
        <p:nvSpPr>
          <p:cNvPr id="7" name="TextBox 6"/>
          <p:cNvSpPr txBox="1"/>
          <p:nvPr/>
        </p:nvSpPr>
        <p:spPr>
          <a:xfrm>
            <a:off x="8686800" y="868680"/>
            <a:ext cx="457200" cy="256032"/>
          </a:xfrm>
          <a:prstGeom prst="rect">
            <a:avLst/>
          </a:prstGeom>
          <a:noFill/>
        </p:spPr>
        <p:txBody>
          <a:bodyPr wrap="square">
            <a:spAutoFit/>
          </a:bodyPr>
          <a:lstStyle/>
          <a:p>
            <a:pPr algn="l"/>
            <a:r>
              <a:rPr sz="800" b="0" i="0">
                <a:solidFill>
                  <a:srgbClr val="888888"/>
                </a:solidFill>
                <a:latin typeface="Noto Sans JP"/>
              </a:rPr>
              <a:t>役割：</a:t>
            </a:r>
          </a:p>
        </p:txBody>
      </p:sp>
      <p:sp>
        <p:nvSpPr>
          <p:cNvPr id="8" name="Rectangle 7"/>
          <p:cNvSpPr/>
          <p:nvPr/>
        </p:nvSpPr>
        <p:spPr>
          <a:xfrm>
            <a:off x="9098280" y="87948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98280" y="865080"/>
            <a:ext cx="378000" cy="100800"/>
          </a:xfrm>
          <a:prstGeom prst="rect">
            <a:avLst/>
          </a:prstGeom>
          <a:noFill/>
        </p:spPr>
        <p:txBody>
          <a:bodyPr wrap="square">
            <a:spAutoFit/>
          </a:bodyPr>
          <a:lstStyle/>
          <a:p>
            <a:pPr algn="ctr"/>
            <a:r>
              <a:rPr sz="650" b="1" i="0">
                <a:solidFill>
                  <a:srgbClr val="FFFFFF"/>
                </a:solidFill>
                <a:latin typeface="Noto Sans JP"/>
              </a:rPr>
              <a:t>SRA代行</a:t>
            </a:r>
          </a:p>
        </p:txBody>
      </p:sp>
      <p:sp>
        <p:nvSpPr>
          <p:cNvPr id="10" name="Rectangle 9"/>
          <p:cNvSpPr/>
          <p:nvPr/>
        </p:nvSpPr>
        <p:spPr>
          <a:xfrm>
            <a:off x="9966960" y="879480"/>
            <a:ext cx="378000" cy="864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60" y="865080"/>
            <a:ext cx="378000" cy="100800"/>
          </a:xfrm>
          <a:prstGeom prst="rect">
            <a:avLst/>
          </a:prstGeom>
          <a:noFill/>
        </p:spPr>
        <p:txBody>
          <a:bodyPr wrap="square">
            <a:spAutoFit/>
          </a:bodyPr>
          <a:lstStyle/>
          <a:p>
            <a:pPr algn="ctr"/>
            <a:r>
              <a:rPr sz="650" b="1" i="0">
                <a:solidFill>
                  <a:srgbClr val="FFFFFF"/>
                </a:solidFill>
                <a:latin typeface="Noto Sans JP"/>
              </a:rPr>
              <a:t>社長</a:t>
            </a:r>
          </a:p>
        </p:txBody>
      </p:sp>
      <p:sp>
        <p:nvSpPr>
          <p:cNvPr id="12" name="Rectangle 11"/>
          <p:cNvSpPr/>
          <p:nvPr/>
        </p:nvSpPr>
        <p:spPr>
          <a:xfrm>
            <a:off x="10835640" y="879480"/>
            <a:ext cx="378000" cy="864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35640" y="865080"/>
            <a:ext cx="378000" cy="100800"/>
          </a:xfrm>
          <a:prstGeom prst="rect">
            <a:avLst/>
          </a:prstGeom>
          <a:noFill/>
        </p:spPr>
        <p:txBody>
          <a:bodyPr wrap="square">
            <a:spAutoFit/>
          </a:bodyPr>
          <a:lstStyle/>
          <a:p>
            <a:pPr algn="ctr"/>
            <a:r>
              <a:rPr sz="650" b="1" i="0">
                <a:solidFill>
                  <a:srgbClr val="FFFFFF"/>
                </a:solidFill>
                <a:latin typeface="Noto Sans JP"/>
              </a:rPr>
              <a:t>社労士</a:t>
            </a:r>
          </a:p>
        </p:txBody>
      </p:sp>
      <p:sp>
        <p:nvSpPr>
          <p:cNvPr id="14" name="Rectangle 13"/>
          <p:cNvSpPr/>
          <p:nvPr/>
        </p:nvSpPr>
        <p:spPr>
          <a:xfrm>
            <a:off x="11704320" y="879480"/>
            <a:ext cx="378000" cy="86400"/>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704320" y="865080"/>
            <a:ext cx="378000" cy="100800"/>
          </a:xfrm>
          <a:prstGeom prst="rect">
            <a:avLst/>
          </a:prstGeom>
          <a:noFill/>
        </p:spPr>
        <p:txBody>
          <a:bodyPr wrap="square">
            <a:spAutoFit/>
          </a:bodyPr>
          <a:lstStyle/>
          <a:p>
            <a:pPr algn="ctr"/>
            <a:r>
              <a:rPr sz="650" b="1" i="0">
                <a:solidFill>
                  <a:srgbClr val="FFFFFF"/>
                </a:solidFill>
                <a:latin typeface="Noto Sans JP"/>
              </a:rPr>
              <a:t>SRA支援</a:t>
            </a:r>
          </a:p>
        </p:txBody>
      </p:sp>
      <p:sp>
        <p:nvSpPr>
          <p:cNvPr id="16" name="Rounded Rectangle 15"/>
          <p:cNvSpPr/>
          <p:nvPr/>
        </p:nvSpPr>
        <p:spPr>
          <a:xfrm>
            <a:off x="182880" y="1051560"/>
            <a:ext cx="3566160" cy="534924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1051560"/>
            <a:ext cx="3566160"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0880" y="1143000"/>
            <a:ext cx="3566160" cy="365760"/>
          </a:xfrm>
          <a:prstGeom prst="rect">
            <a:avLst/>
          </a:prstGeom>
          <a:noFill/>
        </p:spPr>
        <p:txBody>
          <a:bodyPr wrap="square">
            <a:spAutoFit/>
          </a:bodyPr>
          <a:lstStyle/>
          <a:p>
            <a:pPr algn="l"/>
            <a:r>
              <a:rPr sz="1050" b="1" i="0">
                <a:solidFill>
                  <a:srgbClr val="CC0000"/>
                </a:solidFill>
                <a:latin typeface="Noto Sans JP"/>
              </a:rPr>
              <a:t>A. 税務署・自治体への届出</a:t>
            </a:r>
          </a:p>
        </p:txBody>
      </p:sp>
      <p:sp>
        <p:nvSpPr>
          <p:cNvPr id="19" name="Rectangle 18"/>
          <p:cNvSpPr/>
          <p:nvPr/>
        </p:nvSpPr>
        <p:spPr>
          <a:xfrm>
            <a:off x="272880" y="15627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2880" y="15483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2880" y="15411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22" name="TextBox 21"/>
          <p:cNvSpPr txBox="1"/>
          <p:nvPr/>
        </p:nvSpPr>
        <p:spPr>
          <a:xfrm>
            <a:off x="974880" y="1519560"/>
            <a:ext cx="2702160" cy="274320"/>
          </a:xfrm>
          <a:prstGeom prst="rect">
            <a:avLst/>
          </a:prstGeom>
          <a:noFill/>
        </p:spPr>
        <p:txBody>
          <a:bodyPr wrap="square">
            <a:spAutoFit/>
          </a:bodyPr>
          <a:lstStyle/>
          <a:p>
            <a:pPr algn="l"/>
            <a:r>
              <a:rPr sz="950" b="1" i="0">
                <a:solidFill>
                  <a:srgbClr val="1A1A1A"/>
                </a:solidFill>
                <a:latin typeface="Noto Sans JP"/>
              </a:rPr>
              <a:t>法人設立届出書</a:t>
            </a:r>
          </a:p>
        </p:txBody>
      </p:sp>
      <p:sp>
        <p:nvSpPr>
          <p:cNvPr id="23" name="TextBox 22"/>
          <p:cNvSpPr txBox="1"/>
          <p:nvPr/>
        </p:nvSpPr>
        <p:spPr>
          <a:xfrm>
            <a:off x="542880" y="1670760"/>
            <a:ext cx="3134160" cy="292608"/>
          </a:xfrm>
          <a:prstGeom prst="rect">
            <a:avLst/>
          </a:prstGeom>
          <a:noFill/>
        </p:spPr>
        <p:txBody>
          <a:bodyPr wrap="square">
            <a:spAutoFit/>
          </a:bodyPr>
          <a:lstStyle/>
          <a:p>
            <a:pPr algn="l"/>
            <a:r>
              <a:rPr sz="750" b="0" i="0">
                <a:solidFill>
                  <a:srgbClr val="888888"/>
                </a:solidFill>
                <a:latin typeface="Noto Sans JP"/>
              </a:rPr>
              <a:t>税務署・都道府県・市区町村 各1通</a:t>
            </a:r>
          </a:p>
        </p:txBody>
      </p:sp>
      <p:sp>
        <p:nvSpPr>
          <p:cNvPr id="24" name="Rectangle 23"/>
          <p:cNvSpPr/>
          <p:nvPr/>
        </p:nvSpPr>
        <p:spPr>
          <a:xfrm>
            <a:off x="272880" y="22485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2880" y="22341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2880" y="22269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27" name="TextBox 26"/>
          <p:cNvSpPr txBox="1"/>
          <p:nvPr/>
        </p:nvSpPr>
        <p:spPr>
          <a:xfrm>
            <a:off x="974880" y="2205360"/>
            <a:ext cx="2702160" cy="274320"/>
          </a:xfrm>
          <a:prstGeom prst="rect">
            <a:avLst/>
          </a:prstGeom>
          <a:noFill/>
        </p:spPr>
        <p:txBody>
          <a:bodyPr wrap="square">
            <a:spAutoFit/>
          </a:bodyPr>
          <a:lstStyle/>
          <a:p>
            <a:pPr algn="l"/>
            <a:r>
              <a:rPr sz="950" b="1" i="0">
                <a:solidFill>
                  <a:srgbClr val="1A1A1A"/>
                </a:solidFill>
                <a:latin typeface="Noto Sans JP"/>
              </a:rPr>
              <a:t>青色申告の承認申請書</a:t>
            </a:r>
          </a:p>
        </p:txBody>
      </p:sp>
      <p:sp>
        <p:nvSpPr>
          <p:cNvPr id="28" name="TextBox 27"/>
          <p:cNvSpPr txBox="1"/>
          <p:nvPr/>
        </p:nvSpPr>
        <p:spPr>
          <a:xfrm>
            <a:off x="542880" y="2356560"/>
            <a:ext cx="3134160" cy="292608"/>
          </a:xfrm>
          <a:prstGeom prst="rect">
            <a:avLst/>
          </a:prstGeom>
          <a:noFill/>
        </p:spPr>
        <p:txBody>
          <a:bodyPr wrap="square">
            <a:spAutoFit/>
          </a:bodyPr>
          <a:lstStyle/>
          <a:p>
            <a:pPr algn="l"/>
            <a:r>
              <a:rPr sz="750" b="0" i="0">
                <a:solidFill>
                  <a:srgbClr val="888888"/>
                </a:solidFill>
                <a:latin typeface="Noto Sans JP"/>
              </a:rPr>
              <a:t>設立後3ヶ月以内または最初の期末まで</a:t>
            </a:r>
          </a:p>
        </p:txBody>
      </p:sp>
      <p:sp>
        <p:nvSpPr>
          <p:cNvPr id="29" name="Rectangle 28"/>
          <p:cNvSpPr/>
          <p:nvPr/>
        </p:nvSpPr>
        <p:spPr>
          <a:xfrm>
            <a:off x="272880" y="29343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2880" y="29199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2880" y="29127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32" name="TextBox 31"/>
          <p:cNvSpPr txBox="1"/>
          <p:nvPr/>
        </p:nvSpPr>
        <p:spPr>
          <a:xfrm>
            <a:off x="974880" y="2891160"/>
            <a:ext cx="2702160" cy="274320"/>
          </a:xfrm>
          <a:prstGeom prst="rect">
            <a:avLst/>
          </a:prstGeom>
          <a:noFill/>
        </p:spPr>
        <p:txBody>
          <a:bodyPr wrap="square">
            <a:spAutoFit/>
          </a:bodyPr>
          <a:lstStyle/>
          <a:p>
            <a:pPr algn="l"/>
            <a:r>
              <a:rPr sz="950" b="1" i="0">
                <a:solidFill>
                  <a:srgbClr val="1A1A1A"/>
                </a:solidFill>
                <a:latin typeface="Noto Sans JP"/>
              </a:rPr>
              <a:t>給与支払事務所等の開設届</a:t>
            </a:r>
          </a:p>
        </p:txBody>
      </p:sp>
      <p:sp>
        <p:nvSpPr>
          <p:cNvPr id="33" name="TextBox 32"/>
          <p:cNvSpPr txBox="1"/>
          <p:nvPr/>
        </p:nvSpPr>
        <p:spPr>
          <a:xfrm>
            <a:off x="542880" y="3042360"/>
            <a:ext cx="3134160" cy="292608"/>
          </a:xfrm>
          <a:prstGeom prst="rect">
            <a:avLst/>
          </a:prstGeom>
          <a:noFill/>
        </p:spPr>
        <p:txBody>
          <a:bodyPr wrap="square">
            <a:spAutoFit/>
          </a:bodyPr>
          <a:lstStyle/>
          <a:p>
            <a:pPr algn="l"/>
            <a:r>
              <a:rPr sz="750" b="0" i="0">
                <a:solidFill>
                  <a:srgbClr val="888888"/>
                </a:solidFill>
                <a:latin typeface="Noto Sans JP"/>
              </a:rPr>
              <a:t>開設から1ヶ月以内</a:t>
            </a:r>
          </a:p>
        </p:txBody>
      </p:sp>
      <p:sp>
        <p:nvSpPr>
          <p:cNvPr id="34" name="Rectangle 33"/>
          <p:cNvSpPr/>
          <p:nvPr/>
        </p:nvSpPr>
        <p:spPr>
          <a:xfrm>
            <a:off x="272880" y="36201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2880" y="36057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2880" y="35985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37" name="TextBox 36"/>
          <p:cNvSpPr txBox="1"/>
          <p:nvPr/>
        </p:nvSpPr>
        <p:spPr>
          <a:xfrm>
            <a:off x="974880" y="3576960"/>
            <a:ext cx="2702160" cy="274320"/>
          </a:xfrm>
          <a:prstGeom prst="rect">
            <a:avLst/>
          </a:prstGeom>
          <a:noFill/>
        </p:spPr>
        <p:txBody>
          <a:bodyPr wrap="square">
            <a:spAutoFit/>
          </a:bodyPr>
          <a:lstStyle/>
          <a:p>
            <a:pPr algn="l"/>
            <a:r>
              <a:rPr sz="950" b="1" i="0">
                <a:solidFill>
                  <a:srgbClr val="1A1A1A"/>
                </a:solidFill>
                <a:latin typeface="Noto Sans JP"/>
              </a:rPr>
              <a:t>源泉所得税 納期の特例申請</a:t>
            </a:r>
          </a:p>
        </p:txBody>
      </p:sp>
      <p:sp>
        <p:nvSpPr>
          <p:cNvPr id="38" name="TextBox 37"/>
          <p:cNvSpPr txBox="1"/>
          <p:nvPr/>
        </p:nvSpPr>
        <p:spPr>
          <a:xfrm>
            <a:off x="542880" y="3728160"/>
            <a:ext cx="3134160" cy="292608"/>
          </a:xfrm>
          <a:prstGeom prst="rect">
            <a:avLst/>
          </a:prstGeom>
          <a:noFill/>
        </p:spPr>
        <p:txBody>
          <a:bodyPr wrap="square">
            <a:spAutoFit/>
          </a:bodyPr>
          <a:lstStyle/>
          <a:p>
            <a:pPr algn="l"/>
            <a:r>
              <a:rPr sz="750" b="0" i="0">
                <a:solidFill>
                  <a:srgbClr val="888888"/>
                </a:solidFill>
                <a:latin typeface="Noto Sans JP"/>
              </a:rPr>
              <a:t>常時10人未満の場合に申請可</a:t>
            </a:r>
          </a:p>
        </p:txBody>
      </p:sp>
      <p:sp>
        <p:nvSpPr>
          <p:cNvPr id="39" name="Rectangle 38"/>
          <p:cNvSpPr/>
          <p:nvPr/>
        </p:nvSpPr>
        <p:spPr>
          <a:xfrm>
            <a:off x="272880" y="43059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2880" y="42915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2880" y="42843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42" name="TextBox 41"/>
          <p:cNvSpPr txBox="1"/>
          <p:nvPr/>
        </p:nvSpPr>
        <p:spPr>
          <a:xfrm>
            <a:off x="974880" y="4262760"/>
            <a:ext cx="2702160" cy="274320"/>
          </a:xfrm>
          <a:prstGeom prst="rect">
            <a:avLst/>
          </a:prstGeom>
          <a:noFill/>
        </p:spPr>
        <p:txBody>
          <a:bodyPr wrap="square">
            <a:spAutoFit/>
          </a:bodyPr>
          <a:lstStyle/>
          <a:p>
            <a:pPr algn="l"/>
            <a:r>
              <a:rPr sz="950" b="1" i="0">
                <a:solidFill>
                  <a:srgbClr val="1A1A1A"/>
                </a:solidFill>
                <a:latin typeface="Noto Sans JP"/>
              </a:rPr>
              <a:t>消費税 課税事業者選択届</a:t>
            </a:r>
          </a:p>
        </p:txBody>
      </p:sp>
      <p:sp>
        <p:nvSpPr>
          <p:cNvPr id="43" name="TextBox 42"/>
          <p:cNvSpPr txBox="1"/>
          <p:nvPr/>
        </p:nvSpPr>
        <p:spPr>
          <a:xfrm>
            <a:off x="542880" y="4413960"/>
            <a:ext cx="3134160" cy="292608"/>
          </a:xfrm>
          <a:prstGeom prst="rect">
            <a:avLst/>
          </a:prstGeom>
          <a:noFill/>
        </p:spPr>
        <p:txBody>
          <a:bodyPr wrap="square">
            <a:spAutoFit/>
          </a:bodyPr>
          <a:lstStyle/>
          <a:p>
            <a:pPr algn="l"/>
            <a:r>
              <a:rPr sz="750" b="0" i="0">
                <a:solidFill>
                  <a:srgbClr val="888888"/>
                </a:solidFill>
                <a:latin typeface="Noto Sans JP"/>
              </a:rPr>
              <a:t>インボイス登録と合わせて要相談</a:t>
            </a:r>
          </a:p>
        </p:txBody>
      </p:sp>
      <p:sp>
        <p:nvSpPr>
          <p:cNvPr id="44" name="Rectangle 43"/>
          <p:cNvSpPr/>
          <p:nvPr/>
        </p:nvSpPr>
        <p:spPr>
          <a:xfrm>
            <a:off x="272880" y="49917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2880" y="49773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2880" y="49701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47" name="TextBox 46"/>
          <p:cNvSpPr txBox="1"/>
          <p:nvPr/>
        </p:nvSpPr>
        <p:spPr>
          <a:xfrm>
            <a:off x="974880" y="4948560"/>
            <a:ext cx="2702160" cy="274320"/>
          </a:xfrm>
          <a:prstGeom prst="rect">
            <a:avLst/>
          </a:prstGeom>
          <a:noFill/>
        </p:spPr>
        <p:txBody>
          <a:bodyPr wrap="square">
            <a:spAutoFit/>
          </a:bodyPr>
          <a:lstStyle/>
          <a:p>
            <a:pPr algn="l"/>
            <a:r>
              <a:rPr sz="950" b="1" i="0">
                <a:solidFill>
                  <a:srgbClr val="1A1A1A"/>
                </a:solidFill>
                <a:latin typeface="Noto Sans JP"/>
              </a:rPr>
              <a:t>棚卸資産の評価方法の届出</a:t>
            </a:r>
          </a:p>
        </p:txBody>
      </p:sp>
      <p:sp>
        <p:nvSpPr>
          <p:cNvPr id="48" name="TextBox 47"/>
          <p:cNvSpPr txBox="1"/>
          <p:nvPr/>
        </p:nvSpPr>
        <p:spPr>
          <a:xfrm>
            <a:off x="542880" y="5099760"/>
            <a:ext cx="3134160" cy="292608"/>
          </a:xfrm>
          <a:prstGeom prst="rect">
            <a:avLst/>
          </a:prstGeom>
          <a:noFill/>
        </p:spPr>
        <p:txBody>
          <a:bodyPr wrap="square">
            <a:spAutoFit/>
          </a:bodyPr>
          <a:lstStyle/>
          <a:p>
            <a:pPr algn="l"/>
            <a:r>
              <a:rPr sz="750" b="0" i="0">
                <a:solidFill>
                  <a:srgbClr val="888888"/>
                </a:solidFill>
                <a:latin typeface="Noto Sans JP"/>
              </a:rPr>
              <a:t>最初の期の確定申告期限まで</a:t>
            </a:r>
          </a:p>
        </p:txBody>
      </p:sp>
      <p:sp>
        <p:nvSpPr>
          <p:cNvPr id="49" name="Rectangle 48"/>
          <p:cNvSpPr/>
          <p:nvPr/>
        </p:nvSpPr>
        <p:spPr>
          <a:xfrm>
            <a:off x="272880" y="56775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42880" y="56631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2880" y="56559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52" name="TextBox 51"/>
          <p:cNvSpPr txBox="1"/>
          <p:nvPr/>
        </p:nvSpPr>
        <p:spPr>
          <a:xfrm>
            <a:off x="974880" y="5634360"/>
            <a:ext cx="2702160" cy="274320"/>
          </a:xfrm>
          <a:prstGeom prst="rect">
            <a:avLst/>
          </a:prstGeom>
          <a:noFill/>
        </p:spPr>
        <p:txBody>
          <a:bodyPr wrap="square">
            <a:spAutoFit/>
          </a:bodyPr>
          <a:lstStyle/>
          <a:p>
            <a:pPr algn="l"/>
            <a:r>
              <a:rPr sz="950" b="1" i="0">
                <a:solidFill>
                  <a:srgbClr val="1A1A1A"/>
                </a:solidFill>
                <a:latin typeface="Noto Sans JP"/>
              </a:rPr>
              <a:t>減価償却資産の償却方法届</a:t>
            </a:r>
          </a:p>
        </p:txBody>
      </p:sp>
      <p:sp>
        <p:nvSpPr>
          <p:cNvPr id="53" name="TextBox 52"/>
          <p:cNvSpPr txBox="1"/>
          <p:nvPr/>
        </p:nvSpPr>
        <p:spPr>
          <a:xfrm>
            <a:off x="542880" y="5785560"/>
            <a:ext cx="3134160" cy="292608"/>
          </a:xfrm>
          <a:prstGeom prst="rect">
            <a:avLst/>
          </a:prstGeom>
          <a:noFill/>
        </p:spPr>
        <p:txBody>
          <a:bodyPr wrap="square">
            <a:spAutoFit/>
          </a:bodyPr>
          <a:lstStyle/>
          <a:p>
            <a:pPr algn="l"/>
            <a:r>
              <a:rPr sz="750" b="0" i="0">
                <a:solidFill>
                  <a:srgbClr val="888888"/>
                </a:solidFill>
                <a:latin typeface="Noto Sans JP"/>
              </a:rPr>
              <a:t>同上</a:t>
            </a:r>
          </a:p>
        </p:txBody>
      </p:sp>
      <p:sp>
        <p:nvSpPr>
          <p:cNvPr id="54" name="Rounded Rectangle 53"/>
          <p:cNvSpPr/>
          <p:nvPr/>
        </p:nvSpPr>
        <p:spPr>
          <a:xfrm>
            <a:off x="3931920" y="1051560"/>
            <a:ext cx="3566160" cy="534924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3931920" y="1051560"/>
            <a:ext cx="3566160" cy="64008"/>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039920" y="1143000"/>
            <a:ext cx="3566160" cy="365760"/>
          </a:xfrm>
          <a:prstGeom prst="rect">
            <a:avLst/>
          </a:prstGeom>
          <a:noFill/>
        </p:spPr>
        <p:txBody>
          <a:bodyPr wrap="square">
            <a:spAutoFit/>
          </a:bodyPr>
          <a:lstStyle/>
          <a:p>
            <a:pPr algn="l"/>
            <a:r>
              <a:rPr sz="1050" b="1" i="0">
                <a:solidFill>
                  <a:srgbClr val="2255CC"/>
                </a:solidFill>
                <a:latin typeface="Noto Sans JP"/>
              </a:rPr>
              <a:t>B. 金融機関・会計準備</a:t>
            </a:r>
          </a:p>
        </p:txBody>
      </p:sp>
      <p:sp>
        <p:nvSpPr>
          <p:cNvPr id="57" name="Rectangle 56"/>
          <p:cNvSpPr/>
          <p:nvPr/>
        </p:nvSpPr>
        <p:spPr>
          <a:xfrm>
            <a:off x="4021920" y="15627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291920" y="1548360"/>
            <a:ext cx="378000" cy="864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291920" y="1541160"/>
            <a:ext cx="378000" cy="93600"/>
          </a:xfrm>
          <a:prstGeom prst="rect">
            <a:avLst/>
          </a:prstGeom>
          <a:noFill/>
        </p:spPr>
        <p:txBody>
          <a:bodyPr wrap="square">
            <a:spAutoFit/>
          </a:bodyPr>
          <a:lstStyle/>
          <a:p>
            <a:pPr algn="ctr"/>
            <a:r>
              <a:rPr sz="650" b="1" i="0">
                <a:solidFill>
                  <a:srgbClr val="FFFFFF"/>
                </a:solidFill>
                <a:latin typeface="Noto Sans JP"/>
              </a:rPr>
              <a:t>社長</a:t>
            </a:r>
          </a:p>
        </p:txBody>
      </p:sp>
      <p:sp>
        <p:nvSpPr>
          <p:cNvPr id="60" name="TextBox 59"/>
          <p:cNvSpPr txBox="1"/>
          <p:nvPr/>
        </p:nvSpPr>
        <p:spPr>
          <a:xfrm>
            <a:off x="4723920" y="1519560"/>
            <a:ext cx="2702160" cy="274320"/>
          </a:xfrm>
          <a:prstGeom prst="rect">
            <a:avLst/>
          </a:prstGeom>
          <a:noFill/>
        </p:spPr>
        <p:txBody>
          <a:bodyPr wrap="square">
            <a:spAutoFit/>
          </a:bodyPr>
          <a:lstStyle/>
          <a:p>
            <a:pPr algn="l"/>
            <a:r>
              <a:rPr sz="950" b="1" i="0">
                <a:solidFill>
                  <a:srgbClr val="1A1A1A"/>
                </a:solidFill>
                <a:latin typeface="Noto Sans JP"/>
              </a:rPr>
              <a:t>法人口座の開設</a:t>
            </a:r>
          </a:p>
        </p:txBody>
      </p:sp>
      <p:sp>
        <p:nvSpPr>
          <p:cNvPr id="61" name="TextBox 60"/>
          <p:cNvSpPr txBox="1"/>
          <p:nvPr/>
        </p:nvSpPr>
        <p:spPr>
          <a:xfrm>
            <a:off x="4291920" y="1670760"/>
            <a:ext cx="3134160" cy="292608"/>
          </a:xfrm>
          <a:prstGeom prst="rect">
            <a:avLst/>
          </a:prstGeom>
          <a:noFill/>
        </p:spPr>
        <p:txBody>
          <a:bodyPr wrap="square">
            <a:spAutoFit/>
          </a:bodyPr>
          <a:lstStyle/>
          <a:p>
            <a:pPr algn="l"/>
            <a:r>
              <a:rPr sz="750" b="0" i="0">
                <a:solidFill>
                  <a:srgbClr val="888888"/>
                </a:solidFill>
                <a:latin typeface="Noto Sans JP"/>
              </a:rPr>
              <a:t>設立登記後すぐにご開設ください（審査にお時間がかかります）</a:t>
            </a:r>
          </a:p>
        </p:txBody>
      </p:sp>
      <p:sp>
        <p:nvSpPr>
          <p:cNvPr id="62" name="Rectangle 61"/>
          <p:cNvSpPr/>
          <p:nvPr/>
        </p:nvSpPr>
        <p:spPr>
          <a:xfrm>
            <a:off x="4021920" y="22485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4291920" y="2234160"/>
            <a:ext cx="378000" cy="864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291920" y="2226960"/>
            <a:ext cx="378000" cy="93600"/>
          </a:xfrm>
          <a:prstGeom prst="rect">
            <a:avLst/>
          </a:prstGeom>
          <a:noFill/>
        </p:spPr>
        <p:txBody>
          <a:bodyPr wrap="square">
            <a:spAutoFit/>
          </a:bodyPr>
          <a:lstStyle/>
          <a:p>
            <a:pPr algn="ctr"/>
            <a:r>
              <a:rPr sz="650" b="1" i="0">
                <a:solidFill>
                  <a:srgbClr val="FFFFFF"/>
                </a:solidFill>
                <a:latin typeface="Noto Sans JP"/>
              </a:rPr>
              <a:t>社長</a:t>
            </a:r>
          </a:p>
        </p:txBody>
      </p:sp>
      <p:sp>
        <p:nvSpPr>
          <p:cNvPr id="65" name="TextBox 64"/>
          <p:cNvSpPr txBox="1"/>
          <p:nvPr/>
        </p:nvSpPr>
        <p:spPr>
          <a:xfrm>
            <a:off x="4723920" y="2205360"/>
            <a:ext cx="2702160" cy="274320"/>
          </a:xfrm>
          <a:prstGeom prst="rect">
            <a:avLst/>
          </a:prstGeom>
          <a:noFill/>
        </p:spPr>
        <p:txBody>
          <a:bodyPr wrap="square">
            <a:spAutoFit/>
          </a:bodyPr>
          <a:lstStyle/>
          <a:p>
            <a:pPr algn="l"/>
            <a:r>
              <a:rPr sz="950" b="1" i="0">
                <a:solidFill>
                  <a:srgbClr val="1A1A1A"/>
                </a:solidFill>
                <a:latin typeface="Noto Sans JP"/>
              </a:rPr>
              <a:t>法人クレジットカードの申請</a:t>
            </a:r>
          </a:p>
        </p:txBody>
      </p:sp>
      <p:sp>
        <p:nvSpPr>
          <p:cNvPr id="66" name="TextBox 65"/>
          <p:cNvSpPr txBox="1"/>
          <p:nvPr/>
        </p:nvSpPr>
        <p:spPr>
          <a:xfrm>
            <a:off x="4291920" y="2356560"/>
            <a:ext cx="3134160" cy="292608"/>
          </a:xfrm>
          <a:prstGeom prst="rect">
            <a:avLst/>
          </a:prstGeom>
          <a:noFill/>
        </p:spPr>
        <p:txBody>
          <a:bodyPr wrap="square">
            <a:spAutoFit/>
          </a:bodyPr>
          <a:lstStyle/>
          <a:p>
            <a:pPr algn="l"/>
            <a:r>
              <a:rPr sz="750" b="0" i="0">
                <a:solidFill>
                  <a:srgbClr val="888888"/>
                </a:solidFill>
                <a:latin typeface="Noto Sans JP"/>
              </a:rPr>
              <a:t>経費管理の効率化のため、お早めにお申請ください</a:t>
            </a:r>
          </a:p>
        </p:txBody>
      </p:sp>
      <p:sp>
        <p:nvSpPr>
          <p:cNvPr id="67" name="Rectangle 66"/>
          <p:cNvSpPr/>
          <p:nvPr/>
        </p:nvSpPr>
        <p:spPr>
          <a:xfrm>
            <a:off x="4021920" y="29343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4291920" y="2919960"/>
            <a:ext cx="378000" cy="86400"/>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291920" y="2912760"/>
            <a:ext cx="378000" cy="93600"/>
          </a:xfrm>
          <a:prstGeom prst="rect">
            <a:avLst/>
          </a:prstGeom>
          <a:noFill/>
        </p:spPr>
        <p:txBody>
          <a:bodyPr wrap="square">
            <a:spAutoFit/>
          </a:bodyPr>
          <a:lstStyle/>
          <a:p>
            <a:pPr algn="ctr"/>
            <a:r>
              <a:rPr sz="650" b="1" i="0">
                <a:solidFill>
                  <a:srgbClr val="FFFFFF"/>
                </a:solidFill>
                <a:latin typeface="Noto Sans JP"/>
              </a:rPr>
              <a:t>SRA支援</a:t>
            </a:r>
          </a:p>
        </p:txBody>
      </p:sp>
      <p:sp>
        <p:nvSpPr>
          <p:cNvPr id="70" name="TextBox 69"/>
          <p:cNvSpPr txBox="1"/>
          <p:nvPr/>
        </p:nvSpPr>
        <p:spPr>
          <a:xfrm>
            <a:off x="4723920" y="2891160"/>
            <a:ext cx="2702160" cy="274320"/>
          </a:xfrm>
          <a:prstGeom prst="rect">
            <a:avLst/>
          </a:prstGeom>
          <a:noFill/>
        </p:spPr>
        <p:txBody>
          <a:bodyPr wrap="square">
            <a:spAutoFit/>
          </a:bodyPr>
          <a:lstStyle/>
          <a:p>
            <a:pPr algn="l"/>
            <a:r>
              <a:rPr sz="950" b="1" i="0">
                <a:solidFill>
                  <a:srgbClr val="1A1A1A"/>
                </a:solidFill>
                <a:latin typeface="Noto Sans JP"/>
              </a:rPr>
              <a:t>会計ソフトの導入・初期設定</a:t>
            </a:r>
          </a:p>
        </p:txBody>
      </p:sp>
      <p:sp>
        <p:nvSpPr>
          <p:cNvPr id="71" name="TextBox 70"/>
          <p:cNvSpPr txBox="1"/>
          <p:nvPr/>
        </p:nvSpPr>
        <p:spPr>
          <a:xfrm>
            <a:off x="4291920" y="3042360"/>
            <a:ext cx="3134160" cy="292608"/>
          </a:xfrm>
          <a:prstGeom prst="rect">
            <a:avLst/>
          </a:prstGeom>
          <a:noFill/>
        </p:spPr>
        <p:txBody>
          <a:bodyPr wrap="square">
            <a:spAutoFit/>
          </a:bodyPr>
          <a:lstStyle/>
          <a:p>
            <a:pPr algn="l"/>
            <a:r>
              <a:rPr sz="750" b="0" i="0">
                <a:solidFill>
                  <a:srgbClr val="888888"/>
                </a:solidFill>
                <a:latin typeface="Noto Sans JP"/>
              </a:rPr>
              <a:t>MFクラウド会計 / freee 等（初期設定は当事務所がサポートいたします）</a:t>
            </a:r>
          </a:p>
        </p:txBody>
      </p:sp>
      <p:sp>
        <p:nvSpPr>
          <p:cNvPr id="72" name="Rectangle 71"/>
          <p:cNvSpPr/>
          <p:nvPr/>
        </p:nvSpPr>
        <p:spPr>
          <a:xfrm>
            <a:off x="4021920" y="36201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4291920" y="3605760"/>
            <a:ext cx="378000" cy="86400"/>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291920" y="3598560"/>
            <a:ext cx="378000" cy="93600"/>
          </a:xfrm>
          <a:prstGeom prst="rect">
            <a:avLst/>
          </a:prstGeom>
          <a:noFill/>
        </p:spPr>
        <p:txBody>
          <a:bodyPr wrap="square">
            <a:spAutoFit/>
          </a:bodyPr>
          <a:lstStyle/>
          <a:p>
            <a:pPr algn="ctr"/>
            <a:r>
              <a:rPr sz="650" b="1" i="0">
                <a:solidFill>
                  <a:srgbClr val="FFFFFF"/>
                </a:solidFill>
                <a:latin typeface="Noto Sans JP"/>
              </a:rPr>
              <a:t>SRA支援</a:t>
            </a:r>
          </a:p>
        </p:txBody>
      </p:sp>
      <p:sp>
        <p:nvSpPr>
          <p:cNvPr id="75" name="TextBox 74"/>
          <p:cNvSpPr txBox="1"/>
          <p:nvPr/>
        </p:nvSpPr>
        <p:spPr>
          <a:xfrm>
            <a:off x="4723920" y="3576960"/>
            <a:ext cx="2702160" cy="274320"/>
          </a:xfrm>
          <a:prstGeom prst="rect">
            <a:avLst/>
          </a:prstGeom>
          <a:noFill/>
        </p:spPr>
        <p:txBody>
          <a:bodyPr wrap="square">
            <a:spAutoFit/>
          </a:bodyPr>
          <a:lstStyle/>
          <a:p>
            <a:pPr algn="l"/>
            <a:r>
              <a:rPr sz="950" b="1" i="0">
                <a:solidFill>
                  <a:srgbClr val="1A1A1A"/>
                </a:solidFill>
                <a:latin typeface="Noto Sans JP"/>
              </a:rPr>
              <a:t>電子帳簿保存法の対応確認</a:t>
            </a:r>
          </a:p>
        </p:txBody>
      </p:sp>
      <p:sp>
        <p:nvSpPr>
          <p:cNvPr id="76" name="TextBox 75"/>
          <p:cNvSpPr txBox="1"/>
          <p:nvPr/>
        </p:nvSpPr>
        <p:spPr>
          <a:xfrm>
            <a:off x="4291920" y="3728160"/>
            <a:ext cx="3134160" cy="292608"/>
          </a:xfrm>
          <a:prstGeom prst="rect">
            <a:avLst/>
          </a:prstGeom>
          <a:noFill/>
        </p:spPr>
        <p:txBody>
          <a:bodyPr wrap="square">
            <a:spAutoFit/>
          </a:bodyPr>
          <a:lstStyle/>
          <a:p>
            <a:pPr algn="l"/>
            <a:r>
              <a:rPr sz="750" b="0" i="0">
                <a:solidFill>
                  <a:srgbClr val="888888"/>
                </a:solidFill>
                <a:latin typeface="Noto Sans JP"/>
              </a:rPr>
              <a:t>電子取引データの保存方法を整備</a:t>
            </a:r>
          </a:p>
        </p:txBody>
      </p:sp>
      <p:sp>
        <p:nvSpPr>
          <p:cNvPr id="77" name="Rectangle 76"/>
          <p:cNvSpPr/>
          <p:nvPr/>
        </p:nvSpPr>
        <p:spPr>
          <a:xfrm>
            <a:off x="4021920" y="43059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4291920" y="42915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291920" y="42843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80" name="TextBox 79"/>
          <p:cNvSpPr txBox="1"/>
          <p:nvPr/>
        </p:nvSpPr>
        <p:spPr>
          <a:xfrm>
            <a:off x="4723920" y="4262760"/>
            <a:ext cx="2702160" cy="274320"/>
          </a:xfrm>
          <a:prstGeom prst="rect">
            <a:avLst/>
          </a:prstGeom>
          <a:noFill/>
        </p:spPr>
        <p:txBody>
          <a:bodyPr wrap="square">
            <a:spAutoFit/>
          </a:bodyPr>
          <a:lstStyle/>
          <a:p>
            <a:pPr algn="l"/>
            <a:r>
              <a:rPr sz="950" b="1" i="0">
                <a:solidFill>
                  <a:srgbClr val="1A1A1A"/>
                </a:solidFill>
                <a:latin typeface="Noto Sans JP"/>
              </a:rPr>
              <a:t>インボイス登録申請</a:t>
            </a:r>
          </a:p>
        </p:txBody>
      </p:sp>
      <p:sp>
        <p:nvSpPr>
          <p:cNvPr id="81" name="TextBox 80"/>
          <p:cNvSpPr txBox="1"/>
          <p:nvPr/>
        </p:nvSpPr>
        <p:spPr>
          <a:xfrm>
            <a:off x="4291920" y="4413960"/>
            <a:ext cx="3134160" cy="292608"/>
          </a:xfrm>
          <a:prstGeom prst="rect">
            <a:avLst/>
          </a:prstGeom>
          <a:noFill/>
        </p:spPr>
        <p:txBody>
          <a:bodyPr wrap="square">
            <a:spAutoFit/>
          </a:bodyPr>
          <a:lstStyle/>
          <a:p>
            <a:pPr algn="l"/>
            <a:r>
              <a:rPr sz="750" b="0" i="0">
                <a:solidFill>
                  <a:srgbClr val="888888"/>
                </a:solidFill>
                <a:latin typeface="Noto Sans JP"/>
              </a:rPr>
              <a:t>登録番号の取得（適格請求書発行事業者）</a:t>
            </a:r>
          </a:p>
        </p:txBody>
      </p:sp>
      <p:sp>
        <p:nvSpPr>
          <p:cNvPr id="82" name="Rectangle 81"/>
          <p:cNvSpPr/>
          <p:nvPr/>
        </p:nvSpPr>
        <p:spPr>
          <a:xfrm>
            <a:off x="4021920" y="49917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4291920" y="4977360"/>
            <a:ext cx="378000" cy="864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291920" y="4970160"/>
            <a:ext cx="378000" cy="93600"/>
          </a:xfrm>
          <a:prstGeom prst="rect">
            <a:avLst/>
          </a:prstGeom>
          <a:noFill/>
        </p:spPr>
        <p:txBody>
          <a:bodyPr wrap="square">
            <a:spAutoFit/>
          </a:bodyPr>
          <a:lstStyle/>
          <a:p>
            <a:pPr algn="ctr"/>
            <a:r>
              <a:rPr sz="650" b="1" i="0">
                <a:solidFill>
                  <a:srgbClr val="FFFFFF"/>
                </a:solidFill>
                <a:latin typeface="Noto Sans JP"/>
              </a:rPr>
              <a:t>社長</a:t>
            </a:r>
          </a:p>
        </p:txBody>
      </p:sp>
      <p:sp>
        <p:nvSpPr>
          <p:cNvPr id="85" name="TextBox 84"/>
          <p:cNvSpPr txBox="1"/>
          <p:nvPr/>
        </p:nvSpPr>
        <p:spPr>
          <a:xfrm>
            <a:off x="4723920" y="4948560"/>
            <a:ext cx="2702160" cy="274320"/>
          </a:xfrm>
          <a:prstGeom prst="rect">
            <a:avLst/>
          </a:prstGeom>
          <a:noFill/>
        </p:spPr>
        <p:txBody>
          <a:bodyPr wrap="square">
            <a:spAutoFit/>
          </a:bodyPr>
          <a:lstStyle/>
          <a:p>
            <a:pPr algn="l"/>
            <a:r>
              <a:rPr sz="950" b="1" i="0">
                <a:solidFill>
                  <a:srgbClr val="1A1A1A"/>
                </a:solidFill>
                <a:latin typeface="Noto Sans JP"/>
              </a:rPr>
              <a:t>法人印鑑証明書の取得</a:t>
            </a:r>
          </a:p>
        </p:txBody>
      </p:sp>
      <p:sp>
        <p:nvSpPr>
          <p:cNvPr id="86" name="TextBox 85"/>
          <p:cNvSpPr txBox="1"/>
          <p:nvPr/>
        </p:nvSpPr>
        <p:spPr>
          <a:xfrm>
            <a:off x="4291920" y="5099760"/>
            <a:ext cx="3134160" cy="292608"/>
          </a:xfrm>
          <a:prstGeom prst="rect">
            <a:avLst/>
          </a:prstGeom>
          <a:noFill/>
        </p:spPr>
        <p:txBody>
          <a:bodyPr wrap="square">
            <a:spAutoFit/>
          </a:bodyPr>
          <a:lstStyle/>
          <a:p>
            <a:pPr algn="l"/>
            <a:r>
              <a:rPr sz="750" b="0" i="0">
                <a:solidFill>
                  <a:srgbClr val="888888"/>
                </a:solidFill>
                <a:latin typeface="Noto Sans JP"/>
              </a:rPr>
              <a:t>各種手続きに複数枚必要</a:t>
            </a:r>
          </a:p>
        </p:txBody>
      </p:sp>
      <p:sp>
        <p:nvSpPr>
          <p:cNvPr id="87" name="Rectangle 86"/>
          <p:cNvSpPr/>
          <p:nvPr/>
        </p:nvSpPr>
        <p:spPr>
          <a:xfrm>
            <a:off x="4021920" y="56775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4291920" y="5663160"/>
            <a:ext cx="378000" cy="864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291920" y="5655960"/>
            <a:ext cx="378000" cy="93600"/>
          </a:xfrm>
          <a:prstGeom prst="rect">
            <a:avLst/>
          </a:prstGeom>
          <a:noFill/>
        </p:spPr>
        <p:txBody>
          <a:bodyPr wrap="square">
            <a:spAutoFit/>
          </a:bodyPr>
          <a:lstStyle/>
          <a:p>
            <a:pPr algn="ctr"/>
            <a:r>
              <a:rPr sz="650" b="1" i="0">
                <a:solidFill>
                  <a:srgbClr val="FFFFFF"/>
                </a:solidFill>
                <a:latin typeface="Noto Sans JP"/>
              </a:rPr>
              <a:t>社長</a:t>
            </a:r>
          </a:p>
        </p:txBody>
      </p:sp>
      <p:sp>
        <p:nvSpPr>
          <p:cNvPr id="90" name="TextBox 89"/>
          <p:cNvSpPr txBox="1"/>
          <p:nvPr/>
        </p:nvSpPr>
        <p:spPr>
          <a:xfrm>
            <a:off x="4723920" y="5634360"/>
            <a:ext cx="2702160" cy="274320"/>
          </a:xfrm>
          <a:prstGeom prst="rect">
            <a:avLst/>
          </a:prstGeom>
          <a:noFill/>
        </p:spPr>
        <p:txBody>
          <a:bodyPr wrap="square">
            <a:spAutoFit/>
          </a:bodyPr>
          <a:lstStyle/>
          <a:p>
            <a:pPr algn="l"/>
            <a:r>
              <a:rPr sz="950" b="1" i="0">
                <a:solidFill>
                  <a:srgbClr val="1A1A1A"/>
                </a:solidFill>
                <a:latin typeface="Noto Sans JP"/>
              </a:rPr>
              <a:t>許認可の取得</a:t>
            </a:r>
          </a:p>
        </p:txBody>
      </p:sp>
      <p:sp>
        <p:nvSpPr>
          <p:cNvPr id="91" name="TextBox 90"/>
          <p:cNvSpPr txBox="1"/>
          <p:nvPr/>
        </p:nvSpPr>
        <p:spPr>
          <a:xfrm>
            <a:off x="4291920" y="5785560"/>
            <a:ext cx="3134160" cy="292608"/>
          </a:xfrm>
          <a:prstGeom prst="rect">
            <a:avLst/>
          </a:prstGeom>
          <a:noFill/>
        </p:spPr>
        <p:txBody>
          <a:bodyPr wrap="square">
            <a:spAutoFit/>
          </a:bodyPr>
          <a:lstStyle/>
          <a:p>
            <a:pPr algn="l"/>
            <a:r>
              <a:rPr sz="750" b="0" i="0">
                <a:solidFill>
                  <a:srgbClr val="888888"/>
                </a:solidFill>
                <a:latin typeface="Noto Sans JP"/>
              </a:rPr>
              <a:t>業種による（行政書士へ依頼）</a:t>
            </a:r>
          </a:p>
        </p:txBody>
      </p:sp>
      <p:sp>
        <p:nvSpPr>
          <p:cNvPr id="92" name="Rounded Rectangle 91"/>
          <p:cNvSpPr/>
          <p:nvPr/>
        </p:nvSpPr>
        <p:spPr>
          <a:xfrm>
            <a:off x="7680960" y="1051560"/>
            <a:ext cx="3566160" cy="534924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7680960" y="1051560"/>
            <a:ext cx="3566160" cy="64008"/>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788960" y="1143000"/>
            <a:ext cx="3566160" cy="365760"/>
          </a:xfrm>
          <a:prstGeom prst="rect">
            <a:avLst/>
          </a:prstGeom>
          <a:noFill/>
        </p:spPr>
        <p:txBody>
          <a:bodyPr wrap="square">
            <a:spAutoFit/>
          </a:bodyPr>
          <a:lstStyle/>
          <a:p>
            <a:pPr algn="l"/>
            <a:r>
              <a:rPr sz="1050" b="1" i="0">
                <a:solidFill>
                  <a:srgbClr val="008855"/>
                </a:solidFill>
                <a:latin typeface="Noto Sans JP"/>
              </a:rPr>
              <a:t>C. 社会保険・労務</a:t>
            </a:r>
          </a:p>
        </p:txBody>
      </p:sp>
      <p:sp>
        <p:nvSpPr>
          <p:cNvPr id="95" name="Rectangle 94"/>
          <p:cNvSpPr/>
          <p:nvPr/>
        </p:nvSpPr>
        <p:spPr>
          <a:xfrm>
            <a:off x="7770960" y="15627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8040960" y="1548360"/>
            <a:ext cx="378000" cy="864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040960" y="1541160"/>
            <a:ext cx="378000" cy="93600"/>
          </a:xfrm>
          <a:prstGeom prst="rect">
            <a:avLst/>
          </a:prstGeom>
          <a:noFill/>
        </p:spPr>
        <p:txBody>
          <a:bodyPr wrap="square">
            <a:spAutoFit/>
          </a:bodyPr>
          <a:lstStyle/>
          <a:p>
            <a:pPr algn="ctr"/>
            <a:r>
              <a:rPr sz="650" b="1" i="0">
                <a:solidFill>
                  <a:srgbClr val="FFFFFF"/>
                </a:solidFill>
                <a:latin typeface="Noto Sans JP"/>
              </a:rPr>
              <a:t>社労士</a:t>
            </a:r>
          </a:p>
        </p:txBody>
      </p:sp>
      <p:sp>
        <p:nvSpPr>
          <p:cNvPr id="98" name="TextBox 97"/>
          <p:cNvSpPr txBox="1"/>
          <p:nvPr/>
        </p:nvSpPr>
        <p:spPr>
          <a:xfrm>
            <a:off x="8472960" y="1519560"/>
            <a:ext cx="2702160" cy="274320"/>
          </a:xfrm>
          <a:prstGeom prst="rect">
            <a:avLst/>
          </a:prstGeom>
          <a:noFill/>
        </p:spPr>
        <p:txBody>
          <a:bodyPr wrap="square">
            <a:spAutoFit/>
          </a:bodyPr>
          <a:lstStyle/>
          <a:p>
            <a:pPr algn="l"/>
            <a:r>
              <a:rPr sz="950" b="1" i="0">
                <a:solidFill>
                  <a:srgbClr val="1A1A1A"/>
                </a:solidFill>
                <a:latin typeface="Noto Sans JP"/>
              </a:rPr>
              <a:t>健保・厚生年金 新規適用届</a:t>
            </a:r>
          </a:p>
        </p:txBody>
      </p:sp>
      <p:sp>
        <p:nvSpPr>
          <p:cNvPr id="99" name="TextBox 98"/>
          <p:cNvSpPr txBox="1"/>
          <p:nvPr/>
        </p:nvSpPr>
        <p:spPr>
          <a:xfrm>
            <a:off x="8040960" y="1670760"/>
            <a:ext cx="3134160" cy="292608"/>
          </a:xfrm>
          <a:prstGeom prst="rect">
            <a:avLst/>
          </a:prstGeom>
          <a:noFill/>
        </p:spPr>
        <p:txBody>
          <a:bodyPr wrap="square">
            <a:spAutoFit/>
          </a:bodyPr>
          <a:lstStyle/>
          <a:p>
            <a:pPr algn="l"/>
            <a:r>
              <a:rPr sz="750" b="0" i="0">
                <a:solidFill>
                  <a:srgbClr val="888888"/>
                </a:solidFill>
                <a:latin typeface="Noto Sans JP"/>
              </a:rPr>
              <a:t>設立から5日以内</a:t>
            </a:r>
          </a:p>
        </p:txBody>
      </p:sp>
      <p:sp>
        <p:nvSpPr>
          <p:cNvPr id="100" name="Rectangle 99"/>
          <p:cNvSpPr/>
          <p:nvPr/>
        </p:nvSpPr>
        <p:spPr>
          <a:xfrm>
            <a:off x="7770960" y="22485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8040960" y="2234160"/>
            <a:ext cx="378000" cy="864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040960" y="2226960"/>
            <a:ext cx="378000" cy="93600"/>
          </a:xfrm>
          <a:prstGeom prst="rect">
            <a:avLst/>
          </a:prstGeom>
          <a:noFill/>
        </p:spPr>
        <p:txBody>
          <a:bodyPr wrap="square">
            <a:spAutoFit/>
          </a:bodyPr>
          <a:lstStyle/>
          <a:p>
            <a:pPr algn="ctr"/>
            <a:r>
              <a:rPr sz="650" b="1" i="0">
                <a:solidFill>
                  <a:srgbClr val="FFFFFF"/>
                </a:solidFill>
                <a:latin typeface="Noto Sans JP"/>
              </a:rPr>
              <a:t>社労士</a:t>
            </a:r>
          </a:p>
        </p:txBody>
      </p:sp>
      <p:sp>
        <p:nvSpPr>
          <p:cNvPr id="103" name="TextBox 102"/>
          <p:cNvSpPr txBox="1"/>
          <p:nvPr/>
        </p:nvSpPr>
        <p:spPr>
          <a:xfrm>
            <a:off x="8472960" y="2205360"/>
            <a:ext cx="2702160" cy="274320"/>
          </a:xfrm>
          <a:prstGeom prst="rect">
            <a:avLst/>
          </a:prstGeom>
          <a:noFill/>
        </p:spPr>
        <p:txBody>
          <a:bodyPr wrap="square">
            <a:spAutoFit/>
          </a:bodyPr>
          <a:lstStyle/>
          <a:p>
            <a:pPr algn="l"/>
            <a:r>
              <a:rPr sz="950" b="1" i="0">
                <a:solidFill>
                  <a:srgbClr val="1A1A1A"/>
                </a:solidFill>
                <a:latin typeface="Noto Sans JP"/>
              </a:rPr>
              <a:t>雇用保険 適用事業所設置届</a:t>
            </a:r>
          </a:p>
        </p:txBody>
      </p:sp>
      <p:sp>
        <p:nvSpPr>
          <p:cNvPr id="104" name="TextBox 103"/>
          <p:cNvSpPr txBox="1"/>
          <p:nvPr/>
        </p:nvSpPr>
        <p:spPr>
          <a:xfrm>
            <a:off x="8040960" y="2356560"/>
            <a:ext cx="3134160" cy="292608"/>
          </a:xfrm>
          <a:prstGeom prst="rect">
            <a:avLst/>
          </a:prstGeom>
          <a:noFill/>
        </p:spPr>
        <p:txBody>
          <a:bodyPr wrap="square">
            <a:spAutoFit/>
          </a:bodyPr>
          <a:lstStyle/>
          <a:p>
            <a:pPr algn="l"/>
            <a:r>
              <a:rPr sz="750" b="0" i="0">
                <a:solidFill>
                  <a:srgbClr val="888888"/>
                </a:solidFill>
                <a:latin typeface="Noto Sans JP"/>
              </a:rPr>
              <a:t>設立翌日から10日以内</a:t>
            </a:r>
          </a:p>
        </p:txBody>
      </p:sp>
      <p:sp>
        <p:nvSpPr>
          <p:cNvPr id="105" name="Rectangle 104"/>
          <p:cNvSpPr/>
          <p:nvPr/>
        </p:nvSpPr>
        <p:spPr>
          <a:xfrm>
            <a:off x="7770960" y="29343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8040960" y="2919960"/>
            <a:ext cx="378000" cy="864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040960" y="2912760"/>
            <a:ext cx="378000" cy="93600"/>
          </a:xfrm>
          <a:prstGeom prst="rect">
            <a:avLst/>
          </a:prstGeom>
          <a:noFill/>
        </p:spPr>
        <p:txBody>
          <a:bodyPr wrap="square">
            <a:spAutoFit/>
          </a:bodyPr>
          <a:lstStyle/>
          <a:p>
            <a:pPr algn="ctr"/>
            <a:r>
              <a:rPr sz="650" b="1" i="0">
                <a:solidFill>
                  <a:srgbClr val="FFFFFF"/>
                </a:solidFill>
                <a:latin typeface="Noto Sans JP"/>
              </a:rPr>
              <a:t>社労士</a:t>
            </a:r>
          </a:p>
        </p:txBody>
      </p:sp>
      <p:sp>
        <p:nvSpPr>
          <p:cNvPr id="108" name="TextBox 107"/>
          <p:cNvSpPr txBox="1"/>
          <p:nvPr/>
        </p:nvSpPr>
        <p:spPr>
          <a:xfrm>
            <a:off x="8472960" y="2891160"/>
            <a:ext cx="2702160" cy="274320"/>
          </a:xfrm>
          <a:prstGeom prst="rect">
            <a:avLst/>
          </a:prstGeom>
          <a:noFill/>
        </p:spPr>
        <p:txBody>
          <a:bodyPr wrap="square">
            <a:spAutoFit/>
          </a:bodyPr>
          <a:lstStyle/>
          <a:p>
            <a:pPr algn="l"/>
            <a:r>
              <a:rPr sz="950" b="1" i="0">
                <a:solidFill>
                  <a:srgbClr val="1A1A1A"/>
                </a:solidFill>
                <a:latin typeface="Noto Sans JP"/>
              </a:rPr>
              <a:t>労災保険 保険関係成立届</a:t>
            </a:r>
          </a:p>
        </p:txBody>
      </p:sp>
      <p:sp>
        <p:nvSpPr>
          <p:cNvPr id="109" name="TextBox 108"/>
          <p:cNvSpPr txBox="1"/>
          <p:nvPr/>
        </p:nvSpPr>
        <p:spPr>
          <a:xfrm>
            <a:off x="8040960" y="3042360"/>
            <a:ext cx="3134160" cy="292608"/>
          </a:xfrm>
          <a:prstGeom prst="rect">
            <a:avLst/>
          </a:prstGeom>
          <a:noFill/>
        </p:spPr>
        <p:txBody>
          <a:bodyPr wrap="square">
            <a:spAutoFit/>
          </a:bodyPr>
          <a:lstStyle/>
          <a:p>
            <a:pPr algn="l"/>
            <a:r>
              <a:rPr sz="750" b="0" i="0">
                <a:solidFill>
                  <a:srgbClr val="888888"/>
                </a:solidFill>
                <a:latin typeface="Noto Sans JP"/>
              </a:rPr>
              <a:t>保険関係成立翌日から10日以内</a:t>
            </a:r>
          </a:p>
        </p:txBody>
      </p:sp>
      <p:sp>
        <p:nvSpPr>
          <p:cNvPr id="110" name="Rectangle 109"/>
          <p:cNvSpPr/>
          <p:nvPr/>
        </p:nvSpPr>
        <p:spPr>
          <a:xfrm>
            <a:off x="7770960" y="36201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8040960" y="3605760"/>
            <a:ext cx="378000" cy="864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8040960" y="3598560"/>
            <a:ext cx="378000" cy="93600"/>
          </a:xfrm>
          <a:prstGeom prst="rect">
            <a:avLst/>
          </a:prstGeom>
          <a:noFill/>
        </p:spPr>
        <p:txBody>
          <a:bodyPr wrap="square">
            <a:spAutoFit/>
          </a:bodyPr>
          <a:lstStyle/>
          <a:p>
            <a:pPr algn="ctr"/>
            <a:r>
              <a:rPr sz="650" b="1" i="0">
                <a:solidFill>
                  <a:srgbClr val="FFFFFF"/>
                </a:solidFill>
                <a:latin typeface="Noto Sans JP"/>
              </a:rPr>
              <a:t>社長</a:t>
            </a:r>
          </a:p>
        </p:txBody>
      </p:sp>
      <p:sp>
        <p:nvSpPr>
          <p:cNvPr id="113" name="TextBox 112"/>
          <p:cNvSpPr txBox="1"/>
          <p:nvPr/>
        </p:nvSpPr>
        <p:spPr>
          <a:xfrm>
            <a:off x="8472960" y="3576960"/>
            <a:ext cx="2702160" cy="274320"/>
          </a:xfrm>
          <a:prstGeom prst="rect">
            <a:avLst/>
          </a:prstGeom>
          <a:noFill/>
        </p:spPr>
        <p:txBody>
          <a:bodyPr wrap="square">
            <a:spAutoFit/>
          </a:bodyPr>
          <a:lstStyle/>
          <a:p>
            <a:pPr algn="l"/>
            <a:r>
              <a:rPr sz="950" b="1" i="0">
                <a:solidFill>
                  <a:srgbClr val="1A1A1A"/>
                </a:solidFill>
                <a:latin typeface="Noto Sans JP"/>
              </a:rPr>
              <a:t>役員報酬の決定</a:t>
            </a:r>
          </a:p>
        </p:txBody>
      </p:sp>
      <p:sp>
        <p:nvSpPr>
          <p:cNvPr id="114" name="TextBox 113"/>
          <p:cNvSpPr txBox="1"/>
          <p:nvPr/>
        </p:nvSpPr>
        <p:spPr>
          <a:xfrm>
            <a:off x="8040960" y="3728160"/>
            <a:ext cx="3134160" cy="292608"/>
          </a:xfrm>
          <a:prstGeom prst="rect">
            <a:avLst/>
          </a:prstGeom>
          <a:noFill/>
        </p:spPr>
        <p:txBody>
          <a:bodyPr wrap="square">
            <a:spAutoFit/>
          </a:bodyPr>
          <a:lstStyle/>
          <a:p>
            <a:pPr algn="l"/>
            <a:r>
              <a:rPr sz="750" b="0" i="0">
                <a:solidFill>
                  <a:srgbClr val="888888"/>
                </a:solidFill>
                <a:latin typeface="Noto Sans JP"/>
              </a:rPr>
              <a:t>設立後3ヶ月以内（定期同額給与の要件）</a:t>
            </a:r>
          </a:p>
        </p:txBody>
      </p:sp>
      <p:sp>
        <p:nvSpPr>
          <p:cNvPr id="115" name="Rectangle 114"/>
          <p:cNvSpPr/>
          <p:nvPr/>
        </p:nvSpPr>
        <p:spPr>
          <a:xfrm>
            <a:off x="7770960" y="43059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8040960" y="4291560"/>
            <a:ext cx="378000" cy="864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8040960" y="4284360"/>
            <a:ext cx="378000" cy="93600"/>
          </a:xfrm>
          <a:prstGeom prst="rect">
            <a:avLst/>
          </a:prstGeom>
          <a:noFill/>
        </p:spPr>
        <p:txBody>
          <a:bodyPr wrap="square">
            <a:spAutoFit/>
          </a:bodyPr>
          <a:lstStyle/>
          <a:p>
            <a:pPr algn="ctr"/>
            <a:r>
              <a:rPr sz="650" b="1" i="0">
                <a:solidFill>
                  <a:srgbClr val="FFFFFF"/>
                </a:solidFill>
                <a:latin typeface="Noto Sans JP"/>
              </a:rPr>
              <a:t>社労士</a:t>
            </a:r>
          </a:p>
        </p:txBody>
      </p:sp>
      <p:sp>
        <p:nvSpPr>
          <p:cNvPr id="118" name="TextBox 117"/>
          <p:cNvSpPr txBox="1"/>
          <p:nvPr/>
        </p:nvSpPr>
        <p:spPr>
          <a:xfrm>
            <a:off x="8472960" y="4262760"/>
            <a:ext cx="2702160" cy="274320"/>
          </a:xfrm>
          <a:prstGeom prst="rect">
            <a:avLst/>
          </a:prstGeom>
          <a:noFill/>
        </p:spPr>
        <p:txBody>
          <a:bodyPr wrap="square">
            <a:spAutoFit/>
          </a:bodyPr>
          <a:lstStyle/>
          <a:p>
            <a:pPr algn="l"/>
            <a:r>
              <a:rPr sz="950" b="1" i="0">
                <a:solidFill>
                  <a:srgbClr val="1A1A1A"/>
                </a:solidFill>
                <a:latin typeface="Noto Sans JP"/>
              </a:rPr>
              <a:t>就業規則の作成</a:t>
            </a:r>
          </a:p>
        </p:txBody>
      </p:sp>
      <p:sp>
        <p:nvSpPr>
          <p:cNvPr id="119" name="TextBox 118"/>
          <p:cNvSpPr txBox="1"/>
          <p:nvPr/>
        </p:nvSpPr>
        <p:spPr>
          <a:xfrm>
            <a:off x="8040960" y="4413960"/>
            <a:ext cx="3134160" cy="292608"/>
          </a:xfrm>
          <a:prstGeom prst="rect">
            <a:avLst/>
          </a:prstGeom>
          <a:noFill/>
        </p:spPr>
        <p:txBody>
          <a:bodyPr wrap="square">
            <a:spAutoFit/>
          </a:bodyPr>
          <a:lstStyle/>
          <a:p>
            <a:pPr algn="l"/>
            <a:r>
              <a:rPr sz="750" b="0" i="0">
                <a:solidFill>
                  <a:srgbClr val="888888"/>
                </a:solidFill>
                <a:latin typeface="Noto Sans JP"/>
              </a:rPr>
              <a:t>常時10人以上は届出義務あり</a:t>
            </a:r>
          </a:p>
        </p:txBody>
      </p:sp>
      <p:sp>
        <p:nvSpPr>
          <p:cNvPr id="120" name="Rectangle 119"/>
          <p:cNvSpPr/>
          <p:nvPr/>
        </p:nvSpPr>
        <p:spPr>
          <a:xfrm>
            <a:off x="7770960" y="49917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8040960" y="4977360"/>
            <a:ext cx="378000" cy="864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8040960" y="4970160"/>
            <a:ext cx="378000" cy="93600"/>
          </a:xfrm>
          <a:prstGeom prst="rect">
            <a:avLst/>
          </a:prstGeom>
          <a:noFill/>
        </p:spPr>
        <p:txBody>
          <a:bodyPr wrap="square">
            <a:spAutoFit/>
          </a:bodyPr>
          <a:lstStyle/>
          <a:p>
            <a:pPr algn="ctr"/>
            <a:r>
              <a:rPr sz="650" b="1" i="0">
                <a:solidFill>
                  <a:srgbClr val="FFFFFF"/>
                </a:solidFill>
                <a:latin typeface="Noto Sans JP"/>
              </a:rPr>
              <a:t>社労士</a:t>
            </a:r>
          </a:p>
        </p:txBody>
      </p:sp>
      <p:sp>
        <p:nvSpPr>
          <p:cNvPr id="123" name="TextBox 122"/>
          <p:cNvSpPr txBox="1"/>
          <p:nvPr/>
        </p:nvSpPr>
        <p:spPr>
          <a:xfrm>
            <a:off x="8472960" y="4948560"/>
            <a:ext cx="2702160" cy="274320"/>
          </a:xfrm>
          <a:prstGeom prst="rect">
            <a:avLst/>
          </a:prstGeom>
          <a:noFill/>
        </p:spPr>
        <p:txBody>
          <a:bodyPr wrap="square">
            <a:spAutoFit/>
          </a:bodyPr>
          <a:lstStyle/>
          <a:p>
            <a:pPr algn="l"/>
            <a:r>
              <a:rPr sz="950" b="1" i="0">
                <a:solidFill>
                  <a:srgbClr val="1A1A1A"/>
                </a:solidFill>
                <a:latin typeface="Noto Sans JP"/>
              </a:rPr>
              <a:t>雇用契約書・労働条件通知書</a:t>
            </a:r>
          </a:p>
        </p:txBody>
      </p:sp>
      <p:sp>
        <p:nvSpPr>
          <p:cNvPr id="124" name="TextBox 123"/>
          <p:cNvSpPr txBox="1"/>
          <p:nvPr/>
        </p:nvSpPr>
        <p:spPr>
          <a:xfrm>
            <a:off x="8040960" y="5099760"/>
            <a:ext cx="3134160" cy="292608"/>
          </a:xfrm>
          <a:prstGeom prst="rect">
            <a:avLst/>
          </a:prstGeom>
          <a:noFill/>
        </p:spPr>
        <p:txBody>
          <a:bodyPr wrap="square">
            <a:spAutoFit/>
          </a:bodyPr>
          <a:lstStyle/>
          <a:p>
            <a:pPr algn="l"/>
            <a:r>
              <a:rPr sz="750" b="0" i="0">
                <a:solidFill>
                  <a:srgbClr val="888888"/>
                </a:solidFill>
                <a:latin typeface="Noto Sans JP"/>
              </a:rPr>
              <a:t>雇用開始前に交付が必要</a:t>
            </a:r>
          </a:p>
        </p:txBody>
      </p:sp>
      <p:sp>
        <p:nvSpPr>
          <p:cNvPr id="125" name="Rectangle 124"/>
          <p:cNvSpPr/>
          <p:nvPr/>
        </p:nvSpPr>
        <p:spPr>
          <a:xfrm>
            <a:off x="7770960" y="56775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8040960" y="5663160"/>
            <a:ext cx="378000" cy="86400"/>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8040960" y="5655960"/>
            <a:ext cx="378000" cy="93600"/>
          </a:xfrm>
          <a:prstGeom prst="rect">
            <a:avLst/>
          </a:prstGeom>
          <a:noFill/>
        </p:spPr>
        <p:txBody>
          <a:bodyPr wrap="square">
            <a:spAutoFit/>
          </a:bodyPr>
          <a:lstStyle/>
          <a:p>
            <a:pPr algn="ctr"/>
            <a:r>
              <a:rPr sz="650" b="1" i="0">
                <a:solidFill>
                  <a:srgbClr val="FFFFFF"/>
                </a:solidFill>
                <a:latin typeface="Noto Sans JP"/>
              </a:rPr>
              <a:t>SRA支援</a:t>
            </a:r>
          </a:p>
        </p:txBody>
      </p:sp>
      <p:sp>
        <p:nvSpPr>
          <p:cNvPr id="128" name="TextBox 127"/>
          <p:cNvSpPr txBox="1"/>
          <p:nvPr/>
        </p:nvSpPr>
        <p:spPr>
          <a:xfrm>
            <a:off x="8472960" y="5634360"/>
            <a:ext cx="2702160" cy="274320"/>
          </a:xfrm>
          <a:prstGeom prst="rect">
            <a:avLst/>
          </a:prstGeom>
          <a:noFill/>
        </p:spPr>
        <p:txBody>
          <a:bodyPr wrap="square">
            <a:spAutoFit/>
          </a:bodyPr>
          <a:lstStyle/>
          <a:p>
            <a:pPr algn="l"/>
            <a:r>
              <a:rPr sz="950" b="1" i="0">
                <a:solidFill>
                  <a:srgbClr val="1A1A1A"/>
                </a:solidFill>
                <a:latin typeface="Noto Sans JP"/>
              </a:rPr>
              <a:t>給与規程・旅費規程の整備</a:t>
            </a:r>
          </a:p>
        </p:txBody>
      </p:sp>
      <p:sp>
        <p:nvSpPr>
          <p:cNvPr id="129" name="TextBox 128"/>
          <p:cNvSpPr txBox="1"/>
          <p:nvPr/>
        </p:nvSpPr>
        <p:spPr>
          <a:xfrm>
            <a:off x="8040960" y="5785560"/>
            <a:ext cx="3134160" cy="292608"/>
          </a:xfrm>
          <a:prstGeom prst="rect">
            <a:avLst/>
          </a:prstGeom>
          <a:noFill/>
        </p:spPr>
        <p:txBody>
          <a:bodyPr wrap="square">
            <a:spAutoFit/>
          </a:bodyPr>
          <a:lstStyle/>
          <a:p>
            <a:pPr algn="l"/>
            <a:r>
              <a:rPr sz="750" b="0" i="0">
                <a:solidFill>
                  <a:srgbClr val="888888"/>
                </a:solidFill>
                <a:latin typeface="Noto Sans JP"/>
              </a:rPr>
              <a:t>経費精算ルールの明文化</a:t>
            </a:r>
          </a:p>
        </p:txBody>
      </p:sp>
      <p:sp>
        <p:nvSpPr>
          <p:cNvPr id="130" name="TextBox 129"/>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届出書の提出期限は設立日基準のものが多く、遅延すると不利益が生じます。提出は当事務所が代行いたします（C列は社労士へご依頼いたします）。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02</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月次の社内業務チェックリスト</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まず3つのルールから始めてください。あとはSRAがサポートします。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02</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02</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月次の社内業務チェックリスト</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960120"/>
            <a:ext cx="11887200" cy="96012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 y="960120"/>
            <a:ext cx="91440" cy="9601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96696"/>
            <a:ext cx="11430000" cy="347472"/>
          </a:xfrm>
          <a:prstGeom prst="rect">
            <a:avLst/>
          </a:prstGeom>
          <a:noFill/>
        </p:spPr>
        <p:txBody>
          <a:bodyPr wrap="square">
            <a:spAutoFit/>
          </a:bodyPr>
          <a:lstStyle/>
          <a:p>
            <a:pPr algn="l"/>
            <a:r>
              <a:rPr sz="1100" b="1" i="0">
                <a:solidFill>
                  <a:srgbClr val="CC0000"/>
                </a:solidFill>
                <a:latin typeface="Noto Sans JP"/>
              </a:rPr>
              <a:t>まず、これだけ！3つのルール（仕訳は当事務所がチェックいたします。社長様はこれだけご意識ください）</a:t>
            </a:r>
          </a:p>
        </p:txBody>
      </p:sp>
      <p:sp>
        <p:nvSpPr>
          <p:cNvPr id="9" name="TextBox 8"/>
          <p:cNvSpPr txBox="1"/>
          <p:nvPr/>
        </p:nvSpPr>
        <p:spPr>
          <a:xfrm>
            <a:off x="457200" y="1399032"/>
            <a:ext cx="11430000" cy="411480"/>
          </a:xfrm>
          <a:prstGeom prst="rect">
            <a:avLst/>
          </a:prstGeom>
          <a:noFill/>
        </p:spPr>
        <p:txBody>
          <a:bodyPr wrap="square">
            <a:spAutoFit/>
          </a:bodyPr>
          <a:lstStyle/>
          <a:p>
            <a:pPr algn="l"/>
            <a:r>
              <a:rPr sz="1000" b="0" i="0">
                <a:solidFill>
                  <a:srgbClr val="444444"/>
                </a:solidFill>
                <a:latin typeface="Noto Sans JP"/>
              </a:rPr>
              <a:t>① 領収書は捨てずに箱 or MFクラウドで写真撮影してください    ② 会社の経費は個人のお財布からお支払いにならないようにしてください    ③ 月末に取引先への請求書を必ずご発行ください</a:t>
            </a:r>
          </a:p>
        </p:txBody>
      </p:sp>
      <p:sp>
        <p:nvSpPr>
          <p:cNvPr id="10" name="Rounded Rectangle 9"/>
          <p:cNvSpPr/>
          <p:nvPr/>
        </p:nvSpPr>
        <p:spPr>
          <a:xfrm>
            <a:off x="182880" y="2057400"/>
            <a:ext cx="2651760" cy="4069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82880" y="2057400"/>
            <a:ext cx="2651760" cy="64008"/>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4880" y="2148840"/>
            <a:ext cx="2651760" cy="365760"/>
          </a:xfrm>
          <a:prstGeom prst="rect">
            <a:avLst/>
          </a:prstGeom>
          <a:noFill/>
        </p:spPr>
        <p:txBody>
          <a:bodyPr wrap="square">
            <a:spAutoFit/>
          </a:bodyPr>
          <a:lstStyle/>
          <a:p>
            <a:pPr algn="ctr"/>
            <a:r>
              <a:rPr sz="1200" b="1" i="0">
                <a:solidFill>
                  <a:srgbClr val="6622AA"/>
                </a:solidFill>
                <a:latin typeface="Noto Sans JP"/>
              </a:rPr>
              <a:t>日次</a:t>
            </a:r>
          </a:p>
        </p:txBody>
      </p:sp>
      <p:sp>
        <p:nvSpPr>
          <p:cNvPr id="13" name="Rectangle 12"/>
          <p:cNvSpPr/>
          <p:nvPr/>
        </p:nvSpPr>
        <p:spPr>
          <a:xfrm>
            <a:off x="272880" y="2568600"/>
            <a:ext cx="151200" cy="151200"/>
          </a:xfrm>
          <a:prstGeom prst="rect">
            <a:avLst/>
          </a:prstGeom>
          <a:no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4880" y="2514600"/>
            <a:ext cx="2255760" cy="256032"/>
          </a:xfrm>
          <a:prstGeom prst="rect">
            <a:avLst/>
          </a:prstGeom>
          <a:noFill/>
        </p:spPr>
        <p:txBody>
          <a:bodyPr wrap="square">
            <a:spAutoFit/>
          </a:bodyPr>
          <a:lstStyle/>
          <a:p>
            <a:pPr algn="l"/>
            <a:r>
              <a:rPr sz="900" b="1" i="0">
                <a:solidFill>
                  <a:srgbClr val="1A1A1A"/>
                </a:solidFill>
                <a:latin typeface="Noto Sans JP"/>
              </a:rPr>
              <a:t>領収書・請求書の収集</a:t>
            </a:r>
          </a:p>
        </p:txBody>
      </p:sp>
      <p:sp>
        <p:nvSpPr>
          <p:cNvPr id="15" name="TextBox 14"/>
          <p:cNvSpPr txBox="1"/>
          <p:nvPr/>
        </p:nvSpPr>
        <p:spPr>
          <a:xfrm>
            <a:off x="524880" y="2761488"/>
            <a:ext cx="2255760" cy="274320"/>
          </a:xfrm>
          <a:prstGeom prst="rect">
            <a:avLst/>
          </a:prstGeom>
          <a:noFill/>
        </p:spPr>
        <p:txBody>
          <a:bodyPr wrap="square">
            <a:spAutoFit/>
          </a:bodyPr>
          <a:lstStyle/>
          <a:p>
            <a:pPr algn="l"/>
            <a:r>
              <a:rPr sz="750" b="0" i="0">
                <a:solidFill>
                  <a:srgbClr val="888888"/>
                </a:solidFill>
                <a:latin typeface="Noto Sans JP"/>
              </a:rPr>
              <a:t>紙・電子ともに当日中に保管</a:t>
            </a:r>
          </a:p>
        </p:txBody>
      </p:sp>
      <p:sp>
        <p:nvSpPr>
          <p:cNvPr id="16" name="Rectangle 15"/>
          <p:cNvSpPr/>
          <p:nvPr/>
        </p:nvSpPr>
        <p:spPr>
          <a:xfrm>
            <a:off x="272880" y="3135528"/>
            <a:ext cx="151200" cy="151200"/>
          </a:xfrm>
          <a:prstGeom prst="rect">
            <a:avLst/>
          </a:prstGeom>
          <a:no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4880" y="3081528"/>
            <a:ext cx="2255760" cy="256032"/>
          </a:xfrm>
          <a:prstGeom prst="rect">
            <a:avLst/>
          </a:prstGeom>
          <a:noFill/>
        </p:spPr>
        <p:txBody>
          <a:bodyPr wrap="square">
            <a:spAutoFit/>
          </a:bodyPr>
          <a:lstStyle/>
          <a:p>
            <a:pPr algn="l"/>
            <a:r>
              <a:rPr sz="900" b="1" i="0">
                <a:solidFill>
                  <a:srgbClr val="1A1A1A"/>
                </a:solidFill>
                <a:latin typeface="Noto Sans JP"/>
              </a:rPr>
              <a:t>現金出納帳の記帳</a:t>
            </a:r>
          </a:p>
        </p:txBody>
      </p:sp>
      <p:sp>
        <p:nvSpPr>
          <p:cNvPr id="18" name="TextBox 17"/>
          <p:cNvSpPr txBox="1"/>
          <p:nvPr/>
        </p:nvSpPr>
        <p:spPr>
          <a:xfrm>
            <a:off x="524880" y="3328416"/>
            <a:ext cx="2255760" cy="274320"/>
          </a:xfrm>
          <a:prstGeom prst="rect">
            <a:avLst/>
          </a:prstGeom>
          <a:noFill/>
        </p:spPr>
        <p:txBody>
          <a:bodyPr wrap="square">
            <a:spAutoFit/>
          </a:bodyPr>
          <a:lstStyle/>
          <a:p>
            <a:pPr algn="l"/>
            <a:r>
              <a:rPr sz="750" b="0" i="0">
                <a:solidFill>
                  <a:srgbClr val="888888"/>
                </a:solidFill>
                <a:latin typeface="Noto Sans JP"/>
              </a:rPr>
              <a:t>現金残高を実際に確認</a:t>
            </a:r>
          </a:p>
        </p:txBody>
      </p:sp>
      <p:sp>
        <p:nvSpPr>
          <p:cNvPr id="19" name="Rectangle 18"/>
          <p:cNvSpPr/>
          <p:nvPr/>
        </p:nvSpPr>
        <p:spPr>
          <a:xfrm>
            <a:off x="272880" y="3702456"/>
            <a:ext cx="151200" cy="151200"/>
          </a:xfrm>
          <a:prstGeom prst="rect">
            <a:avLst/>
          </a:prstGeom>
          <a:no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4880" y="3648456"/>
            <a:ext cx="2255760" cy="256032"/>
          </a:xfrm>
          <a:prstGeom prst="rect">
            <a:avLst/>
          </a:prstGeom>
          <a:noFill/>
        </p:spPr>
        <p:txBody>
          <a:bodyPr wrap="square">
            <a:spAutoFit/>
          </a:bodyPr>
          <a:lstStyle/>
          <a:p>
            <a:pPr algn="l"/>
            <a:r>
              <a:rPr sz="900" b="1" i="0">
                <a:solidFill>
                  <a:srgbClr val="1A1A1A"/>
                </a:solidFill>
                <a:latin typeface="Noto Sans JP"/>
              </a:rPr>
              <a:t>銀行入出金の確認</a:t>
            </a:r>
          </a:p>
        </p:txBody>
      </p:sp>
      <p:sp>
        <p:nvSpPr>
          <p:cNvPr id="21" name="TextBox 20"/>
          <p:cNvSpPr txBox="1"/>
          <p:nvPr/>
        </p:nvSpPr>
        <p:spPr>
          <a:xfrm>
            <a:off x="524880" y="3895344"/>
            <a:ext cx="2255760" cy="274320"/>
          </a:xfrm>
          <a:prstGeom prst="rect">
            <a:avLst/>
          </a:prstGeom>
          <a:noFill/>
        </p:spPr>
        <p:txBody>
          <a:bodyPr wrap="square">
            <a:spAutoFit/>
          </a:bodyPr>
          <a:lstStyle/>
          <a:p>
            <a:pPr algn="l"/>
            <a:r>
              <a:rPr sz="750" b="0" i="0">
                <a:solidFill>
                  <a:srgbClr val="888888"/>
                </a:solidFill>
                <a:latin typeface="Noto Sans JP"/>
              </a:rPr>
              <a:t>ネットバンキングで毎日チェック</a:t>
            </a:r>
          </a:p>
        </p:txBody>
      </p:sp>
      <p:sp>
        <p:nvSpPr>
          <p:cNvPr id="22" name="Rectangle 21"/>
          <p:cNvSpPr/>
          <p:nvPr/>
        </p:nvSpPr>
        <p:spPr>
          <a:xfrm>
            <a:off x="272880" y="4269384"/>
            <a:ext cx="151200" cy="151200"/>
          </a:xfrm>
          <a:prstGeom prst="rect">
            <a:avLst/>
          </a:prstGeom>
          <a:no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4880" y="4215384"/>
            <a:ext cx="2255760" cy="256032"/>
          </a:xfrm>
          <a:prstGeom prst="rect">
            <a:avLst/>
          </a:prstGeom>
          <a:noFill/>
        </p:spPr>
        <p:txBody>
          <a:bodyPr wrap="square">
            <a:spAutoFit/>
          </a:bodyPr>
          <a:lstStyle/>
          <a:p>
            <a:pPr algn="l"/>
            <a:r>
              <a:rPr sz="900" b="1" i="0">
                <a:solidFill>
                  <a:srgbClr val="1A1A1A"/>
                </a:solidFill>
                <a:latin typeface="Noto Sans JP"/>
              </a:rPr>
              <a:t>売上・入金の記録</a:t>
            </a:r>
          </a:p>
        </p:txBody>
      </p:sp>
      <p:sp>
        <p:nvSpPr>
          <p:cNvPr id="24" name="TextBox 23"/>
          <p:cNvSpPr txBox="1"/>
          <p:nvPr/>
        </p:nvSpPr>
        <p:spPr>
          <a:xfrm>
            <a:off x="524880" y="4462272"/>
            <a:ext cx="2255760" cy="274320"/>
          </a:xfrm>
          <a:prstGeom prst="rect">
            <a:avLst/>
          </a:prstGeom>
          <a:noFill/>
        </p:spPr>
        <p:txBody>
          <a:bodyPr wrap="square">
            <a:spAutoFit/>
          </a:bodyPr>
          <a:lstStyle/>
          <a:p>
            <a:pPr algn="l"/>
            <a:r>
              <a:rPr sz="750" b="0" i="0">
                <a:solidFill>
                  <a:srgbClr val="888888"/>
                </a:solidFill>
                <a:latin typeface="Noto Sans JP"/>
              </a:rPr>
              <a:t>入金漏れを早期発見するため</a:t>
            </a:r>
          </a:p>
        </p:txBody>
      </p:sp>
      <p:sp>
        <p:nvSpPr>
          <p:cNvPr id="25" name="Rounded Rectangle 24"/>
          <p:cNvSpPr/>
          <p:nvPr/>
        </p:nvSpPr>
        <p:spPr>
          <a:xfrm>
            <a:off x="3108960" y="2057400"/>
            <a:ext cx="2651760" cy="4069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108960" y="2057400"/>
            <a:ext cx="2651760" cy="64008"/>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80960" y="2148840"/>
            <a:ext cx="2651760" cy="365760"/>
          </a:xfrm>
          <a:prstGeom prst="rect">
            <a:avLst/>
          </a:prstGeom>
          <a:noFill/>
        </p:spPr>
        <p:txBody>
          <a:bodyPr wrap="square">
            <a:spAutoFit/>
          </a:bodyPr>
          <a:lstStyle/>
          <a:p>
            <a:pPr algn="ctr"/>
            <a:r>
              <a:rPr sz="1200" b="1" i="0">
                <a:solidFill>
                  <a:srgbClr val="2255CC"/>
                </a:solidFill>
                <a:latin typeface="Noto Sans JP"/>
              </a:rPr>
              <a:t>週次</a:t>
            </a:r>
          </a:p>
        </p:txBody>
      </p:sp>
      <p:sp>
        <p:nvSpPr>
          <p:cNvPr id="28" name="Rectangle 27"/>
          <p:cNvSpPr/>
          <p:nvPr/>
        </p:nvSpPr>
        <p:spPr>
          <a:xfrm>
            <a:off x="3198960" y="256860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50960" y="2514600"/>
            <a:ext cx="2255760" cy="256032"/>
          </a:xfrm>
          <a:prstGeom prst="rect">
            <a:avLst/>
          </a:prstGeom>
          <a:noFill/>
        </p:spPr>
        <p:txBody>
          <a:bodyPr wrap="square">
            <a:spAutoFit/>
          </a:bodyPr>
          <a:lstStyle/>
          <a:p>
            <a:pPr algn="l"/>
            <a:r>
              <a:rPr sz="900" b="1" i="0">
                <a:solidFill>
                  <a:srgbClr val="1A1A1A"/>
                </a:solidFill>
                <a:latin typeface="Noto Sans JP"/>
              </a:rPr>
              <a:t>仕訳入力（会計ソフト）</a:t>
            </a:r>
          </a:p>
        </p:txBody>
      </p:sp>
      <p:sp>
        <p:nvSpPr>
          <p:cNvPr id="30" name="TextBox 29"/>
          <p:cNvSpPr txBox="1"/>
          <p:nvPr/>
        </p:nvSpPr>
        <p:spPr>
          <a:xfrm>
            <a:off x="3450960" y="2761488"/>
            <a:ext cx="2255760" cy="274320"/>
          </a:xfrm>
          <a:prstGeom prst="rect">
            <a:avLst/>
          </a:prstGeom>
          <a:noFill/>
        </p:spPr>
        <p:txBody>
          <a:bodyPr wrap="square">
            <a:spAutoFit/>
          </a:bodyPr>
          <a:lstStyle/>
          <a:p>
            <a:pPr algn="l"/>
            <a:r>
              <a:rPr sz="750" b="0" i="0">
                <a:solidFill>
                  <a:srgbClr val="888888"/>
                </a:solidFill>
                <a:latin typeface="Noto Sans JP"/>
              </a:rPr>
              <a:t>週1回まとめて入力が目安</a:t>
            </a:r>
          </a:p>
        </p:txBody>
      </p:sp>
      <p:sp>
        <p:nvSpPr>
          <p:cNvPr id="31" name="Rectangle 30"/>
          <p:cNvSpPr/>
          <p:nvPr/>
        </p:nvSpPr>
        <p:spPr>
          <a:xfrm>
            <a:off x="3198960" y="3135528"/>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50960" y="3081528"/>
            <a:ext cx="2255760" cy="256032"/>
          </a:xfrm>
          <a:prstGeom prst="rect">
            <a:avLst/>
          </a:prstGeom>
          <a:noFill/>
        </p:spPr>
        <p:txBody>
          <a:bodyPr wrap="square">
            <a:spAutoFit/>
          </a:bodyPr>
          <a:lstStyle/>
          <a:p>
            <a:pPr algn="l"/>
            <a:r>
              <a:rPr sz="900" b="1" i="0">
                <a:solidFill>
                  <a:srgbClr val="1A1A1A"/>
                </a:solidFill>
                <a:latin typeface="Noto Sans JP"/>
              </a:rPr>
              <a:t>未払請求書の確認</a:t>
            </a:r>
          </a:p>
        </p:txBody>
      </p:sp>
      <p:sp>
        <p:nvSpPr>
          <p:cNvPr id="33" name="TextBox 32"/>
          <p:cNvSpPr txBox="1"/>
          <p:nvPr/>
        </p:nvSpPr>
        <p:spPr>
          <a:xfrm>
            <a:off x="3450960" y="3328416"/>
            <a:ext cx="2255760" cy="274320"/>
          </a:xfrm>
          <a:prstGeom prst="rect">
            <a:avLst/>
          </a:prstGeom>
          <a:noFill/>
        </p:spPr>
        <p:txBody>
          <a:bodyPr wrap="square">
            <a:spAutoFit/>
          </a:bodyPr>
          <a:lstStyle/>
          <a:p>
            <a:pPr algn="l"/>
            <a:r>
              <a:rPr sz="750" b="0" i="0">
                <a:solidFill>
                  <a:srgbClr val="888888"/>
                </a:solidFill>
                <a:latin typeface="Noto Sans JP"/>
              </a:rPr>
              <a:t>支払期日の管理</a:t>
            </a:r>
          </a:p>
        </p:txBody>
      </p:sp>
      <p:sp>
        <p:nvSpPr>
          <p:cNvPr id="34" name="Rectangle 33"/>
          <p:cNvSpPr/>
          <p:nvPr/>
        </p:nvSpPr>
        <p:spPr>
          <a:xfrm>
            <a:off x="3198960" y="3702456"/>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50960" y="3648456"/>
            <a:ext cx="2255760" cy="256032"/>
          </a:xfrm>
          <a:prstGeom prst="rect">
            <a:avLst/>
          </a:prstGeom>
          <a:noFill/>
        </p:spPr>
        <p:txBody>
          <a:bodyPr wrap="square">
            <a:spAutoFit/>
          </a:bodyPr>
          <a:lstStyle/>
          <a:p>
            <a:pPr algn="l"/>
            <a:r>
              <a:rPr sz="900" b="1" i="0">
                <a:solidFill>
                  <a:srgbClr val="1A1A1A"/>
                </a:solidFill>
                <a:latin typeface="Noto Sans JP"/>
              </a:rPr>
              <a:t>売掛金・買掛金の確認</a:t>
            </a:r>
          </a:p>
        </p:txBody>
      </p:sp>
      <p:sp>
        <p:nvSpPr>
          <p:cNvPr id="36" name="TextBox 35"/>
          <p:cNvSpPr txBox="1"/>
          <p:nvPr/>
        </p:nvSpPr>
        <p:spPr>
          <a:xfrm>
            <a:off x="3450960" y="3895344"/>
            <a:ext cx="2255760" cy="274320"/>
          </a:xfrm>
          <a:prstGeom prst="rect">
            <a:avLst/>
          </a:prstGeom>
          <a:noFill/>
        </p:spPr>
        <p:txBody>
          <a:bodyPr wrap="square">
            <a:spAutoFit/>
          </a:bodyPr>
          <a:lstStyle/>
          <a:p>
            <a:pPr algn="l"/>
            <a:r>
              <a:rPr sz="750" b="0" i="0">
                <a:solidFill>
                  <a:srgbClr val="888888"/>
                </a:solidFill>
                <a:latin typeface="Noto Sans JP"/>
              </a:rPr>
              <a:t>回収漏れ・支払遅延の防止</a:t>
            </a:r>
          </a:p>
        </p:txBody>
      </p:sp>
      <p:sp>
        <p:nvSpPr>
          <p:cNvPr id="37" name="Rectangle 36"/>
          <p:cNvSpPr/>
          <p:nvPr/>
        </p:nvSpPr>
        <p:spPr>
          <a:xfrm>
            <a:off x="3198960" y="4269384"/>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450960" y="4215384"/>
            <a:ext cx="2255760" cy="256032"/>
          </a:xfrm>
          <a:prstGeom prst="rect">
            <a:avLst/>
          </a:prstGeom>
          <a:noFill/>
        </p:spPr>
        <p:txBody>
          <a:bodyPr wrap="square">
            <a:spAutoFit/>
          </a:bodyPr>
          <a:lstStyle/>
          <a:p>
            <a:pPr algn="l"/>
            <a:r>
              <a:rPr sz="900" b="1" i="0">
                <a:solidFill>
                  <a:srgbClr val="1A1A1A"/>
                </a:solidFill>
                <a:latin typeface="Noto Sans JP"/>
              </a:rPr>
              <a:t>経費精算の処理</a:t>
            </a:r>
          </a:p>
        </p:txBody>
      </p:sp>
      <p:sp>
        <p:nvSpPr>
          <p:cNvPr id="39" name="TextBox 38"/>
          <p:cNvSpPr txBox="1"/>
          <p:nvPr/>
        </p:nvSpPr>
        <p:spPr>
          <a:xfrm>
            <a:off x="3450960" y="4462272"/>
            <a:ext cx="2255760" cy="274320"/>
          </a:xfrm>
          <a:prstGeom prst="rect">
            <a:avLst/>
          </a:prstGeom>
          <a:noFill/>
        </p:spPr>
        <p:txBody>
          <a:bodyPr wrap="square">
            <a:spAutoFit/>
          </a:bodyPr>
          <a:lstStyle/>
          <a:p>
            <a:pPr algn="l"/>
            <a:r>
              <a:rPr sz="750" b="0" i="0">
                <a:solidFill>
                  <a:srgbClr val="888888"/>
                </a:solidFill>
                <a:latin typeface="Noto Sans JP"/>
              </a:rPr>
              <a:t>社員からの申請をまとめて処理</a:t>
            </a:r>
          </a:p>
        </p:txBody>
      </p:sp>
      <p:sp>
        <p:nvSpPr>
          <p:cNvPr id="40" name="Rounded Rectangle 39"/>
          <p:cNvSpPr/>
          <p:nvPr/>
        </p:nvSpPr>
        <p:spPr>
          <a:xfrm>
            <a:off x="5852160" y="2057400"/>
            <a:ext cx="2651760" cy="4069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852160" y="2057400"/>
            <a:ext cx="2651760"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24160" y="2148840"/>
            <a:ext cx="2651760" cy="365760"/>
          </a:xfrm>
          <a:prstGeom prst="rect">
            <a:avLst/>
          </a:prstGeom>
          <a:noFill/>
        </p:spPr>
        <p:txBody>
          <a:bodyPr wrap="square">
            <a:spAutoFit/>
          </a:bodyPr>
          <a:lstStyle/>
          <a:p>
            <a:pPr algn="ctr"/>
            <a:r>
              <a:rPr sz="1200" b="1" i="0">
                <a:solidFill>
                  <a:srgbClr val="CC0000"/>
                </a:solidFill>
                <a:latin typeface="Noto Sans JP"/>
              </a:rPr>
              <a:t>月初（1〜10日）</a:t>
            </a:r>
          </a:p>
        </p:txBody>
      </p:sp>
      <p:sp>
        <p:nvSpPr>
          <p:cNvPr id="43" name="Rectangle 42"/>
          <p:cNvSpPr/>
          <p:nvPr/>
        </p:nvSpPr>
        <p:spPr>
          <a:xfrm>
            <a:off x="5942160" y="256860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94160" y="2514600"/>
            <a:ext cx="2255760" cy="256032"/>
          </a:xfrm>
          <a:prstGeom prst="rect">
            <a:avLst/>
          </a:prstGeom>
          <a:noFill/>
        </p:spPr>
        <p:txBody>
          <a:bodyPr wrap="square">
            <a:spAutoFit/>
          </a:bodyPr>
          <a:lstStyle/>
          <a:p>
            <a:pPr algn="l"/>
            <a:r>
              <a:rPr sz="900" b="1" i="0">
                <a:solidFill>
                  <a:srgbClr val="1A1A1A"/>
                </a:solidFill>
                <a:latin typeface="Noto Sans JP"/>
              </a:rPr>
              <a:t>前月の仕訳締め・確認</a:t>
            </a:r>
          </a:p>
        </p:txBody>
      </p:sp>
      <p:sp>
        <p:nvSpPr>
          <p:cNvPr id="45" name="TextBox 44"/>
          <p:cNvSpPr txBox="1"/>
          <p:nvPr/>
        </p:nvSpPr>
        <p:spPr>
          <a:xfrm>
            <a:off x="6194160" y="2761488"/>
            <a:ext cx="2255760" cy="274320"/>
          </a:xfrm>
          <a:prstGeom prst="rect">
            <a:avLst/>
          </a:prstGeom>
          <a:noFill/>
        </p:spPr>
        <p:txBody>
          <a:bodyPr wrap="square">
            <a:spAutoFit/>
          </a:bodyPr>
          <a:lstStyle/>
          <a:p>
            <a:pPr algn="l"/>
            <a:r>
              <a:rPr sz="750" b="0" i="0">
                <a:solidFill>
                  <a:srgbClr val="888888"/>
                </a:solidFill>
                <a:latin typeface="Noto Sans JP"/>
              </a:rPr>
              <a:t>会計ソフトで月次締め処理</a:t>
            </a:r>
          </a:p>
        </p:txBody>
      </p:sp>
      <p:sp>
        <p:nvSpPr>
          <p:cNvPr id="46" name="Rectangle 45"/>
          <p:cNvSpPr/>
          <p:nvPr/>
        </p:nvSpPr>
        <p:spPr>
          <a:xfrm>
            <a:off x="5942160" y="3135528"/>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194160" y="3081528"/>
            <a:ext cx="2255760" cy="256032"/>
          </a:xfrm>
          <a:prstGeom prst="rect">
            <a:avLst/>
          </a:prstGeom>
          <a:noFill/>
        </p:spPr>
        <p:txBody>
          <a:bodyPr wrap="square">
            <a:spAutoFit/>
          </a:bodyPr>
          <a:lstStyle/>
          <a:p>
            <a:pPr algn="l"/>
            <a:r>
              <a:rPr sz="900" b="1" i="0">
                <a:solidFill>
                  <a:srgbClr val="1A1A1A"/>
                </a:solidFill>
                <a:latin typeface="Noto Sans JP"/>
              </a:rPr>
              <a:t>給与計算</a:t>
            </a:r>
          </a:p>
        </p:txBody>
      </p:sp>
      <p:sp>
        <p:nvSpPr>
          <p:cNvPr id="48" name="TextBox 47"/>
          <p:cNvSpPr txBox="1"/>
          <p:nvPr/>
        </p:nvSpPr>
        <p:spPr>
          <a:xfrm>
            <a:off x="6194160" y="3328416"/>
            <a:ext cx="2255760" cy="274320"/>
          </a:xfrm>
          <a:prstGeom prst="rect">
            <a:avLst/>
          </a:prstGeom>
          <a:noFill/>
        </p:spPr>
        <p:txBody>
          <a:bodyPr wrap="square">
            <a:spAutoFit/>
          </a:bodyPr>
          <a:lstStyle/>
          <a:p>
            <a:pPr algn="l"/>
            <a:r>
              <a:rPr sz="750" b="0" i="0">
                <a:solidFill>
                  <a:srgbClr val="888888"/>
                </a:solidFill>
                <a:latin typeface="Noto Sans JP"/>
              </a:rPr>
              <a:t>締め日・支払日に合わせて実施</a:t>
            </a:r>
          </a:p>
        </p:txBody>
      </p:sp>
      <p:sp>
        <p:nvSpPr>
          <p:cNvPr id="49" name="Rectangle 48"/>
          <p:cNvSpPr/>
          <p:nvPr/>
        </p:nvSpPr>
        <p:spPr>
          <a:xfrm>
            <a:off x="5942160" y="3702456"/>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94160" y="3648456"/>
            <a:ext cx="2255760" cy="256032"/>
          </a:xfrm>
          <a:prstGeom prst="rect">
            <a:avLst/>
          </a:prstGeom>
          <a:noFill/>
        </p:spPr>
        <p:txBody>
          <a:bodyPr wrap="square">
            <a:spAutoFit/>
          </a:bodyPr>
          <a:lstStyle/>
          <a:p>
            <a:pPr algn="l"/>
            <a:r>
              <a:rPr sz="900" b="1" i="0">
                <a:solidFill>
                  <a:srgbClr val="1A1A1A"/>
                </a:solidFill>
                <a:latin typeface="Noto Sans JP"/>
              </a:rPr>
              <a:t>源泉所得税の納付</a:t>
            </a:r>
          </a:p>
        </p:txBody>
      </p:sp>
      <p:sp>
        <p:nvSpPr>
          <p:cNvPr id="51" name="TextBox 50"/>
          <p:cNvSpPr txBox="1"/>
          <p:nvPr/>
        </p:nvSpPr>
        <p:spPr>
          <a:xfrm>
            <a:off x="6194160" y="3895344"/>
            <a:ext cx="2255760" cy="274320"/>
          </a:xfrm>
          <a:prstGeom prst="rect">
            <a:avLst/>
          </a:prstGeom>
          <a:noFill/>
        </p:spPr>
        <p:txBody>
          <a:bodyPr wrap="square">
            <a:spAutoFit/>
          </a:bodyPr>
          <a:lstStyle/>
          <a:p>
            <a:pPr algn="l"/>
            <a:r>
              <a:rPr sz="750" b="0" i="0">
                <a:solidFill>
                  <a:srgbClr val="888888"/>
                </a:solidFill>
                <a:latin typeface="Noto Sans JP"/>
              </a:rPr>
              <a:t>翌月10日まで（特例：7月・1月）</a:t>
            </a:r>
          </a:p>
        </p:txBody>
      </p:sp>
      <p:sp>
        <p:nvSpPr>
          <p:cNvPr id="52" name="Rectangle 51"/>
          <p:cNvSpPr/>
          <p:nvPr/>
        </p:nvSpPr>
        <p:spPr>
          <a:xfrm>
            <a:off x="5942160" y="4269384"/>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194160" y="4215384"/>
            <a:ext cx="2255760" cy="256032"/>
          </a:xfrm>
          <a:prstGeom prst="rect">
            <a:avLst/>
          </a:prstGeom>
          <a:noFill/>
        </p:spPr>
        <p:txBody>
          <a:bodyPr wrap="square">
            <a:spAutoFit/>
          </a:bodyPr>
          <a:lstStyle/>
          <a:p>
            <a:pPr algn="l"/>
            <a:r>
              <a:rPr sz="900" b="1" i="0">
                <a:solidFill>
                  <a:srgbClr val="1A1A1A"/>
                </a:solidFill>
                <a:latin typeface="Noto Sans JP"/>
              </a:rPr>
              <a:t>社会保険料の納付</a:t>
            </a:r>
          </a:p>
        </p:txBody>
      </p:sp>
      <p:sp>
        <p:nvSpPr>
          <p:cNvPr id="54" name="TextBox 53"/>
          <p:cNvSpPr txBox="1"/>
          <p:nvPr/>
        </p:nvSpPr>
        <p:spPr>
          <a:xfrm>
            <a:off x="6194160" y="4462272"/>
            <a:ext cx="2255760" cy="274320"/>
          </a:xfrm>
          <a:prstGeom prst="rect">
            <a:avLst/>
          </a:prstGeom>
          <a:noFill/>
        </p:spPr>
        <p:txBody>
          <a:bodyPr wrap="square">
            <a:spAutoFit/>
          </a:bodyPr>
          <a:lstStyle/>
          <a:p>
            <a:pPr algn="l"/>
            <a:r>
              <a:rPr sz="750" b="0" i="0">
                <a:solidFill>
                  <a:srgbClr val="888888"/>
                </a:solidFill>
                <a:latin typeface="Noto Sans JP"/>
              </a:rPr>
              <a:t>翌月末まで（口座振替推奨）</a:t>
            </a:r>
          </a:p>
        </p:txBody>
      </p:sp>
      <p:sp>
        <p:nvSpPr>
          <p:cNvPr id="55" name="Rectangle 54"/>
          <p:cNvSpPr/>
          <p:nvPr/>
        </p:nvSpPr>
        <p:spPr>
          <a:xfrm>
            <a:off x="5942160" y="4836312"/>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194160" y="4782312"/>
            <a:ext cx="2255760" cy="256032"/>
          </a:xfrm>
          <a:prstGeom prst="rect">
            <a:avLst/>
          </a:prstGeom>
          <a:noFill/>
        </p:spPr>
        <p:txBody>
          <a:bodyPr wrap="square">
            <a:spAutoFit/>
          </a:bodyPr>
          <a:lstStyle/>
          <a:p>
            <a:pPr algn="l"/>
            <a:r>
              <a:rPr sz="900" b="1" i="0">
                <a:solidFill>
                  <a:srgbClr val="1A1A1A"/>
                </a:solidFill>
                <a:latin typeface="Noto Sans JP"/>
              </a:rPr>
              <a:t>試算表の確認</a:t>
            </a:r>
          </a:p>
        </p:txBody>
      </p:sp>
      <p:sp>
        <p:nvSpPr>
          <p:cNvPr id="57" name="TextBox 56"/>
          <p:cNvSpPr txBox="1"/>
          <p:nvPr/>
        </p:nvSpPr>
        <p:spPr>
          <a:xfrm>
            <a:off x="6194160" y="5029200"/>
            <a:ext cx="2255760" cy="274320"/>
          </a:xfrm>
          <a:prstGeom prst="rect">
            <a:avLst/>
          </a:prstGeom>
          <a:noFill/>
        </p:spPr>
        <p:txBody>
          <a:bodyPr wrap="square">
            <a:spAutoFit/>
          </a:bodyPr>
          <a:lstStyle/>
          <a:p>
            <a:pPr algn="l"/>
            <a:r>
              <a:rPr sz="750" b="0" i="0">
                <a:solidFill>
                  <a:srgbClr val="888888"/>
                </a:solidFill>
                <a:latin typeface="Noto Sans JP"/>
              </a:rPr>
              <a:t>損益・貸借をSRAと共に確認</a:t>
            </a:r>
          </a:p>
        </p:txBody>
      </p:sp>
      <p:sp>
        <p:nvSpPr>
          <p:cNvPr id="58" name="Rectangle 57"/>
          <p:cNvSpPr/>
          <p:nvPr/>
        </p:nvSpPr>
        <p:spPr>
          <a:xfrm>
            <a:off x="5942160" y="540324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194160" y="5349240"/>
            <a:ext cx="2255760" cy="256032"/>
          </a:xfrm>
          <a:prstGeom prst="rect">
            <a:avLst/>
          </a:prstGeom>
          <a:noFill/>
        </p:spPr>
        <p:txBody>
          <a:bodyPr wrap="square">
            <a:spAutoFit/>
          </a:bodyPr>
          <a:lstStyle/>
          <a:p>
            <a:pPr algn="l"/>
            <a:r>
              <a:rPr sz="900" b="1" i="0">
                <a:solidFill>
                  <a:srgbClr val="1A1A1A"/>
                </a:solidFill>
                <a:latin typeface="Noto Sans JP"/>
              </a:rPr>
              <a:t>資金繰り表の更新</a:t>
            </a:r>
          </a:p>
        </p:txBody>
      </p:sp>
      <p:sp>
        <p:nvSpPr>
          <p:cNvPr id="60" name="TextBox 59"/>
          <p:cNvSpPr txBox="1"/>
          <p:nvPr/>
        </p:nvSpPr>
        <p:spPr>
          <a:xfrm>
            <a:off x="6194160" y="5596128"/>
            <a:ext cx="2255760" cy="274320"/>
          </a:xfrm>
          <a:prstGeom prst="rect">
            <a:avLst/>
          </a:prstGeom>
          <a:noFill/>
        </p:spPr>
        <p:txBody>
          <a:bodyPr wrap="square">
            <a:spAutoFit/>
          </a:bodyPr>
          <a:lstStyle/>
          <a:p>
            <a:pPr algn="l"/>
            <a:r>
              <a:rPr sz="750" b="0" i="0">
                <a:solidFill>
                  <a:srgbClr val="888888"/>
                </a:solidFill>
                <a:latin typeface="Noto Sans JP"/>
              </a:rPr>
              <a:t>向こう3ヶ月の資金計画を見直し</a:t>
            </a:r>
          </a:p>
        </p:txBody>
      </p:sp>
      <p:sp>
        <p:nvSpPr>
          <p:cNvPr id="61" name="Rounded Rectangle 60"/>
          <p:cNvSpPr/>
          <p:nvPr/>
        </p:nvSpPr>
        <p:spPr>
          <a:xfrm>
            <a:off x="8686800" y="2057400"/>
            <a:ext cx="2651760" cy="4069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8686800" y="2057400"/>
            <a:ext cx="2651760" cy="64008"/>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758800" y="2148840"/>
            <a:ext cx="2651760" cy="365760"/>
          </a:xfrm>
          <a:prstGeom prst="rect">
            <a:avLst/>
          </a:prstGeom>
          <a:noFill/>
        </p:spPr>
        <p:txBody>
          <a:bodyPr wrap="square">
            <a:spAutoFit/>
          </a:bodyPr>
          <a:lstStyle/>
          <a:p>
            <a:pPr algn="ctr"/>
            <a:r>
              <a:rPr sz="1200" b="1" i="0">
                <a:solidFill>
                  <a:srgbClr val="CC6600"/>
                </a:solidFill>
                <a:latin typeface="Noto Sans JP"/>
              </a:rPr>
              <a:t>月末</a:t>
            </a:r>
          </a:p>
        </p:txBody>
      </p:sp>
      <p:sp>
        <p:nvSpPr>
          <p:cNvPr id="64" name="Rectangle 63"/>
          <p:cNvSpPr/>
          <p:nvPr/>
        </p:nvSpPr>
        <p:spPr>
          <a:xfrm>
            <a:off x="8776800" y="2568600"/>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028800" y="2514600"/>
            <a:ext cx="2255760" cy="256032"/>
          </a:xfrm>
          <a:prstGeom prst="rect">
            <a:avLst/>
          </a:prstGeom>
          <a:noFill/>
        </p:spPr>
        <p:txBody>
          <a:bodyPr wrap="square">
            <a:spAutoFit/>
          </a:bodyPr>
          <a:lstStyle/>
          <a:p>
            <a:pPr algn="l"/>
            <a:r>
              <a:rPr sz="900" b="1" i="0">
                <a:solidFill>
                  <a:srgbClr val="1A1A1A"/>
                </a:solidFill>
                <a:latin typeface="Noto Sans JP"/>
              </a:rPr>
              <a:t>売上・費用の計上確認</a:t>
            </a:r>
          </a:p>
        </p:txBody>
      </p:sp>
      <p:sp>
        <p:nvSpPr>
          <p:cNvPr id="66" name="TextBox 65"/>
          <p:cNvSpPr txBox="1"/>
          <p:nvPr/>
        </p:nvSpPr>
        <p:spPr>
          <a:xfrm>
            <a:off x="9028800" y="2761488"/>
            <a:ext cx="2255760" cy="274320"/>
          </a:xfrm>
          <a:prstGeom prst="rect">
            <a:avLst/>
          </a:prstGeom>
          <a:noFill/>
        </p:spPr>
        <p:txBody>
          <a:bodyPr wrap="square">
            <a:spAutoFit/>
          </a:bodyPr>
          <a:lstStyle/>
          <a:p>
            <a:pPr algn="l"/>
            <a:r>
              <a:rPr sz="750" b="0" i="0">
                <a:solidFill>
                  <a:srgbClr val="888888"/>
                </a:solidFill>
                <a:latin typeface="Noto Sans JP"/>
              </a:rPr>
              <a:t>発生主義で漏れなく計上</a:t>
            </a:r>
          </a:p>
        </p:txBody>
      </p:sp>
      <p:sp>
        <p:nvSpPr>
          <p:cNvPr id="67" name="Rectangle 66"/>
          <p:cNvSpPr/>
          <p:nvPr/>
        </p:nvSpPr>
        <p:spPr>
          <a:xfrm>
            <a:off x="8776800" y="3135528"/>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028800" y="3081528"/>
            <a:ext cx="2255760" cy="256032"/>
          </a:xfrm>
          <a:prstGeom prst="rect">
            <a:avLst/>
          </a:prstGeom>
          <a:noFill/>
        </p:spPr>
        <p:txBody>
          <a:bodyPr wrap="square">
            <a:spAutoFit/>
          </a:bodyPr>
          <a:lstStyle/>
          <a:p>
            <a:pPr algn="l"/>
            <a:r>
              <a:rPr sz="900" b="1" i="0">
                <a:solidFill>
                  <a:srgbClr val="1A1A1A"/>
                </a:solidFill>
                <a:latin typeface="Noto Sans JP"/>
              </a:rPr>
              <a:t>請求書の発行・送付</a:t>
            </a:r>
          </a:p>
        </p:txBody>
      </p:sp>
      <p:sp>
        <p:nvSpPr>
          <p:cNvPr id="69" name="TextBox 68"/>
          <p:cNvSpPr txBox="1"/>
          <p:nvPr/>
        </p:nvSpPr>
        <p:spPr>
          <a:xfrm>
            <a:off x="9028800" y="3328416"/>
            <a:ext cx="2255760" cy="274320"/>
          </a:xfrm>
          <a:prstGeom prst="rect">
            <a:avLst/>
          </a:prstGeom>
          <a:noFill/>
        </p:spPr>
        <p:txBody>
          <a:bodyPr wrap="square">
            <a:spAutoFit/>
          </a:bodyPr>
          <a:lstStyle/>
          <a:p>
            <a:pPr algn="l"/>
            <a:r>
              <a:rPr sz="750" b="0" i="0">
                <a:solidFill>
                  <a:srgbClr val="888888"/>
                </a:solidFill>
                <a:latin typeface="Noto Sans JP"/>
              </a:rPr>
              <a:t>取引先への請求を月末締めで</a:t>
            </a:r>
          </a:p>
        </p:txBody>
      </p:sp>
      <p:sp>
        <p:nvSpPr>
          <p:cNvPr id="70" name="Rectangle 69"/>
          <p:cNvSpPr/>
          <p:nvPr/>
        </p:nvSpPr>
        <p:spPr>
          <a:xfrm>
            <a:off x="8776800" y="3702456"/>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028800" y="3648456"/>
            <a:ext cx="2255760" cy="256032"/>
          </a:xfrm>
          <a:prstGeom prst="rect">
            <a:avLst/>
          </a:prstGeom>
          <a:noFill/>
        </p:spPr>
        <p:txBody>
          <a:bodyPr wrap="square">
            <a:spAutoFit/>
          </a:bodyPr>
          <a:lstStyle/>
          <a:p>
            <a:pPr algn="l"/>
            <a:r>
              <a:rPr sz="900" b="1" i="0">
                <a:solidFill>
                  <a:srgbClr val="1A1A1A"/>
                </a:solidFill>
                <a:latin typeface="Noto Sans JP"/>
              </a:rPr>
              <a:t>預金残高の突合</a:t>
            </a:r>
          </a:p>
        </p:txBody>
      </p:sp>
      <p:sp>
        <p:nvSpPr>
          <p:cNvPr id="72" name="TextBox 71"/>
          <p:cNvSpPr txBox="1"/>
          <p:nvPr/>
        </p:nvSpPr>
        <p:spPr>
          <a:xfrm>
            <a:off x="9028800" y="3895344"/>
            <a:ext cx="2255760" cy="274320"/>
          </a:xfrm>
          <a:prstGeom prst="rect">
            <a:avLst/>
          </a:prstGeom>
          <a:noFill/>
        </p:spPr>
        <p:txBody>
          <a:bodyPr wrap="square">
            <a:spAutoFit/>
          </a:bodyPr>
          <a:lstStyle/>
          <a:p>
            <a:pPr algn="l"/>
            <a:r>
              <a:rPr sz="750" b="0" i="0">
                <a:solidFill>
                  <a:srgbClr val="888888"/>
                </a:solidFill>
                <a:latin typeface="Noto Sans JP"/>
              </a:rPr>
              <a:t>帳簿残高と通帳残高の一致確認</a:t>
            </a:r>
          </a:p>
        </p:txBody>
      </p:sp>
      <p:sp>
        <p:nvSpPr>
          <p:cNvPr id="73" name="Rectangle 72"/>
          <p:cNvSpPr/>
          <p:nvPr/>
        </p:nvSpPr>
        <p:spPr>
          <a:xfrm>
            <a:off x="8776800" y="4269384"/>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028800" y="4215384"/>
            <a:ext cx="2255760" cy="256032"/>
          </a:xfrm>
          <a:prstGeom prst="rect">
            <a:avLst/>
          </a:prstGeom>
          <a:noFill/>
        </p:spPr>
        <p:txBody>
          <a:bodyPr wrap="square">
            <a:spAutoFit/>
          </a:bodyPr>
          <a:lstStyle/>
          <a:p>
            <a:pPr algn="l"/>
            <a:r>
              <a:rPr sz="900" b="1" i="0">
                <a:solidFill>
                  <a:srgbClr val="1A1A1A"/>
                </a:solidFill>
                <a:latin typeface="Noto Sans JP"/>
              </a:rPr>
              <a:t>棚卸</a:t>
            </a:r>
          </a:p>
        </p:txBody>
      </p:sp>
      <p:sp>
        <p:nvSpPr>
          <p:cNvPr id="75" name="TextBox 74"/>
          <p:cNvSpPr txBox="1"/>
          <p:nvPr/>
        </p:nvSpPr>
        <p:spPr>
          <a:xfrm>
            <a:off x="9028800" y="4462272"/>
            <a:ext cx="2255760" cy="274320"/>
          </a:xfrm>
          <a:prstGeom prst="rect">
            <a:avLst/>
          </a:prstGeom>
          <a:noFill/>
        </p:spPr>
        <p:txBody>
          <a:bodyPr wrap="square">
            <a:spAutoFit/>
          </a:bodyPr>
          <a:lstStyle/>
          <a:p>
            <a:pPr algn="l"/>
            <a:r>
              <a:rPr sz="750" b="0" i="0">
                <a:solidFill>
                  <a:srgbClr val="888888"/>
                </a:solidFill>
                <a:latin typeface="Noto Sans JP"/>
              </a:rPr>
              <a:t>在庫がある場合は月末に実施</a:t>
            </a:r>
          </a:p>
        </p:txBody>
      </p:sp>
      <p:sp>
        <p:nvSpPr>
          <p:cNvPr id="76" name="Rectangle 75"/>
          <p:cNvSpPr/>
          <p:nvPr/>
        </p:nvSpPr>
        <p:spPr>
          <a:xfrm>
            <a:off x="8776800" y="4836312"/>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028800" y="4782312"/>
            <a:ext cx="2255760" cy="256032"/>
          </a:xfrm>
          <a:prstGeom prst="rect">
            <a:avLst/>
          </a:prstGeom>
          <a:noFill/>
        </p:spPr>
        <p:txBody>
          <a:bodyPr wrap="square">
            <a:spAutoFit/>
          </a:bodyPr>
          <a:lstStyle/>
          <a:p>
            <a:pPr algn="l"/>
            <a:r>
              <a:rPr sz="900" b="1" i="0">
                <a:solidFill>
                  <a:srgbClr val="1A1A1A"/>
                </a:solidFill>
                <a:latin typeface="Noto Sans JP"/>
              </a:rPr>
              <a:t>翌月の資金繰り確認</a:t>
            </a:r>
          </a:p>
        </p:txBody>
      </p:sp>
      <p:sp>
        <p:nvSpPr>
          <p:cNvPr id="78" name="TextBox 77"/>
          <p:cNvSpPr txBox="1"/>
          <p:nvPr/>
        </p:nvSpPr>
        <p:spPr>
          <a:xfrm>
            <a:off x="9028800" y="5029200"/>
            <a:ext cx="2255760" cy="274320"/>
          </a:xfrm>
          <a:prstGeom prst="rect">
            <a:avLst/>
          </a:prstGeom>
          <a:noFill/>
        </p:spPr>
        <p:txBody>
          <a:bodyPr wrap="square">
            <a:spAutoFit/>
          </a:bodyPr>
          <a:lstStyle/>
          <a:p>
            <a:pPr algn="l"/>
            <a:r>
              <a:rPr sz="750" b="0" i="0">
                <a:solidFill>
                  <a:srgbClr val="888888"/>
                </a:solidFill>
                <a:latin typeface="Noto Sans JP"/>
              </a:rPr>
              <a:t>支払予定・入金予定の洗い出し</a:t>
            </a:r>
          </a:p>
        </p:txBody>
      </p:sp>
      <p:sp>
        <p:nvSpPr>
          <p:cNvPr id="79" name="Rectangle 78"/>
          <p:cNvSpPr/>
          <p:nvPr/>
        </p:nvSpPr>
        <p:spPr>
          <a:xfrm>
            <a:off x="8776800" y="5403240"/>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028800" y="5349240"/>
            <a:ext cx="2255760" cy="256032"/>
          </a:xfrm>
          <a:prstGeom prst="rect">
            <a:avLst/>
          </a:prstGeom>
          <a:noFill/>
        </p:spPr>
        <p:txBody>
          <a:bodyPr wrap="square">
            <a:spAutoFit/>
          </a:bodyPr>
          <a:lstStyle/>
          <a:p>
            <a:pPr algn="l"/>
            <a:r>
              <a:rPr sz="900" b="1" i="0">
                <a:solidFill>
                  <a:srgbClr val="1A1A1A"/>
                </a:solidFill>
                <a:latin typeface="Noto Sans JP"/>
              </a:rPr>
              <a:t>月次レポートの共有</a:t>
            </a:r>
          </a:p>
        </p:txBody>
      </p:sp>
      <p:sp>
        <p:nvSpPr>
          <p:cNvPr id="81" name="TextBox 80"/>
          <p:cNvSpPr txBox="1"/>
          <p:nvPr/>
        </p:nvSpPr>
        <p:spPr>
          <a:xfrm>
            <a:off x="9028800" y="5596128"/>
            <a:ext cx="2255760" cy="274320"/>
          </a:xfrm>
          <a:prstGeom prst="rect">
            <a:avLst/>
          </a:prstGeom>
          <a:noFill/>
        </p:spPr>
        <p:txBody>
          <a:bodyPr wrap="square">
            <a:spAutoFit/>
          </a:bodyPr>
          <a:lstStyle/>
          <a:p>
            <a:pPr algn="l"/>
            <a:r>
              <a:rPr sz="750" b="0" i="0">
                <a:solidFill>
                  <a:srgbClr val="888888"/>
                </a:solidFill>
                <a:latin typeface="Noto Sans JP"/>
              </a:rPr>
              <a:t>MFクラウドでSRAへ資料連携</a:t>
            </a:r>
          </a:p>
        </p:txBody>
      </p:sp>
      <p:sp>
        <p:nvSpPr>
          <p:cNvPr id="82" name="TextBox 81"/>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源泉所得税の納期の特例（常時10人未満）をご選択の場合、1〜6月分は7月10日、7〜12月分は翌年1月20日に一括納付いただきます。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03</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年間の税務スケジュール</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M = 貴社の決算月。M+1が翌月、M+2が翌々月…と置き換えて読んでください。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03</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03</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年間の税務スケジュール</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0" y="137160"/>
            <a:ext cx="3566160" cy="274320"/>
          </a:xfrm>
          <a:prstGeom prst="rect">
            <a:avLst/>
          </a:prstGeom>
          <a:noFill/>
        </p:spPr>
        <p:txBody>
          <a:bodyPr wrap="square">
            <a:spAutoFit/>
          </a:bodyPr>
          <a:lstStyle/>
          <a:p>
            <a:pPr algn="r"/>
            <a:r>
              <a:rPr sz="800" b="0" i="0">
                <a:solidFill>
                  <a:srgbClr val="888888"/>
                </a:solidFill>
                <a:latin typeface="Noto Sans JP"/>
              </a:rPr>
              <a:t>M = 決算月  ★ = まとまった出費が発生します</a:t>
            </a:r>
          </a:p>
        </p:txBody>
      </p:sp>
      <p:sp>
        <p:nvSpPr>
          <p:cNvPr id="7" name="Rectangle 6"/>
          <p:cNvSpPr/>
          <p:nvPr/>
        </p:nvSpPr>
        <p:spPr>
          <a:xfrm>
            <a:off x="9509760" y="137160"/>
            <a:ext cx="2468880" cy="502920"/>
          </a:xfrm>
          <a:prstGeom prst="rect">
            <a:avLst/>
          </a:prstGeom>
          <a:solidFill>
            <a:srgbClr val="FF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0" y="164592"/>
            <a:ext cx="2286000" cy="457200"/>
          </a:xfrm>
          <a:prstGeom prst="rect">
            <a:avLst/>
          </a:prstGeom>
          <a:noFill/>
        </p:spPr>
        <p:txBody>
          <a:bodyPr wrap="square">
            <a:spAutoFit/>
          </a:bodyPr>
          <a:lstStyle/>
          <a:p>
            <a:pPr algn="l"/>
            <a:r>
              <a:rPr sz="850" b="1" i="0">
                <a:solidFill>
                  <a:srgbClr val="CC0000"/>
                </a:solidFill>
                <a:latin typeface="Noto Sans JP"/>
              </a:rPr>
              <a:t>★ = 事前に資金を確保してください</a:t>
            </a:r>
          </a:p>
        </p:txBody>
      </p:sp>
      <p:sp>
        <p:nvSpPr>
          <p:cNvPr id="9" name="Rounded Rectangle 8"/>
          <p:cNvSpPr/>
          <p:nvPr/>
        </p:nvSpPr>
        <p:spPr>
          <a:xfrm>
            <a:off x="182880" y="960120"/>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880" y="960120"/>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2880" y="960120"/>
            <a:ext cx="658368" cy="1572768"/>
          </a:xfrm>
          <a:prstGeom prst="rect">
            <a:avLst/>
          </a:prstGeom>
          <a:noFill/>
        </p:spPr>
        <p:txBody>
          <a:bodyPr wrap="square">
            <a:spAutoFit/>
          </a:bodyPr>
          <a:lstStyle/>
          <a:p>
            <a:pPr algn="ctr"/>
            <a:r>
              <a:rPr sz="1100" b="1" i="0">
                <a:solidFill>
                  <a:srgbClr val="FFFFFF"/>
                </a:solidFill>
                <a:latin typeface="Noto Sans JP"/>
              </a:rPr>
              <a:t>M+1</a:t>
            </a:r>
          </a:p>
        </p:txBody>
      </p:sp>
      <p:sp>
        <p:nvSpPr>
          <p:cNvPr id="12" name="Rectangle 11"/>
          <p:cNvSpPr/>
          <p:nvPr/>
        </p:nvSpPr>
        <p:spPr>
          <a:xfrm>
            <a:off x="896112" y="1032984"/>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4912" y="1029384"/>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14" name="TextBox 13"/>
          <p:cNvSpPr txBox="1"/>
          <p:nvPr/>
        </p:nvSpPr>
        <p:spPr>
          <a:xfrm>
            <a:off x="914400" y="1144584"/>
            <a:ext cx="2011680" cy="384048"/>
          </a:xfrm>
          <a:prstGeom prst="rect">
            <a:avLst/>
          </a:prstGeom>
          <a:noFill/>
        </p:spPr>
        <p:txBody>
          <a:bodyPr wrap="square">
            <a:spAutoFit/>
          </a:bodyPr>
          <a:lstStyle/>
          <a:p>
            <a:pPr algn="l"/>
            <a:r>
              <a:rPr sz="750" b="0" i="0">
                <a:solidFill>
                  <a:srgbClr val="444444"/>
                </a:solidFill>
                <a:latin typeface="Noto Sans JP"/>
              </a:rPr>
              <a:t>前月（期末月）分 納付（10日まで）</a:t>
            </a:r>
          </a:p>
        </p:txBody>
      </p:sp>
      <p:sp>
        <p:nvSpPr>
          <p:cNvPr id="15" name="Rounded Rectangle 14"/>
          <p:cNvSpPr/>
          <p:nvPr/>
        </p:nvSpPr>
        <p:spPr>
          <a:xfrm>
            <a:off x="3090672" y="960120"/>
            <a:ext cx="2834640" cy="1572768"/>
          </a:xfrm>
          <a:prstGeom prst="roundRect">
            <a:avLst>
              <a:gd name="adj" fmla="val 3000"/>
            </a:avLst>
          </a:prstGeom>
          <a:solidFill>
            <a:srgbClr val="FF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090672" y="960120"/>
            <a:ext cx="658368" cy="15727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90672" y="960120"/>
            <a:ext cx="658368" cy="1572768"/>
          </a:xfrm>
          <a:prstGeom prst="rect">
            <a:avLst/>
          </a:prstGeom>
          <a:noFill/>
        </p:spPr>
        <p:txBody>
          <a:bodyPr wrap="square">
            <a:spAutoFit/>
          </a:bodyPr>
          <a:lstStyle/>
          <a:p>
            <a:pPr algn="ctr"/>
            <a:r>
              <a:rPr sz="1100" b="1" i="0">
                <a:solidFill>
                  <a:srgbClr val="FFFFFF"/>
                </a:solidFill>
                <a:latin typeface="Noto Sans JP"/>
              </a:rPr>
              <a:t>M+2
申告期限</a:t>
            </a:r>
          </a:p>
        </p:txBody>
      </p:sp>
      <p:sp>
        <p:nvSpPr>
          <p:cNvPr id="18" name="Rectangle 17"/>
          <p:cNvSpPr/>
          <p:nvPr/>
        </p:nvSpPr>
        <p:spPr>
          <a:xfrm>
            <a:off x="3803904" y="1032984"/>
            <a:ext cx="914400" cy="93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32704" y="1029384"/>
            <a:ext cx="914400" cy="100800"/>
          </a:xfrm>
          <a:prstGeom prst="rect">
            <a:avLst/>
          </a:prstGeom>
          <a:noFill/>
        </p:spPr>
        <p:txBody>
          <a:bodyPr wrap="square">
            <a:spAutoFit/>
          </a:bodyPr>
          <a:lstStyle/>
          <a:p>
            <a:pPr algn="l"/>
            <a:r>
              <a:rPr sz="700" b="1" i="0">
                <a:solidFill>
                  <a:srgbClr val="FFFFFF"/>
                </a:solidFill>
                <a:latin typeface="Noto Sans JP"/>
              </a:rPr>
              <a:t>法人税・地方税</a:t>
            </a:r>
          </a:p>
        </p:txBody>
      </p:sp>
      <p:sp>
        <p:nvSpPr>
          <p:cNvPr id="20" name="TextBox 19"/>
          <p:cNvSpPr txBox="1"/>
          <p:nvPr/>
        </p:nvSpPr>
        <p:spPr>
          <a:xfrm>
            <a:off x="3822192" y="1144584"/>
            <a:ext cx="2011680" cy="384048"/>
          </a:xfrm>
          <a:prstGeom prst="rect">
            <a:avLst/>
          </a:prstGeom>
          <a:noFill/>
        </p:spPr>
        <p:txBody>
          <a:bodyPr wrap="square">
            <a:spAutoFit/>
          </a:bodyPr>
          <a:lstStyle/>
          <a:p>
            <a:pPr algn="l"/>
            <a:r>
              <a:rPr sz="750" b="0" i="0">
                <a:solidFill>
                  <a:srgbClr val="444444"/>
                </a:solidFill>
                <a:latin typeface="Noto Sans JP"/>
              </a:rPr>
              <a:t>★ 申告・納付（期末後2ヶ月以内）</a:t>
            </a:r>
          </a:p>
        </p:txBody>
      </p:sp>
      <p:sp>
        <p:nvSpPr>
          <p:cNvPr id="21" name="Rectangle 20"/>
          <p:cNvSpPr/>
          <p:nvPr/>
        </p:nvSpPr>
        <p:spPr>
          <a:xfrm>
            <a:off x="3803904" y="1508472"/>
            <a:ext cx="914400" cy="936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32704" y="1504872"/>
            <a:ext cx="914400" cy="100800"/>
          </a:xfrm>
          <a:prstGeom prst="rect">
            <a:avLst/>
          </a:prstGeom>
          <a:noFill/>
        </p:spPr>
        <p:txBody>
          <a:bodyPr wrap="square">
            <a:spAutoFit/>
          </a:bodyPr>
          <a:lstStyle/>
          <a:p>
            <a:pPr algn="l"/>
            <a:r>
              <a:rPr sz="700" b="1" i="0">
                <a:solidFill>
                  <a:srgbClr val="FFFFFF"/>
                </a:solidFill>
                <a:latin typeface="Noto Sans JP"/>
              </a:rPr>
              <a:t>消費税</a:t>
            </a:r>
          </a:p>
        </p:txBody>
      </p:sp>
      <p:sp>
        <p:nvSpPr>
          <p:cNvPr id="23" name="TextBox 22"/>
          <p:cNvSpPr txBox="1"/>
          <p:nvPr/>
        </p:nvSpPr>
        <p:spPr>
          <a:xfrm>
            <a:off x="3822192" y="1620072"/>
            <a:ext cx="2011680" cy="384048"/>
          </a:xfrm>
          <a:prstGeom prst="rect">
            <a:avLst/>
          </a:prstGeom>
          <a:noFill/>
        </p:spPr>
        <p:txBody>
          <a:bodyPr wrap="square">
            <a:spAutoFit/>
          </a:bodyPr>
          <a:lstStyle/>
          <a:p>
            <a:pPr algn="l"/>
            <a:r>
              <a:rPr sz="750" b="0" i="0">
                <a:solidFill>
                  <a:srgbClr val="444444"/>
                </a:solidFill>
                <a:latin typeface="Noto Sans JP"/>
              </a:rPr>
              <a:t>★ 申告・納付（同上）</a:t>
            </a:r>
          </a:p>
        </p:txBody>
      </p:sp>
      <p:sp>
        <p:nvSpPr>
          <p:cNvPr id="24" name="Rectangle 23"/>
          <p:cNvSpPr/>
          <p:nvPr/>
        </p:nvSpPr>
        <p:spPr>
          <a:xfrm>
            <a:off x="3803904" y="1983960"/>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32704" y="1980360"/>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26" name="TextBox 25"/>
          <p:cNvSpPr txBox="1"/>
          <p:nvPr/>
        </p:nvSpPr>
        <p:spPr>
          <a:xfrm>
            <a:off x="3822192" y="2095560"/>
            <a:ext cx="2011680" cy="384048"/>
          </a:xfrm>
          <a:prstGeom prst="rect">
            <a:avLst/>
          </a:prstGeom>
          <a:noFill/>
        </p:spPr>
        <p:txBody>
          <a:bodyPr wrap="square">
            <a:spAutoFit/>
          </a:bodyPr>
          <a:lstStyle/>
          <a:p>
            <a:pPr algn="l"/>
            <a:r>
              <a:rPr sz="750" b="0" i="0">
                <a:solidFill>
                  <a:srgbClr val="444444"/>
                </a:solidFill>
                <a:latin typeface="Noto Sans JP"/>
              </a:rPr>
              <a:t>前月分 納付（10日）</a:t>
            </a:r>
          </a:p>
        </p:txBody>
      </p:sp>
      <p:sp>
        <p:nvSpPr>
          <p:cNvPr id="27" name="Rounded Rectangle 26"/>
          <p:cNvSpPr/>
          <p:nvPr/>
        </p:nvSpPr>
        <p:spPr>
          <a:xfrm>
            <a:off x="5998464" y="960120"/>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998464" y="960120"/>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98464" y="960120"/>
            <a:ext cx="658368" cy="1572768"/>
          </a:xfrm>
          <a:prstGeom prst="rect">
            <a:avLst/>
          </a:prstGeom>
          <a:noFill/>
        </p:spPr>
        <p:txBody>
          <a:bodyPr wrap="square">
            <a:spAutoFit/>
          </a:bodyPr>
          <a:lstStyle/>
          <a:p>
            <a:pPr algn="ctr"/>
            <a:r>
              <a:rPr sz="1100" b="1" i="0">
                <a:solidFill>
                  <a:srgbClr val="FFFFFF"/>
                </a:solidFill>
                <a:latin typeface="Noto Sans JP"/>
              </a:rPr>
              <a:t>M+3</a:t>
            </a:r>
          </a:p>
        </p:txBody>
      </p:sp>
      <p:sp>
        <p:nvSpPr>
          <p:cNvPr id="30" name="Rectangle 29"/>
          <p:cNvSpPr/>
          <p:nvPr/>
        </p:nvSpPr>
        <p:spPr>
          <a:xfrm>
            <a:off x="6711696" y="1032984"/>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40496" y="1029384"/>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32" name="TextBox 31"/>
          <p:cNvSpPr txBox="1"/>
          <p:nvPr/>
        </p:nvSpPr>
        <p:spPr>
          <a:xfrm>
            <a:off x="6729984" y="1144584"/>
            <a:ext cx="2011680" cy="384048"/>
          </a:xfrm>
          <a:prstGeom prst="rect">
            <a:avLst/>
          </a:prstGeom>
          <a:noFill/>
        </p:spPr>
        <p:txBody>
          <a:bodyPr wrap="square">
            <a:spAutoFit/>
          </a:bodyPr>
          <a:lstStyle/>
          <a:p>
            <a:pPr algn="l"/>
            <a:r>
              <a:rPr sz="750" b="0" i="0">
                <a:solidFill>
                  <a:srgbClr val="444444"/>
                </a:solidFill>
                <a:latin typeface="Noto Sans JP"/>
              </a:rPr>
              <a:t>前月分 納付（10日まで）</a:t>
            </a:r>
          </a:p>
        </p:txBody>
      </p:sp>
      <p:sp>
        <p:nvSpPr>
          <p:cNvPr id="33" name="Rounded Rectangle 32"/>
          <p:cNvSpPr/>
          <p:nvPr/>
        </p:nvSpPr>
        <p:spPr>
          <a:xfrm>
            <a:off x="8906256" y="960120"/>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06256" y="960120"/>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06256" y="960120"/>
            <a:ext cx="658368" cy="1572768"/>
          </a:xfrm>
          <a:prstGeom prst="rect">
            <a:avLst/>
          </a:prstGeom>
          <a:noFill/>
        </p:spPr>
        <p:txBody>
          <a:bodyPr wrap="square">
            <a:spAutoFit/>
          </a:bodyPr>
          <a:lstStyle/>
          <a:p>
            <a:pPr algn="ctr"/>
            <a:r>
              <a:rPr sz="1100" b="1" i="0">
                <a:solidFill>
                  <a:srgbClr val="FFFFFF"/>
                </a:solidFill>
                <a:latin typeface="Noto Sans JP"/>
              </a:rPr>
              <a:t>M+4</a:t>
            </a:r>
          </a:p>
        </p:txBody>
      </p:sp>
      <p:sp>
        <p:nvSpPr>
          <p:cNvPr id="36" name="Rectangle 35"/>
          <p:cNvSpPr/>
          <p:nvPr/>
        </p:nvSpPr>
        <p:spPr>
          <a:xfrm>
            <a:off x="9619488" y="1032984"/>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48288" y="1029384"/>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38" name="TextBox 37"/>
          <p:cNvSpPr txBox="1"/>
          <p:nvPr/>
        </p:nvSpPr>
        <p:spPr>
          <a:xfrm>
            <a:off x="9637776" y="1144584"/>
            <a:ext cx="2011680" cy="384048"/>
          </a:xfrm>
          <a:prstGeom prst="rect">
            <a:avLst/>
          </a:prstGeom>
          <a:noFill/>
        </p:spPr>
        <p:txBody>
          <a:bodyPr wrap="square">
            <a:spAutoFit/>
          </a:bodyPr>
          <a:lstStyle/>
          <a:p>
            <a:pPr algn="l"/>
            <a:r>
              <a:rPr sz="750" b="0" i="0">
                <a:solidFill>
                  <a:srgbClr val="444444"/>
                </a:solidFill>
                <a:latin typeface="Noto Sans JP"/>
              </a:rPr>
              <a:t>1〜6月分 一括納付（20日）</a:t>
            </a:r>
          </a:p>
        </p:txBody>
      </p:sp>
      <p:sp>
        <p:nvSpPr>
          <p:cNvPr id="39" name="Rectangle 38"/>
          <p:cNvSpPr/>
          <p:nvPr/>
        </p:nvSpPr>
        <p:spPr>
          <a:xfrm>
            <a:off x="9619488" y="1508472"/>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48288" y="1504872"/>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41" name="TextBox 40"/>
          <p:cNvSpPr txBox="1"/>
          <p:nvPr/>
        </p:nvSpPr>
        <p:spPr>
          <a:xfrm>
            <a:off x="9637776" y="1620072"/>
            <a:ext cx="2011680" cy="384048"/>
          </a:xfrm>
          <a:prstGeom prst="rect">
            <a:avLst/>
          </a:prstGeom>
          <a:noFill/>
        </p:spPr>
        <p:txBody>
          <a:bodyPr wrap="square">
            <a:spAutoFit/>
          </a:bodyPr>
          <a:lstStyle/>
          <a:p>
            <a:pPr algn="l"/>
            <a:r>
              <a:rPr sz="750" b="0" i="0">
                <a:solidFill>
                  <a:srgbClr val="444444"/>
                </a:solidFill>
                <a:latin typeface="Noto Sans JP"/>
              </a:rPr>
              <a:t>前月分 納付（10日）</a:t>
            </a:r>
          </a:p>
        </p:txBody>
      </p:sp>
      <p:sp>
        <p:nvSpPr>
          <p:cNvPr id="42" name="Rounded Rectangle 41"/>
          <p:cNvSpPr/>
          <p:nvPr/>
        </p:nvSpPr>
        <p:spPr>
          <a:xfrm>
            <a:off x="182880" y="2578608"/>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82880" y="2578608"/>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82880" y="2578608"/>
            <a:ext cx="658368" cy="1572768"/>
          </a:xfrm>
          <a:prstGeom prst="rect">
            <a:avLst/>
          </a:prstGeom>
          <a:noFill/>
        </p:spPr>
        <p:txBody>
          <a:bodyPr wrap="square">
            <a:spAutoFit/>
          </a:bodyPr>
          <a:lstStyle/>
          <a:p>
            <a:pPr algn="ctr"/>
            <a:r>
              <a:rPr sz="1100" b="1" i="0">
                <a:solidFill>
                  <a:srgbClr val="FFFFFF"/>
                </a:solidFill>
                <a:latin typeface="Noto Sans JP"/>
              </a:rPr>
              <a:t>M+5</a:t>
            </a:r>
          </a:p>
        </p:txBody>
      </p:sp>
      <p:sp>
        <p:nvSpPr>
          <p:cNvPr id="45" name="Rectangle 44"/>
          <p:cNvSpPr/>
          <p:nvPr/>
        </p:nvSpPr>
        <p:spPr>
          <a:xfrm>
            <a:off x="896112" y="2651472"/>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24912" y="2647872"/>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47" name="TextBox 46"/>
          <p:cNvSpPr txBox="1"/>
          <p:nvPr/>
        </p:nvSpPr>
        <p:spPr>
          <a:xfrm>
            <a:off x="914400" y="2763072"/>
            <a:ext cx="2011680" cy="384048"/>
          </a:xfrm>
          <a:prstGeom prst="rect">
            <a:avLst/>
          </a:prstGeom>
          <a:noFill/>
        </p:spPr>
        <p:txBody>
          <a:bodyPr wrap="square">
            <a:spAutoFit/>
          </a:bodyPr>
          <a:lstStyle/>
          <a:p>
            <a:pPr algn="l"/>
            <a:r>
              <a:rPr sz="750" b="0" i="0">
                <a:solidFill>
                  <a:srgbClr val="444444"/>
                </a:solidFill>
                <a:latin typeface="Noto Sans JP"/>
              </a:rPr>
              <a:t>前月分 納付（10日まで）</a:t>
            </a:r>
          </a:p>
        </p:txBody>
      </p:sp>
      <p:sp>
        <p:nvSpPr>
          <p:cNvPr id="48" name="Rounded Rectangle 47"/>
          <p:cNvSpPr/>
          <p:nvPr/>
        </p:nvSpPr>
        <p:spPr>
          <a:xfrm>
            <a:off x="3090672" y="2578608"/>
            <a:ext cx="2834640" cy="1572768"/>
          </a:xfrm>
          <a:prstGeom prst="roundRect">
            <a:avLst>
              <a:gd name="adj" fmla="val 3000"/>
            </a:avLst>
          </a:prstGeom>
          <a:solidFill>
            <a:srgbClr val="FF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090672" y="2578608"/>
            <a:ext cx="658368" cy="15727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090672" y="2578608"/>
            <a:ext cx="658368" cy="1572768"/>
          </a:xfrm>
          <a:prstGeom prst="rect">
            <a:avLst/>
          </a:prstGeom>
          <a:noFill/>
        </p:spPr>
        <p:txBody>
          <a:bodyPr wrap="square">
            <a:spAutoFit/>
          </a:bodyPr>
          <a:lstStyle/>
          <a:p>
            <a:pPr algn="ctr"/>
            <a:r>
              <a:rPr sz="1100" b="1" i="0">
                <a:solidFill>
                  <a:srgbClr val="FFFFFF"/>
                </a:solidFill>
                <a:latin typeface="Noto Sans JP"/>
              </a:rPr>
              <a:t>M+6
中間申告</a:t>
            </a:r>
          </a:p>
        </p:txBody>
      </p:sp>
      <p:sp>
        <p:nvSpPr>
          <p:cNvPr id="51" name="Rectangle 50"/>
          <p:cNvSpPr/>
          <p:nvPr/>
        </p:nvSpPr>
        <p:spPr>
          <a:xfrm>
            <a:off x="3803904" y="2651472"/>
            <a:ext cx="914400" cy="93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32704" y="2647872"/>
            <a:ext cx="914400" cy="100800"/>
          </a:xfrm>
          <a:prstGeom prst="rect">
            <a:avLst/>
          </a:prstGeom>
          <a:noFill/>
        </p:spPr>
        <p:txBody>
          <a:bodyPr wrap="square">
            <a:spAutoFit/>
          </a:bodyPr>
          <a:lstStyle/>
          <a:p>
            <a:pPr algn="l"/>
            <a:r>
              <a:rPr sz="700" b="1" i="0">
                <a:solidFill>
                  <a:srgbClr val="FFFFFF"/>
                </a:solidFill>
                <a:latin typeface="Noto Sans JP"/>
              </a:rPr>
              <a:t>法人税等</a:t>
            </a:r>
          </a:p>
        </p:txBody>
      </p:sp>
      <p:sp>
        <p:nvSpPr>
          <p:cNvPr id="53" name="TextBox 52"/>
          <p:cNvSpPr txBox="1"/>
          <p:nvPr/>
        </p:nvSpPr>
        <p:spPr>
          <a:xfrm>
            <a:off x="3822192" y="2763072"/>
            <a:ext cx="2011680" cy="384048"/>
          </a:xfrm>
          <a:prstGeom prst="rect">
            <a:avLst/>
          </a:prstGeom>
          <a:noFill/>
        </p:spPr>
        <p:txBody>
          <a:bodyPr wrap="square">
            <a:spAutoFit/>
          </a:bodyPr>
          <a:lstStyle/>
          <a:p>
            <a:pPr algn="l"/>
            <a:r>
              <a:rPr sz="750" b="0" i="0">
                <a:solidFill>
                  <a:srgbClr val="444444"/>
                </a:solidFill>
                <a:latin typeface="Noto Sans JP"/>
              </a:rPr>
              <a:t>★ 中間申告・納付（前期税額の1/2）</a:t>
            </a:r>
          </a:p>
        </p:txBody>
      </p:sp>
      <p:sp>
        <p:nvSpPr>
          <p:cNvPr id="54" name="Rectangle 53"/>
          <p:cNvSpPr/>
          <p:nvPr/>
        </p:nvSpPr>
        <p:spPr>
          <a:xfrm>
            <a:off x="3803904" y="3126960"/>
            <a:ext cx="914400" cy="936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32704" y="3123360"/>
            <a:ext cx="914400" cy="100800"/>
          </a:xfrm>
          <a:prstGeom prst="rect">
            <a:avLst/>
          </a:prstGeom>
          <a:noFill/>
        </p:spPr>
        <p:txBody>
          <a:bodyPr wrap="square">
            <a:spAutoFit/>
          </a:bodyPr>
          <a:lstStyle/>
          <a:p>
            <a:pPr algn="l"/>
            <a:r>
              <a:rPr sz="700" b="1" i="0">
                <a:solidFill>
                  <a:srgbClr val="FFFFFF"/>
                </a:solidFill>
                <a:latin typeface="Noto Sans JP"/>
              </a:rPr>
              <a:t>消費税</a:t>
            </a:r>
          </a:p>
        </p:txBody>
      </p:sp>
      <p:sp>
        <p:nvSpPr>
          <p:cNvPr id="56" name="TextBox 55"/>
          <p:cNvSpPr txBox="1"/>
          <p:nvPr/>
        </p:nvSpPr>
        <p:spPr>
          <a:xfrm>
            <a:off x="3822192" y="3238560"/>
            <a:ext cx="2011680" cy="384048"/>
          </a:xfrm>
          <a:prstGeom prst="rect">
            <a:avLst/>
          </a:prstGeom>
          <a:noFill/>
        </p:spPr>
        <p:txBody>
          <a:bodyPr wrap="square">
            <a:spAutoFit/>
          </a:bodyPr>
          <a:lstStyle/>
          <a:p>
            <a:pPr algn="l"/>
            <a:r>
              <a:rPr sz="750" b="0" i="0">
                <a:solidFill>
                  <a:srgbClr val="444444"/>
                </a:solidFill>
                <a:latin typeface="Noto Sans JP"/>
              </a:rPr>
              <a:t>中間申告（年1回中間の場合）</a:t>
            </a:r>
          </a:p>
        </p:txBody>
      </p:sp>
      <p:sp>
        <p:nvSpPr>
          <p:cNvPr id="57" name="Rectangle 56"/>
          <p:cNvSpPr/>
          <p:nvPr/>
        </p:nvSpPr>
        <p:spPr>
          <a:xfrm>
            <a:off x="3803904" y="3602448"/>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832704" y="3598848"/>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59" name="TextBox 58"/>
          <p:cNvSpPr txBox="1"/>
          <p:nvPr/>
        </p:nvSpPr>
        <p:spPr>
          <a:xfrm>
            <a:off x="3822192" y="3714048"/>
            <a:ext cx="2011680" cy="384048"/>
          </a:xfrm>
          <a:prstGeom prst="rect">
            <a:avLst/>
          </a:prstGeom>
          <a:noFill/>
        </p:spPr>
        <p:txBody>
          <a:bodyPr wrap="square">
            <a:spAutoFit/>
          </a:bodyPr>
          <a:lstStyle/>
          <a:p>
            <a:pPr algn="l"/>
            <a:r>
              <a:rPr sz="750" b="0" i="0">
                <a:solidFill>
                  <a:srgbClr val="444444"/>
                </a:solidFill>
                <a:latin typeface="Noto Sans JP"/>
              </a:rPr>
              <a:t>前月分 納付（10日）</a:t>
            </a:r>
          </a:p>
        </p:txBody>
      </p:sp>
      <p:sp>
        <p:nvSpPr>
          <p:cNvPr id="60" name="Rounded Rectangle 59"/>
          <p:cNvSpPr/>
          <p:nvPr/>
        </p:nvSpPr>
        <p:spPr>
          <a:xfrm>
            <a:off x="5998464" y="2578608"/>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998464" y="2578608"/>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998464" y="2578608"/>
            <a:ext cx="658368" cy="1572768"/>
          </a:xfrm>
          <a:prstGeom prst="rect">
            <a:avLst/>
          </a:prstGeom>
          <a:noFill/>
        </p:spPr>
        <p:txBody>
          <a:bodyPr wrap="square">
            <a:spAutoFit/>
          </a:bodyPr>
          <a:lstStyle/>
          <a:p>
            <a:pPr algn="ctr"/>
            <a:r>
              <a:rPr sz="1100" b="1" i="0">
                <a:solidFill>
                  <a:srgbClr val="FFFFFF"/>
                </a:solidFill>
                <a:latin typeface="Noto Sans JP"/>
              </a:rPr>
              <a:t>M+7</a:t>
            </a:r>
          </a:p>
        </p:txBody>
      </p:sp>
      <p:sp>
        <p:nvSpPr>
          <p:cNvPr id="63" name="Rectangle 62"/>
          <p:cNvSpPr/>
          <p:nvPr/>
        </p:nvSpPr>
        <p:spPr>
          <a:xfrm>
            <a:off x="6711696" y="2651472"/>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740496" y="2647872"/>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65" name="TextBox 64"/>
          <p:cNvSpPr txBox="1"/>
          <p:nvPr/>
        </p:nvSpPr>
        <p:spPr>
          <a:xfrm>
            <a:off x="6729984" y="2763072"/>
            <a:ext cx="2011680" cy="384048"/>
          </a:xfrm>
          <a:prstGeom prst="rect">
            <a:avLst/>
          </a:prstGeom>
          <a:noFill/>
        </p:spPr>
        <p:txBody>
          <a:bodyPr wrap="square">
            <a:spAutoFit/>
          </a:bodyPr>
          <a:lstStyle/>
          <a:p>
            <a:pPr algn="l"/>
            <a:r>
              <a:rPr sz="750" b="0" i="0">
                <a:solidFill>
                  <a:srgbClr val="444444"/>
                </a:solidFill>
                <a:latin typeface="Noto Sans JP"/>
              </a:rPr>
              <a:t>前月分 納付（10日まで）</a:t>
            </a:r>
          </a:p>
        </p:txBody>
      </p:sp>
      <p:sp>
        <p:nvSpPr>
          <p:cNvPr id="66" name="Rounded Rectangle 65"/>
          <p:cNvSpPr/>
          <p:nvPr/>
        </p:nvSpPr>
        <p:spPr>
          <a:xfrm>
            <a:off x="8906256" y="2578608"/>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8906256" y="2578608"/>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906256" y="2578608"/>
            <a:ext cx="658368" cy="1572768"/>
          </a:xfrm>
          <a:prstGeom prst="rect">
            <a:avLst/>
          </a:prstGeom>
          <a:noFill/>
        </p:spPr>
        <p:txBody>
          <a:bodyPr wrap="square">
            <a:spAutoFit/>
          </a:bodyPr>
          <a:lstStyle/>
          <a:p>
            <a:pPr algn="ctr"/>
            <a:r>
              <a:rPr sz="1100" b="1" i="0">
                <a:solidFill>
                  <a:srgbClr val="FFFFFF"/>
                </a:solidFill>
                <a:latin typeface="Noto Sans JP"/>
              </a:rPr>
              <a:t>M+8</a:t>
            </a:r>
          </a:p>
        </p:txBody>
      </p:sp>
      <p:sp>
        <p:nvSpPr>
          <p:cNvPr id="69" name="Rectangle 68"/>
          <p:cNvSpPr/>
          <p:nvPr/>
        </p:nvSpPr>
        <p:spPr>
          <a:xfrm>
            <a:off x="9619488" y="2651472"/>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648288" y="2647872"/>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71" name="TextBox 70"/>
          <p:cNvSpPr txBox="1"/>
          <p:nvPr/>
        </p:nvSpPr>
        <p:spPr>
          <a:xfrm>
            <a:off x="9637776" y="2763072"/>
            <a:ext cx="2011680" cy="384048"/>
          </a:xfrm>
          <a:prstGeom prst="rect">
            <a:avLst/>
          </a:prstGeom>
          <a:noFill/>
        </p:spPr>
        <p:txBody>
          <a:bodyPr wrap="square">
            <a:spAutoFit/>
          </a:bodyPr>
          <a:lstStyle/>
          <a:p>
            <a:pPr algn="l"/>
            <a:r>
              <a:rPr sz="750" b="0" i="0">
                <a:solidFill>
                  <a:srgbClr val="444444"/>
                </a:solidFill>
                <a:latin typeface="Noto Sans JP"/>
              </a:rPr>
              <a:t>前月分 納付</a:t>
            </a:r>
          </a:p>
        </p:txBody>
      </p:sp>
      <p:sp>
        <p:nvSpPr>
          <p:cNvPr id="72" name="Rectangle 71"/>
          <p:cNvSpPr/>
          <p:nvPr/>
        </p:nvSpPr>
        <p:spPr>
          <a:xfrm>
            <a:off x="9619488" y="3126960"/>
            <a:ext cx="914400" cy="936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648288" y="3123360"/>
            <a:ext cx="914400" cy="100800"/>
          </a:xfrm>
          <a:prstGeom prst="rect">
            <a:avLst/>
          </a:prstGeom>
          <a:noFill/>
        </p:spPr>
        <p:txBody>
          <a:bodyPr wrap="square">
            <a:spAutoFit/>
          </a:bodyPr>
          <a:lstStyle/>
          <a:p>
            <a:pPr algn="l"/>
            <a:r>
              <a:rPr sz="700" b="1" i="0">
                <a:solidFill>
                  <a:srgbClr val="FFFFFF"/>
                </a:solidFill>
                <a:latin typeface="Noto Sans JP"/>
              </a:rPr>
              <a:t>消費税</a:t>
            </a:r>
          </a:p>
        </p:txBody>
      </p:sp>
      <p:sp>
        <p:nvSpPr>
          <p:cNvPr id="74" name="TextBox 73"/>
          <p:cNvSpPr txBox="1"/>
          <p:nvPr/>
        </p:nvSpPr>
        <p:spPr>
          <a:xfrm>
            <a:off x="9637776" y="3238560"/>
            <a:ext cx="2011680" cy="384048"/>
          </a:xfrm>
          <a:prstGeom prst="rect">
            <a:avLst/>
          </a:prstGeom>
          <a:noFill/>
        </p:spPr>
        <p:txBody>
          <a:bodyPr wrap="square">
            <a:spAutoFit/>
          </a:bodyPr>
          <a:lstStyle/>
          <a:p>
            <a:pPr algn="l"/>
            <a:r>
              <a:rPr sz="750" b="0" i="0">
                <a:solidFill>
                  <a:srgbClr val="444444"/>
                </a:solidFill>
                <a:latin typeface="Noto Sans JP"/>
              </a:rPr>
              <a:t>中間申告（年3回の場合・2回目）</a:t>
            </a:r>
          </a:p>
        </p:txBody>
      </p:sp>
      <p:sp>
        <p:nvSpPr>
          <p:cNvPr id="75" name="Rounded Rectangle 74"/>
          <p:cNvSpPr/>
          <p:nvPr/>
        </p:nvSpPr>
        <p:spPr>
          <a:xfrm>
            <a:off x="182880" y="4197096"/>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82880" y="4197096"/>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82880" y="4197096"/>
            <a:ext cx="658368" cy="1572768"/>
          </a:xfrm>
          <a:prstGeom prst="rect">
            <a:avLst/>
          </a:prstGeom>
          <a:noFill/>
        </p:spPr>
        <p:txBody>
          <a:bodyPr wrap="square">
            <a:spAutoFit/>
          </a:bodyPr>
          <a:lstStyle/>
          <a:p>
            <a:pPr algn="ctr"/>
            <a:r>
              <a:rPr sz="1100" b="1" i="0">
                <a:solidFill>
                  <a:srgbClr val="FFFFFF"/>
                </a:solidFill>
                <a:latin typeface="Noto Sans JP"/>
              </a:rPr>
              <a:t>M+9</a:t>
            </a:r>
          </a:p>
        </p:txBody>
      </p:sp>
      <p:sp>
        <p:nvSpPr>
          <p:cNvPr id="78" name="Rectangle 77"/>
          <p:cNvSpPr/>
          <p:nvPr/>
        </p:nvSpPr>
        <p:spPr>
          <a:xfrm>
            <a:off x="896112" y="4269960"/>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24912" y="4266360"/>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80" name="TextBox 79"/>
          <p:cNvSpPr txBox="1"/>
          <p:nvPr/>
        </p:nvSpPr>
        <p:spPr>
          <a:xfrm>
            <a:off x="914400" y="4381560"/>
            <a:ext cx="2011680" cy="384048"/>
          </a:xfrm>
          <a:prstGeom prst="rect">
            <a:avLst/>
          </a:prstGeom>
          <a:noFill/>
        </p:spPr>
        <p:txBody>
          <a:bodyPr wrap="square">
            <a:spAutoFit/>
          </a:bodyPr>
          <a:lstStyle/>
          <a:p>
            <a:pPr algn="l"/>
            <a:r>
              <a:rPr sz="750" b="0" i="0">
                <a:solidFill>
                  <a:srgbClr val="444444"/>
                </a:solidFill>
                <a:latin typeface="Noto Sans JP"/>
              </a:rPr>
              <a:t>前月分 納付</a:t>
            </a:r>
          </a:p>
        </p:txBody>
      </p:sp>
      <p:sp>
        <p:nvSpPr>
          <p:cNvPr id="81" name="Rectangle 80"/>
          <p:cNvSpPr/>
          <p:nvPr/>
        </p:nvSpPr>
        <p:spPr>
          <a:xfrm>
            <a:off x="896112" y="4745448"/>
            <a:ext cx="914400" cy="93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24912" y="4741848"/>
            <a:ext cx="914400" cy="100800"/>
          </a:xfrm>
          <a:prstGeom prst="rect">
            <a:avLst/>
          </a:prstGeom>
          <a:noFill/>
        </p:spPr>
        <p:txBody>
          <a:bodyPr wrap="square">
            <a:spAutoFit/>
          </a:bodyPr>
          <a:lstStyle/>
          <a:p>
            <a:pPr algn="l"/>
            <a:r>
              <a:rPr sz="700" b="1" i="0">
                <a:solidFill>
                  <a:srgbClr val="FFFFFF"/>
                </a:solidFill>
                <a:latin typeface="Noto Sans JP"/>
              </a:rPr>
              <a:t>法人税等</a:t>
            </a:r>
          </a:p>
        </p:txBody>
      </p:sp>
      <p:sp>
        <p:nvSpPr>
          <p:cNvPr id="83" name="TextBox 82"/>
          <p:cNvSpPr txBox="1"/>
          <p:nvPr/>
        </p:nvSpPr>
        <p:spPr>
          <a:xfrm>
            <a:off x="914400" y="4857048"/>
            <a:ext cx="2011680" cy="384048"/>
          </a:xfrm>
          <a:prstGeom prst="rect">
            <a:avLst/>
          </a:prstGeom>
          <a:noFill/>
        </p:spPr>
        <p:txBody>
          <a:bodyPr wrap="square">
            <a:spAutoFit/>
          </a:bodyPr>
          <a:lstStyle/>
          <a:p>
            <a:pPr algn="l"/>
            <a:r>
              <a:rPr sz="750" b="0" i="0">
                <a:solidFill>
                  <a:srgbClr val="444444"/>
                </a:solidFill>
                <a:latin typeface="Noto Sans JP"/>
              </a:rPr>
              <a:t>中間申告（年3回の場合・3回目）</a:t>
            </a:r>
          </a:p>
        </p:txBody>
      </p:sp>
      <p:sp>
        <p:nvSpPr>
          <p:cNvPr id="84" name="Rounded Rectangle 83"/>
          <p:cNvSpPr/>
          <p:nvPr/>
        </p:nvSpPr>
        <p:spPr>
          <a:xfrm>
            <a:off x="3090672" y="4197096"/>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3090672" y="4197096"/>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3090672" y="4197096"/>
            <a:ext cx="658368" cy="1572768"/>
          </a:xfrm>
          <a:prstGeom prst="rect">
            <a:avLst/>
          </a:prstGeom>
          <a:noFill/>
        </p:spPr>
        <p:txBody>
          <a:bodyPr wrap="square">
            <a:spAutoFit/>
          </a:bodyPr>
          <a:lstStyle/>
          <a:p>
            <a:pPr algn="ctr"/>
            <a:r>
              <a:rPr sz="1100" b="1" i="0">
                <a:solidFill>
                  <a:srgbClr val="FFFFFF"/>
                </a:solidFill>
                <a:latin typeface="Noto Sans JP"/>
              </a:rPr>
              <a:t>M+10</a:t>
            </a:r>
          </a:p>
        </p:txBody>
      </p:sp>
      <p:sp>
        <p:nvSpPr>
          <p:cNvPr id="87" name="Rectangle 86"/>
          <p:cNvSpPr/>
          <p:nvPr/>
        </p:nvSpPr>
        <p:spPr>
          <a:xfrm>
            <a:off x="3803904" y="4269960"/>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832704" y="4266360"/>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89" name="TextBox 88"/>
          <p:cNvSpPr txBox="1"/>
          <p:nvPr/>
        </p:nvSpPr>
        <p:spPr>
          <a:xfrm>
            <a:off x="3822192" y="4381560"/>
            <a:ext cx="2011680" cy="384048"/>
          </a:xfrm>
          <a:prstGeom prst="rect">
            <a:avLst/>
          </a:prstGeom>
          <a:noFill/>
        </p:spPr>
        <p:txBody>
          <a:bodyPr wrap="square">
            <a:spAutoFit/>
          </a:bodyPr>
          <a:lstStyle/>
          <a:p>
            <a:pPr algn="l"/>
            <a:r>
              <a:rPr sz="750" b="0" i="0">
                <a:solidFill>
                  <a:srgbClr val="444444"/>
                </a:solidFill>
                <a:latin typeface="Noto Sans JP"/>
              </a:rPr>
              <a:t>7〜12月分 一括納付（20日）</a:t>
            </a:r>
          </a:p>
        </p:txBody>
      </p:sp>
      <p:sp>
        <p:nvSpPr>
          <p:cNvPr id="90" name="Rectangle 89"/>
          <p:cNvSpPr/>
          <p:nvPr/>
        </p:nvSpPr>
        <p:spPr>
          <a:xfrm>
            <a:off x="3803904" y="4745448"/>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832704" y="4741848"/>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92" name="TextBox 91"/>
          <p:cNvSpPr txBox="1"/>
          <p:nvPr/>
        </p:nvSpPr>
        <p:spPr>
          <a:xfrm>
            <a:off x="3822192" y="4857048"/>
            <a:ext cx="2011680" cy="384048"/>
          </a:xfrm>
          <a:prstGeom prst="rect">
            <a:avLst/>
          </a:prstGeom>
          <a:noFill/>
        </p:spPr>
        <p:txBody>
          <a:bodyPr wrap="square">
            <a:spAutoFit/>
          </a:bodyPr>
          <a:lstStyle/>
          <a:p>
            <a:pPr algn="l"/>
            <a:r>
              <a:rPr sz="750" b="0" i="0">
                <a:solidFill>
                  <a:srgbClr val="444444"/>
                </a:solidFill>
                <a:latin typeface="Noto Sans JP"/>
              </a:rPr>
              <a:t>前月分 納付（10日）</a:t>
            </a:r>
          </a:p>
        </p:txBody>
      </p:sp>
      <p:sp>
        <p:nvSpPr>
          <p:cNvPr id="93" name="Rounded Rectangle 92"/>
          <p:cNvSpPr/>
          <p:nvPr/>
        </p:nvSpPr>
        <p:spPr>
          <a:xfrm>
            <a:off x="5998464" y="4197096"/>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5998464" y="4197096"/>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998464" y="4197096"/>
            <a:ext cx="658368" cy="1572768"/>
          </a:xfrm>
          <a:prstGeom prst="rect">
            <a:avLst/>
          </a:prstGeom>
          <a:noFill/>
        </p:spPr>
        <p:txBody>
          <a:bodyPr wrap="square">
            <a:spAutoFit/>
          </a:bodyPr>
          <a:lstStyle/>
          <a:p>
            <a:pPr algn="ctr"/>
            <a:r>
              <a:rPr sz="1100" b="1" i="0">
                <a:solidFill>
                  <a:srgbClr val="FFFFFF"/>
                </a:solidFill>
                <a:latin typeface="Noto Sans JP"/>
              </a:rPr>
              <a:t>M+11</a:t>
            </a:r>
          </a:p>
        </p:txBody>
      </p:sp>
      <p:sp>
        <p:nvSpPr>
          <p:cNvPr id="96" name="Rectangle 95"/>
          <p:cNvSpPr/>
          <p:nvPr/>
        </p:nvSpPr>
        <p:spPr>
          <a:xfrm>
            <a:off x="6711696" y="4269960"/>
            <a:ext cx="914400" cy="936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740496" y="4266360"/>
            <a:ext cx="914400" cy="100800"/>
          </a:xfrm>
          <a:prstGeom prst="rect">
            <a:avLst/>
          </a:prstGeom>
          <a:noFill/>
        </p:spPr>
        <p:txBody>
          <a:bodyPr wrap="square">
            <a:spAutoFit/>
          </a:bodyPr>
          <a:lstStyle/>
          <a:p>
            <a:pPr algn="l"/>
            <a:r>
              <a:rPr sz="700" b="1" i="0">
                <a:solidFill>
                  <a:srgbClr val="FFFFFF"/>
                </a:solidFill>
                <a:latin typeface="Noto Sans JP"/>
              </a:rPr>
              <a:t>年末調整</a:t>
            </a:r>
          </a:p>
        </p:txBody>
      </p:sp>
      <p:sp>
        <p:nvSpPr>
          <p:cNvPr id="98" name="TextBox 97"/>
          <p:cNvSpPr txBox="1"/>
          <p:nvPr/>
        </p:nvSpPr>
        <p:spPr>
          <a:xfrm>
            <a:off x="6729984" y="4381560"/>
            <a:ext cx="2011680" cy="384048"/>
          </a:xfrm>
          <a:prstGeom prst="rect">
            <a:avLst/>
          </a:prstGeom>
          <a:noFill/>
        </p:spPr>
        <p:txBody>
          <a:bodyPr wrap="square">
            <a:spAutoFit/>
          </a:bodyPr>
          <a:lstStyle/>
          <a:p>
            <a:pPr algn="l"/>
            <a:r>
              <a:rPr sz="750" b="0" i="0">
                <a:solidFill>
                  <a:srgbClr val="444444"/>
                </a:solidFill>
                <a:latin typeface="Noto Sans JP"/>
              </a:rPr>
              <a:t>12月給与で年末調整を実施（毎年12月固定）</a:t>
            </a:r>
          </a:p>
        </p:txBody>
      </p:sp>
      <p:sp>
        <p:nvSpPr>
          <p:cNvPr id="99" name="Rectangle 98"/>
          <p:cNvSpPr/>
          <p:nvPr/>
        </p:nvSpPr>
        <p:spPr>
          <a:xfrm>
            <a:off x="6711696" y="4745448"/>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740496" y="4741848"/>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101" name="TextBox 100"/>
          <p:cNvSpPr txBox="1"/>
          <p:nvPr/>
        </p:nvSpPr>
        <p:spPr>
          <a:xfrm>
            <a:off x="6729984" y="4857048"/>
            <a:ext cx="2011680" cy="384048"/>
          </a:xfrm>
          <a:prstGeom prst="rect">
            <a:avLst/>
          </a:prstGeom>
          <a:noFill/>
        </p:spPr>
        <p:txBody>
          <a:bodyPr wrap="square">
            <a:spAutoFit/>
          </a:bodyPr>
          <a:lstStyle/>
          <a:p>
            <a:pPr algn="l"/>
            <a:r>
              <a:rPr sz="750" b="0" i="0">
                <a:solidFill>
                  <a:srgbClr val="444444"/>
                </a:solidFill>
                <a:latin typeface="Noto Sans JP"/>
              </a:rPr>
              <a:t>前月分 納付</a:t>
            </a:r>
          </a:p>
        </p:txBody>
      </p:sp>
      <p:sp>
        <p:nvSpPr>
          <p:cNvPr id="102" name="Rounded Rectangle 101"/>
          <p:cNvSpPr/>
          <p:nvPr/>
        </p:nvSpPr>
        <p:spPr>
          <a:xfrm>
            <a:off x="8906256" y="4197096"/>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906256" y="4197096"/>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8906256" y="4197096"/>
            <a:ext cx="658368" cy="1572768"/>
          </a:xfrm>
          <a:prstGeom prst="rect">
            <a:avLst/>
          </a:prstGeom>
          <a:noFill/>
        </p:spPr>
        <p:txBody>
          <a:bodyPr wrap="square">
            <a:spAutoFit/>
          </a:bodyPr>
          <a:lstStyle/>
          <a:p>
            <a:pPr algn="ctr"/>
            <a:r>
              <a:rPr sz="1100" b="1" i="0">
                <a:solidFill>
                  <a:srgbClr val="FFFFFF"/>
                </a:solidFill>
                <a:latin typeface="Noto Sans JP"/>
              </a:rPr>
              <a:t>M+12
（決算月）</a:t>
            </a:r>
          </a:p>
        </p:txBody>
      </p:sp>
      <p:sp>
        <p:nvSpPr>
          <p:cNvPr id="105" name="Rectangle 104"/>
          <p:cNvSpPr/>
          <p:nvPr/>
        </p:nvSpPr>
        <p:spPr>
          <a:xfrm>
            <a:off x="9619488" y="4269960"/>
            <a:ext cx="914400" cy="93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9648288" y="4266360"/>
            <a:ext cx="914400" cy="100800"/>
          </a:xfrm>
          <a:prstGeom prst="rect">
            <a:avLst/>
          </a:prstGeom>
          <a:noFill/>
        </p:spPr>
        <p:txBody>
          <a:bodyPr wrap="square">
            <a:spAutoFit/>
          </a:bodyPr>
          <a:lstStyle/>
          <a:p>
            <a:pPr algn="l"/>
            <a:r>
              <a:rPr sz="700" b="1" i="0">
                <a:solidFill>
                  <a:srgbClr val="FFFFFF"/>
                </a:solidFill>
                <a:latin typeface="Noto Sans JP"/>
              </a:rPr>
              <a:t>決算</a:t>
            </a:r>
          </a:p>
        </p:txBody>
      </p:sp>
      <p:sp>
        <p:nvSpPr>
          <p:cNvPr id="107" name="TextBox 106"/>
          <p:cNvSpPr txBox="1"/>
          <p:nvPr/>
        </p:nvSpPr>
        <p:spPr>
          <a:xfrm>
            <a:off x="9637776" y="4381560"/>
            <a:ext cx="2011680" cy="384048"/>
          </a:xfrm>
          <a:prstGeom prst="rect">
            <a:avLst/>
          </a:prstGeom>
          <a:noFill/>
        </p:spPr>
        <p:txBody>
          <a:bodyPr wrap="square">
            <a:spAutoFit/>
          </a:bodyPr>
          <a:lstStyle/>
          <a:p>
            <a:pPr algn="l"/>
            <a:r>
              <a:rPr sz="750" b="0" i="0">
                <a:solidFill>
                  <a:srgbClr val="444444"/>
                </a:solidFill>
                <a:latin typeface="Noto Sans JP"/>
              </a:rPr>
              <a:t>期末 → 決算資料の収集・整理開始</a:t>
            </a:r>
          </a:p>
        </p:txBody>
      </p:sp>
      <p:sp>
        <p:nvSpPr>
          <p:cNvPr id="108" name="Rectangle 107"/>
          <p:cNvSpPr/>
          <p:nvPr/>
        </p:nvSpPr>
        <p:spPr>
          <a:xfrm>
            <a:off x="9619488" y="4745448"/>
            <a:ext cx="914400" cy="936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648288" y="4741848"/>
            <a:ext cx="914400" cy="100800"/>
          </a:xfrm>
          <a:prstGeom prst="rect">
            <a:avLst/>
          </a:prstGeom>
          <a:noFill/>
        </p:spPr>
        <p:txBody>
          <a:bodyPr wrap="square">
            <a:spAutoFit/>
          </a:bodyPr>
          <a:lstStyle/>
          <a:p>
            <a:pPr algn="l"/>
            <a:r>
              <a:rPr sz="700" b="1" i="0">
                <a:solidFill>
                  <a:srgbClr val="FFFFFF"/>
                </a:solidFill>
                <a:latin typeface="Noto Sans JP"/>
              </a:rPr>
              <a:t>法定調書</a:t>
            </a:r>
          </a:p>
        </p:txBody>
      </p:sp>
      <p:sp>
        <p:nvSpPr>
          <p:cNvPr id="110" name="TextBox 109"/>
          <p:cNvSpPr txBox="1"/>
          <p:nvPr/>
        </p:nvSpPr>
        <p:spPr>
          <a:xfrm>
            <a:off x="9637776" y="4857048"/>
            <a:ext cx="2011680" cy="384048"/>
          </a:xfrm>
          <a:prstGeom prst="rect">
            <a:avLst/>
          </a:prstGeom>
          <a:noFill/>
        </p:spPr>
        <p:txBody>
          <a:bodyPr wrap="square">
            <a:spAutoFit/>
          </a:bodyPr>
          <a:lstStyle/>
          <a:p>
            <a:pPr algn="l"/>
            <a:r>
              <a:rPr sz="750" b="0" i="0">
                <a:solidFill>
                  <a:srgbClr val="444444"/>
                </a:solidFill>
                <a:latin typeface="Noto Sans JP"/>
              </a:rPr>
              <a:t>給与支払報告書・合計表（1月31日固定）</a:t>
            </a:r>
          </a:p>
        </p:txBody>
      </p:sp>
      <p:sp>
        <p:nvSpPr>
          <p:cNvPr id="111" name="Rectangle 110"/>
          <p:cNvSpPr/>
          <p:nvPr/>
        </p:nvSpPr>
        <p:spPr>
          <a:xfrm>
            <a:off x="9619488" y="5220936"/>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9648288" y="5217336"/>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113" name="TextBox 112"/>
          <p:cNvSpPr txBox="1"/>
          <p:nvPr/>
        </p:nvSpPr>
        <p:spPr>
          <a:xfrm>
            <a:off x="9637776" y="5332536"/>
            <a:ext cx="2011680" cy="384048"/>
          </a:xfrm>
          <a:prstGeom prst="rect">
            <a:avLst/>
          </a:prstGeom>
          <a:noFill/>
        </p:spPr>
        <p:txBody>
          <a:bodyPr wrap="square">
            <a:spAutoFit/>
          </a:bodyPr>
          <a:lstStyle/>
          <a:p>
            <a:pPr algn="l"/>
            <a:r>
              <a:rPr sz="750" b="0" i="0">
                <a:solidFill>
                  <a:srgbClr val="444444"/>
                </a:solidFill>
                <a:latin typeface="Noto Sans JP"/>
              </a:rPr>
              <a:t>前月分 納付</a:t>
            </a:r>
          </a:p>
        </p:txBody>
      </p:sp>
      <p:sp>
        <p:nvSpPr>
          <p:cNvPr id="114" name="TextBox 113"/>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年末調整（毎年12月）・法定調書（毎年1月31日）・償却資産税申告（毎年1月31日）は暦年固定のイベントです。M+Nとは別にご管理ください。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04</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消費税の基本</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免税事業者のルールと、インボイス制度対応の考え方</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04</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04</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消費税の基本</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005840"/>
            <a:ext cx="5394960" cy="365760"/>
          </a:xfrm>
          <a:prstGeom prst="rect">
            <a:avLst/>
          </a:prstGeom>
          <a:noFill/>
        </p:spPr>
        <p:txBody>
          <a:bodyPr wrap="square">
            <a:spAutoFit/>
          </a:bodyPr>
          <a:lstStyle/>
          <a:p>
            <a:pPr algn="l"/>
            <a:r>
              <a:rPr sz="1200" b="1" i="0">
                <a:solidFill>
                  <a:srgbClr val="1A1A1A"/>
                </a:solidFill>
                <a:latin typeface="Noto Sans JP"/>
              </a:rPr>
              <a:t>免税事業者の判定フロー</a:t>
            </a:r>
          </a:p>
        </p:txBody>
      </p:sp>
      <p:sp>
        <p:nvSpPr>
          <p:cNvPr id="7" name="Rounded Rectangle 6"/>
          <p:cNvSpPr/>
          <p:nvPr/>
        </p:nvSpPr>
        <p:spPr>
          <a:xfrm>
            <a:off x="182880" y="1463040"/>
            <a:ext cx="539496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 y="1463040"/>
            <a:ext cx="749808"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2880" y="1463040"/>
            <a:ext cx="749808" cy="1078992"/>
          </a:xfrm>
          <a:prstGeom prst="rect">
            <a:avLst/>
          </a:prstGeom>
          <a:noFill/>
        </p:spPr>
        <p:txBody>
          <a:bodyPr wrap="square">
            <a:spAutoFit/>
          </a:bodyPr>
          <a:lstStyle/>
          <a:p>
            <a:pPr algn="ctr"/>
            <a:r>
              <a:rPr sz="800" b="1" i="0">
                <a:solidFill>
                  <a:srgbClr val="FFFFFF"/>
                </a:solidFill>
                <a:latin typeface="Noto Sans JP"/>
              </a:rPr>
              <a:t>STEP 1</a:t>
            </a:r>
          </a:p>
        </p:txBody>
      </p:sp>
      <p:sp>
        <p:nvSpPr>
          <p:cNvPr id="10" name="TextBox 9"/>
          <p:cNvSpPr txBox="1"/>
          <p:nvPr/>
        </p:nvSpPr>
        <p:spPr>
          <a:xfrm>
            <a:off x="1005840" y="1554480"/>
            <a:ext cx="4480560" cy="365760"/>
          </a:xfrm>
          <a:prstGeom prst="rect">
            <a:avLst/>
          </a:prstGeom>
          <a:noFill/>
        </p:spPr>
        <p:txBody>
          <a:bodyPr wrap="square">
            <a:spAutoFit/>
          </a:bodyPr>
          <a:lstStyle/>
          <a:p>
            <a:pPr algn="l"/>
            <a:r>
              <a:rPr sz="1000" b="1" i="0">
                <a:solidFill>
                  <a:srgbClr val="1A1A1A"/>
                </a:solidFill>
                <a:latin typeface="Noto Sans JP"/>
              </a:rPr>
              <a:t>基準期間（2期前）の課税売上高は？</a:t>
            </a:r>
          </a:p>
        </p:txBody>
      </p:sp>
      <p:sp>
        <p:nvSpPr>
          <p:cNvPr id="11" name="TextBox 10"/>
          <p:cNvSpPr txBox="1"/>
          <p:nvPr/>
        </p:nvSpPr>
        <p:spPr>
          <a:xfrm>
            <a:off x="1005840" y="1965960"/>
            <a:ext cx="4480560" cy="502920"/>
          </a:xfrm>
          <a:prstGeom prst="rect">
            <a:avLst/>
          </a:prstGeom>
          <a:noFill/>
        </p:spPr>
        <p:txBody>
          <a:bodyPr wrap="square">
            <a:spAutoFit/>
          </a:bodyPr>
          <a:lstStyle/>
          <a:p>
            <a:pPr algn="l"/>
            <a:r>
              <a:rPr sz="850" b="0" i="0">
                <a:solidFill>
                  <a:srgbClr val="444444"/>
                </a:solidFill>
                <a:latin typeface="Noto Sans JP"/>
              </a:rPr>
              <a:t>1,000万円以下 → 次のSTEPへ　/　超 → 課税事業者（申告義務あり）</a:t>
            </a:r>
          </a:p>
        </p:txBody>
      </p:sp>
      <p:sp>
        <p:nvSpPr>
          <p:cNvPr id="12" name="Rounded Rectangle 11"/>
          <p:cNvSpPr/>
          <p:nvPr/>
        </p:nvSpPr>
        <p:spPr>
          <a:xfrm>
            <a:off x="182880" y="2651760"/>
            <a:ext cx="539496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2651760"/>
            <a:ext cx="749808"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2880" y="2651760"/>
            <a:ext cx="749808" cy="1078992"/>
          </a:xfrm>
          <a:prstGeom prst="rect">
            <a:avLst/>
          </a:prstGeom>
          <a:noFill/>
        </p:spPr>
        <p:txBody>
          <a:bodyPr wrap="square">
            <a:spAutoFit/>
          </a:bodyPr>
          <a:lstStyle/>
          <a:p>
            <a:pPr algn="ctr"/>
            <a:r>
              <a:rPr sz="800" b="1" i="0">
                <a:solidFill>
                  <a:srgbClr val="FFFFFF"/>
                </a:solidFill>
                <a:latin typeface="Noto Sans JP"/>
              </a:rPr>
              <a:t>STEP 2</a:t>
            </a:r>
          </a:p>
        </p:txBody>
      </p:sp>
      <p:sp>
        <p:nvSpPr>
          <p:cNvPr id="15" name="TextBox 14"/>
          <p:cNvSpPr txBox="1"/>
          <p:nvPr/>
        </p:nvSpPr>
        <p:spPr>
          <a:xfrm>
            <a:off x="1005840" y="2743200"/>
            <a:ext cx="4480560" cy="365760"/>
          </a:xfrm>
          <a:prstGeom prst="rect">
            <a:avLst/>
          </a:prstGeom>
          <a:noFill/>
        </p:spPr>
        <p:txBody>
          <a:bodyPr wrap="square">
            <a:spAutoFit/>
          </a:bodyPr>
          <a:lstStyle/>
          <a:p>
            <a:pPr algn="l"/>
            <a:r>
              <a:rPr sz="1000" b="1" i="0">
                <a:solidFill>
                  <a:srgbClr val="1A1A1A"/>
                </a:solidFill>
                <a:latin typeface="Noto Sans JP"/>
              </a:rPr>
              <a:t>特定期間（前期上半期）の売上・給与は？</a:t>
            </a:r>
          </a:p>
        </p:txBody>
      </p:sp>
      <p:sp>
        <p:nvSpPr>
          <p:cNvPr id="16" name="TextBox 15"/>
          <p:cNvSpPr txBox="1"/>
          <p:nvPr/>
        </p:nvSpPr>
        <p:spPr>
          <a:xfrm>
            <a:off x="1005840" y="3154680"/>
            <a:ext cx="4480560" cy="502920"/>
          </a:xfrm>
          <a:prstGeom prst="rect">
            <a:avLst/>
          </a:prstGeom>
          <a:noFill/>
        </p:spPr>
        <p:txBody>
          <a:bodyPr wrap="square">
            <a:spAutoFit/>
          </a:bodyPr>
          <a:lstStyle/>
          <a:p>
            <a:pPr algn="l"/>
            <a:r>
              <a:rPr sz="850" b="0" i="0">
                <a:solidFill>
                  <a:srgbClr val="444444"/>
                </a:solidFill>
                <a:latin typeface="Noto Sans JP"/>
              </a:rPr>
              <a:t>各1,000万円以下 → 次のSTEPへ　/　超 → 課税事業者</a:t>
            </a:r>
          </a:p>
        </p:txBody>
      </p:sp>
      <p:sp>
        <p:nvSpPr>
          <p:cNvPr id="17" name="Rounded Rectangle 16"/>
          <p:cNvSpPr/>
          <p:nvPr/>
        </p:nvSpPr>
        <p:spPr>
          <a:xfrm>
            <a:off x="182880" y="3840480"/>
            <a:ext cx="539496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2880" y="3840480"/>
            <a:ext cx="749808"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2880" y="3840480"/>
            <a:ext cx="749808" cy="1078992"/>
          </a:xfrm>
          <a:prstGeom prst="rect">
            <a:avLst/>
          </a:prstGeom>
          <a:noFill/>
        </p:spPr>
        <p:txBody>
          <a:bodyPr wrap="square">
            <a:spAutoFit/>
          </a:bodyPr>
          <a:lstStyle/>
          <a:p>
            <a:pPr algn="ctr"/>
            <a:r>
              <a:rPr sz="800" b="1" i="0">
                <a:solidFill>
                  <a:srgbClr val="FFFFFF"/>
                </a:solidFill>
                <a:latin typeface="Noto Sans JP"/>
              </a:rPr>
              <a:t>STEP 3</a:t>
            </a:r>
          </a:p>
        </p:txBody>
      </p:sp>
      <p:sp>
        <p:nvSpPr>
          <p:cNvPr id="20" name="TextBox 19"/>
          <p:cNvSpPr txBox="1"/>
          <p:nvPr/>
        </p:nvSpPr>
        <p:spPr>
          <a:xfrm>
            <a:off x="1005840" y="3931920"/>
            <a:ext cx="4480560" cy="365760"/>
          </a:xfrm>
          <a:prstGeom prst="rect">
            <a:avLst/>
          </a:prstGeom>
          <a:noFill/>
        </p:spPr>
        <p:txBody>
          <a:bodyPr wrap="square">
            <a:spAutoFit/>
          </a:bodyPr>
          <a:lstStyle/>
          <a:p>
            <a:pPr algn="l"/>
            <a:r>
              <a:rPr sz="1000" b="1" i="0">
                <a:solidFill>
                  <a:srgbClr val="1A1A1A"/>
                </a:solidFill>
                <a:latin typeface="Noto Sans JP"/>
              </a:rPr>
              <a:t>資本金は1,000万円未満か？</a:t>
            </a:r>
          </a:p>
        </p:txBody>
      </p:sp>
      <p:sp>
        <p:nvSpPr>
          <p:cNvPr id="21" name="TextBox 20"/>
          <p:cNvSpPr txBox="1"/>
          <p:nvPr/>
        </p:nvSpPr>
        <p:spPr>
          <a:xfrm>
            <a:off x="1005840" y="4343400"/>
            <a:ext cx="4480560" cy="502920"/>
          </a:xfrm>
          <a:prstGeom prst="rect">
            <a:avLst/>
          </a:prstGeom>
          <a:noFill/>
        </p:spPr>
        <p:txBody>
          <a:bodyPr wrap="square">
            <a:spAutoFit/>
          </a:bodyPr>
          <a:lstStyle/>
          <a:p>
            <a:pPr algn="l"/>
            <a:r>
              <a:rPr sz="850" b="0" i="0">
                <a:solidFill>
                  <a:srgbClr val="444444"/>
                </a:solidFill>
                <a:latin typeface="Noto Sans JP"/>
              </a:rPr>
              <a:t>1,000万円以上 → 設立1・2期目から課税事業者になる</a:t>
            </a:r>
          </a:p>
        </p:txBody>
      </p:sp>
      <p:sp>
        <p:nvSpPr>
          <p:cNvPr id="22" name="Rounded Rectangle 21"/>
          <p:cNvSpPr/>
          <p:nvPr/>
        </p:nvSpPr>
        <p:spPr>
          <a:xfrm>
            <a:off x="182880" y="5029200"/>
            <a:ext cx="539496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82880" y="5029200"/>
            <a:ext cx="749808"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82880" y="5029200"/>
            <a:ext cx="749808" cy="1078992"/>
          </a:xfrm>
          <a:prstGeom prst="rect">
            <a:avLst/>
          </a:prstGeom>
          <a:noFill/>
        </p:spPr>
        <p:txBody>
          <a:bodyPr wrap="square">
            <a:spAutoFit/>
          </a:bodyPr>
          <a:lstStyle/>
          <a:p>
            <a:pPr algn="ctr"/>
            <a:r>
              <a:rPr sz="800" b="1" i="0">
                <a:solidFill>
                  <a:srgbClr val="FFFFFF"/>
                </a:solidFill>
                <a:latin typeface="Noto Sans JP"/>
              </a:rPr>
              <a:t>STEP 4</a:t>
            </a:r>
          </a:p>
        </p:txBody>
      </p:sp>
      <p:sp>
        <p:nvSpPr>
          <p:cNvPr id="25" name="TextBox 24"/>
          <p:cNvSpPr txBox="1"/>
          <p:nvPr/>
        </p:nvSpPr>
        <p:spPr>
          <a:xfrm>
            <a:off x="1005840" y="5120640"/>
            <a:ext cx="4480560" cy="365760"/>
          </a:xfrm>
          <a:prstGeom prst="rect">
            <a:avLst/>
          </a:prstGeom>
          <a:noFill/>
        </p:spPr>
        <p:txBody>
          <a:bodyPr wrap="square">
            <a:spAutoFit/>
          </a:bodyPr>
          <a:lstStyle/>
          <a:p>
            <a:pPr algn="l"/>
            <a:r>
              <a:rPr sz="1000" b="1" i="0">
                <a:solidFill>
                  <a:srgbClr val="1A1A1A"/>
                </a:solidFill>
                <a:latin typeface="Noto Sans JP"/>
              </a:rPr>
              <a:t>インボイス（適格請求書）の登録をするか？</a:t>
            </a:r>
          </a:p>
        </p:txBody>
      </p:sp>
      <p:sp>
        <p:nvSpPr>
          <p:cNvPr id="26" name="TextBox 25"/>
          <p:cNvSpPr txBox="1"/>
          <p:nvPr/>
        </p:nvSpPr>
        <p:spPr>
          <a:xfrm>
            <a:off x="1005840" y="5532120"/>
            <a:ext cx="4480560" cy="502920"/>
          </a:xfrm>
          <a:prstGeom prst="rect">
            <a:avLst/>
          </a:prstGeom>
          <a:noFill/>
        </p:spPr>
        <p:txBody>
          <a:bodyPr wrap="square">
            <a:spAutoFit/>
          </a:bodyPr>
          <a:lstStyle/>
          <a:p>
            <a:pPr algn="l"/>
            <a:r>
              <a:rPr sz="850" b="0" i="0">
                <a:solidFill>
                  <a:srgbClr val="444444"/>
                </a:solidFill>
                <a:latin typeface="Noto Sans JP"/>
              </a:rPr>
              <a:t>登録する → 登録日から課税事業者（免税期間でも課税）</a:t>
            </a:r>
          </a:p>
        </p:txBody>
      </p:sp>
      <p:sp>
        <p:nvSpPr>
          <p:cNvPr id="27" name="TextBox 26"/>
          <p:cNvSpPr txBox="1"/>
          <p:nvPr/>
        </p:nvSpPr>
        <p:spPr>
          <a:xfrm>
            <a:off x="5852160" y="1005840"/>
            <a:ext cx="6126480" cy="365760"/>
          </a:xfrm>
          <a:prstGeom prst="rect">
            <a:avLst/>
          </a:prstGeom>
          <a:noFill/>
        </p:spPr>
        <p:txBody>
          <a:bodyPr wrap="square">
            <a:spAutoFit/>
          </a:bodyPr>
          <a:lstStyle/>
          <a:p>
            <a:pPr algn="l"/>
            <a:r>
              <a:rPr sz="1200" b="1" i="0">
                <a:solidFill>
                  <a:srgbClr val="1A1A1A"/>
                </a:solidFill>
                <a:latin typeface="Noto Sans JP"/>
              </a:rPr>
              <a:t>登録すべき？ ケース別の目安</a:t>
            </a:r>
          </a:p>
        </p:txBody>
      </p:sp>
      <p:sp>
        <p:nvSpPr>
          <p:cNvPr id="28" name="Rounded Rectangle 27"/>
          <p:cNvSpPr/>
          <p:nvPr/>
        </p:nvSpPr>
        <p:spPr>
          <a:xfrm>
            <a:off x="5852160" y="1463040"/>
            <a:ext cx="6126480" cy="141732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852160" y="1463040"/>
            <a:ext cx="182880" cy="1417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0" y="1536192"/>
            <a:ext cx="1005840" cy="1008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26480" y="1517904"/>
            <a:ext cx="1005840" cy="108000"/>
          </a:xfrm>
          <a:prstGeom prst="rect">
            <a:avLst/>
          </a:prstGeom>
          <a:noFill/>
        </p:spPr>
        <p:txBody>
          <a:bodyPr wrap="square">
            <a:spAutoFit/>
          </a:bodyPr>
          <a:lstStyle/>
          <a:p>
            <a:pPr algn="ctr"/>
            <a:r>
              <a:rPr sz="800" b="1" i="0">
                <a:solidFill>
                  <a:srgbClr val="FFFFFF"/>
                </a:solidFill>
                <a:latin typeface="Noto Sans JP"/>
              </a:rPr>
              <a:t>BtoB 中心</a:t>
            </a:r>
          </a:p>
        </p:txBody>
      </p:sp>
      <p:sp>
        <p:nvSpPr>
          <p:cNvPr id="32" name="TextBox 31"/>
          <p:cNvSpPr txBox="1"/>
          <p:nvPr/>
        </p:nvSpPr>
        <p:spPr>
          <a:xfrm>
            <a:off x="6126480" y="1865376"/>
            <a:ext cx="5669280" cy="731520"/>
          </a:xfrm>
          <a:prstGeom prst="rect">
            <a:avLst/>
          </a:prstGeom>
          <a:noFill/>
        </p:spPr>
        <p:txBody>
          <a:bodyPr wrap="square">
            <a:spAutoFit/>
          </a:bodyPr>
          <a:lstStyle/>
          <a:p>
            <a:pPr algn="l"/>
            <a:r>
              <a:rPr sz="850" b="0" i="0">
                <a:solidFill>
                  <a:srgbClr val="444444"/>
                </a:solidFill>
                <a:latin typeface="Noto Sans JP"/>
              </a:rPr>
              <a:t>取引先が法人・個人事業主メインの場合
→ インボイス登録（課税事業者）がほぼ必須
  未登録だと相手が仕入税額控除できず、取引を敬遠される可能性あり</a:t>
            </a:r>
          </a:p>
        </p:txBody>
      </p:sp>
      <p:sp>
        <p:nvSpPr>
          <p:cNvPr id="33" name="Rectangle 32"/>
          <p:cNvSpPr/>
          <p:nvPr/>
        </p:nvSpPr>
        <p:spPr>
          <a:xfrm>
            <a:off x="10698480" y="2487168"/>
            <a:ext cx="1097280" cy="10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698480" y="2468880"/>
            <a:ext cx="1097280" cy="115200"/>
          </a:xfrm>
          <a:prstGeom prst="rect">
            <a:avLst/>
          </a:prstGeom>
          <a:noFill/>
        </p:spPr>
        <p:txBody>
          <a:bodyPr wrap="square">
            <a:spAutoFit/>
          </a:bodyPr>
          <a:lstStyle/>
          <a:p>
            <a:pPr algn="ctr"/>
            <a:r>
              <a:rPr sz="750" b="1" i="0">
                <a:solidFill>
                  <a:srgbClr val="FFFFFF"/>
                </a:solidFill>
                <a:latin typeface="Noto Sans JP"/>
              </a:rPr>
              <a:t>登録を強く推奨</a:t>
            </a:r>
          </a:p>
        </p:txBody>
      </p:sp>
      <p:sp>
        <p:nvSpPr>
          <p:cNvPr id="35" name="Rounded Rectangle 34"/>
          <p:cNvSpPr/>
          <p:nvPr/>
        </p:nvSpPr>
        <p:spPr>
          <a:xfrm>
            <a:off x="5852160" y="3035808"/>
            <a:ext cx="6126480" cy="141732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52160" y="3035808"/>
            <a:ext cx="182880" cy="141732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26480" y="3108960"/>
            <a:ext cx="1005840" cy="1008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26480" y="3090672"/>
            <a:ext cx="1005840" cy="108000"/>
          </a:xfrm>
          <a:prstGeom prst="rect">
            <a:avLst/>
          </a:prstGeom>
          <a:noFill/>
        </p:spPr>
        <p:txBody>
          <a:bodyPr wrap="square">
            <a:spAutoFit/>
          </a:bodyPr>
          <a:lstStyle/>
          <a:p>
            <a:pPr algn="ctr"/>
            <a:r>
              <a:rPr sz="800" b="1" i="0">
                <a:solidFill>
                  <a:srgbClr val="FFFFFF"/>
                </a:solidFill>
                <a:latin typeface="Noto Sans JP"/>
              </a:rPr>
              <a:t>BtoC 中心</a:t>
            </a:r>
          </a:p>
        </p:txBody>
      </p:sp>
      <p:sp>
        <p:nvSpPr>
          <p:cNvPr id="39" name="TextBox 38"/>
          <p:cNvSpPr txBox="1"/>
          <p:nvPr/>
        </p:nvSpPr>
        <p:spPr>
          <a:xfrm>
            <a:off x="6126480" y="3438144"/>
            <a:ext cx="5669280" cy="731520"/>
          </a:xfrm>
          <a:prstGeom prst="rect">
            <a:avLst/>
          </a:prstGeom>
          <a:noFill/>
        </p:spPr>
        <p:txBody>
          <a:bodyPr wrap="square">
            <a:spAutoFit/>
          </a:bodyPr>
          <a:lstStyle/>
          <a:p>
            <a:pPr algn="l"/>
            <a:r>
              <a:rPr sz="850" b="0" i="0">
                <a:solidFill>
                  <a:srgbClr val="444444"/>
                </a:solidFill>
                <a:latin typeface="Noto Sans JP"/>
              </a:rPr>
              <a:t>エンドユーザー（個人消費者）がメインの場合
→ 売上が1,000万円以下なら免税のままでも可
  ただし将来的に売上が伸びる場合はタイミングを検討</a:t>
            </a:r>
          </a:p>
        </p:txBody>
      </p:sp>
      <p:sp>
        <p:nvSpPr>
          <p:cNvPr id="40" name="Rectangle 39"/>
          <p:cNvSpPr/>
          <p:nvPr/>
        </p:nvSpPr>
        <p:spPr>
          <a:xfrm>
            <a:off x="10698480" y="4059936"/>
            <a:ext cx="1097280" cy="10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698480" y="4041648"/>
            <a:ext cx="1097280" cy="115200"/>
          </a:xfrm>
          <a:prstGeom prst="rect">
            <a:avLst/>
          </a:prstGeom>
          <a:noFill/>
        </p:spPr>
        <p:txBody>
          <a:bodyPr wrap="square">
            <a:spAutoFit/>
          </a:bodyPr>
          <a:lstStyle/>
          <a:p>
            <a:pPr algn="ctr"/>
            <a:r>
              <a:rPr sz="750" b="1" i="0">
                <a:solidFill>
                  <a:srgbClr val="FFFFFF"/>
                </a:solidFill>
                <a:latin typeface="Noto Sans JP"/>
              </a:rPr>
              <a:t>免税継続も選択肢</a:t>
            </a:r>
          </a:p>
        </p:txBody>
      </p:sp>
      <p:sp>
        <p:nvSpPr>
          <p:cNvPr id="42" name="Rounded Rectangle 41"/>
          <p:cNvSpPr/>
          <p:nvPr/>
        </p:nvSpPr>
        <p:spPr>
          <a:xfrm>
            <a:off x="5852160" y="4608576"/>
            <a:ext cx="6126480" cy="141732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852160" y="4608576"/>
            <a:ext cx="182880" cy="141732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26480" y="4681728"/>
            <a:ext cx="1005840" cy="1008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26480" y="4663440"/>
            <a:ext cx="1005840" cy="108000"/>
          </a:xfrm>
          <a:prstGeom prst="rect">
            <a:avLst/>
          </a:prstGeom>
          <a:noFill/>
        </p:spPr>
        <p:txBody>
          <a:bodyPr wrap="square">
            <a:spAutoFit/>
          </a:bodyPr>
          <a:lstStyle/>
          <a:p>
            <a:pPr algn="ctr"/>
            <a:r>
              <a:rPr sz="800" b="1" i="0">
                <a:solidFill>
                  <a:srgbClr val="FFFFFF"/>
                </a:solidFill>
                <a:latin typeface="Noto Sans JP"/>
              </a:rPr>
              <a:t>届出書と期限</a:t>
            </a:r>
          </a:p>
        </p:txBody>
      </p:sp>
      <p:sp>
        <p:nvSpPr>
          <p:cNvPr id="46" name="TextBox 45"/>
          <p:cNvSpPr txBox="1"/>
          <p:nvPr/>
        </p:nvSpPr>
        <p:spPr>
          <a:xfrm>
            <a:off x="6126480" y="5010912"/>
            <a:ext cx="5669280" cy="731520"/>
          </a:xfrm>
          <a:prstGeom prst="rect">
            <a:avLst/>
          </a:prstGeom>
          <a:noFill/>
        </p:spPr>
        <p:txBody>
          <a:bodyPr wrap="square">
            <a:spAutoFit/>
          </a:bodyPr>
          <a:lstStyle/>
          <a:p>
            <a:pPr algn="l"/>
            <a:r>
              <a:rPr sz="850" b="0" i="0">
                <a:solidFill>
                  <a:srgbClr val="444444"/>
                </a:solidFill>
                <a:latin typeface="Noto Sans JP"/>
              </a:rPr>
              <a:t>課税事業者選択届：適用課税期間の開始前日
簡易課税制度選択届：同上（売上5,000万円以下が対象）
消費税の中間申告：前期税額48万円超で義務</a:t>
            </a:r>
          </a:p>
        </p:txBody>
      </p:sp>
      <p:sp>
        <p:nvSpPr>
          <p:cNvPr id="47" name="Rectangle 46"/>
          <p:cNvSpPr/>
          <p:nvPr/>
        </p:nvSpPr>
        <p:spPr>
          <a:xfrm>
            <a:off x="10698480" y="5632704"/>
            <a:ext cx="1097280" cy="1080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698480" y="5614416"/>
            <a:ext cx="1097280" cy="115200"/>
          </a:xfrm>
          <a:prstGeom prst="rect">
            <a:avLst/>
          </a:prstGeom>
          <a:noFill/>
        </p:spPr>
        <p:txBody>
          <a:bodyPr wrap="square">
            <a:spAutoFit/>
          </a:bodyPr>
          <a:lstStyle/>
          <a:p>
            <a:pPr algn="ctr"/>
            <a:r>
              <a:rPr sz="750" b="1" i="0">
                <a:solidFill>
                  <a:srgbClr val="FFFFFF"/>
                </a:solidFill>
                <a:latin typeface="Noto Sans JP"/>
              </a:rPr>
              <a:t>期限厳守</a:t>
            </a:r>
          </a:p>
        </p:txBody>
      </p:sp>
      <p:sp>
        <p:nvSpPr>
          <p:cNvPr id="49" name="TextBox 48"/>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ご不明な点はお気軽にご相談ください。登録の要否は、売上状況・取引先構成を踏まえ、一緒に検討いたします。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05</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役員報酬の基本</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3ヶ月ルールを守りつつ、最適な金額を一緒に設計します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05</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05</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役員報酬の基本</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005840"/>
            <a:ext cx="5394960" cy="365760"/>
          </a:xfrm>
          <a:prstGeom prst="rect">
            <a:avLst/>
          </a:prstGeom>
          <a:noFill/>
        </p:spPr>
        <p:txBody>
          <a:bodyPr wrap="square">
            <a:spAutoFit/>
          </a:bodyPr>
          <a:lstStyle/>
          <a:p>
            <a:pPr algn="l"/>
            <a:r>
              <a:rPr sz="1200" b="1" i="0">
                <a:solidFill>
                  <a:srgbClr val="1A1A1A"/>
                </a:solidFill>
                <a:latin typeface="Noto Sans JP"/>
              </a:rPr>
              <a:t>役員報酬の3種類</a:t>
            </a:r>
          </a:p>
        </p:txBody>
      </p:sp>
      <p:sp>
        <p:nvSpPr>
          <p:cNvPr id="7" name="Rounded Rectangle 6"/>
          <p:cNvSpPr/>
          <p:nvPr/>
        </p:nvSpPr>
        <p:spPr>
          <a:xfrm>
            <a:off x="182880" y="1463040"/>
            <a:ext cx="5394960" cy="13716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 y="1463040"/>
            <a:ext cx="182880" cy="1371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54480"/>
            <a:ext cx="5029200" cy="347472"/>
          </a:xfrm>
          <a:prstGeom prst="rect">
            <a:avLst/>
          </a:prstGeom>
          <a:noFill/>
        </p:spPr>
        <p:txBody>
          <a:bodyPr wrap="square">
            <a:spAutoFit/>
          </a:bodyPr>
          <a:lstStyle/>
          <a:p>
            <a:pPr algn="l"/>
            <a:r>
              <a:rPr sz="1100" b="1" i="0">
                <a:solidFill>
                  <a:srgbClr val="1A1A1A"/>
                </a:solidFill>
                <a:latin typeface="Noto Sans JP"/>
              </a:rPr>
              <a:t>定期同額給与</a:t>
            </a:r>
          </a:p>
        </p:txBody>
      </p:sp>
      <p:sp>
        <p:nvSpPr>
          <p:cNvPr id="10" name="TextBox 9"/>
          <p:cNvSpPr txBox="1"/>
          <p:nvPr/>
        </p:nvSpPr>
        <p:spPr>
          <a:xfrm>
            <a:off x="457200" y="1938528"/>
            <a:ext cx="5029200" cy="804672"/>
          </a:xfrm>
          <a:prstGeom prst="rect">
            <a:avLst/>
          </a:prstGeom>
          <a:noFill/>
        </p:spPr>
        <p:txBody>
          <a:bodyPr wrap="square">
            <a:spAutoFit/>
          </a:bodyPr>
          <a:lstStyle/>
          <a:p>
            <a:pPr algn="l"/>
            <a:r>
              <a:rPr sz="850" b="0" i="0">
                <a:solidFill>
                  <a:srgbClr val="444444"/>
                </a:solidFill>
                <a:latin typeface="Noto Sans JP"/>
              </a:rPr>
              <a:t>毎月同額を支払う。最も一般的な方法。
変更できるのは「事業年度開始から3ヶ月以内」のみ。期間外の変更分は損金不算入。</a:t>
            </a:r>
          </a:p>
        </p:txBody>
      </p:sp>
      <p:sp>
        <p:nvSpPr>
          <p:cNvPr id="11" name="Rounded Rectangle 10"/>
          <p:cNvSpPr/>
          <p:nvPr/>
        </p:nvSpPr>
        <p:spPr>
          <a:xfrm>
            <a:off x="182880" y="2971800"/>
            <a:ext cx="5394960" cy="13716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 y="2971800"/>
            <a:ext cx="182880" cy="1371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063240"/>
            <a:ext cx="5029200" cy="347472"/>
          </a:xfrm>
          <a:prstGeom prst="rect">
            <a:avLst/>
          </a:prstGeom>
          <a:noFill/>
        </p:spPr>
        <p:txBody>
          <a:bodyPr wrap="square">
            <a:spAutoFit/>
          </a:bodyPr>
          <a:lstStyle/>
          <a:p>
            <a:pPr algn="l"/>
            <a:r>
              <a:rPr sz="1100" b="1" i="0">
                <a:solidFill>
                  <a:srgbClr val="1A1A1A"/>
                </a:solidFill>
                <a:latin typeface="Noto Sans JP"/>
              </a:rPr>
              <a:t>事前確定届出給与</a:t>
            </a:r>
          </a:p>
        </p:txBody>
      </p:sp>
      <p:sp>
        <p:nvSpPr>
          <p:cNvPr id="14" name="TextBox 13"/>
          <p:cNvSpPr txBox="1"/>
          <p:nvPr/>
        </p:nvSpPr>
        <p:spPr>
          <a:xfrm>
            <a:off x="457200" y="3447288"/>
            <a:ext cx="5029200" cy="804672"/>
          </a:xfrm>
          <a:prstGeom prst="rect">
            <a:avLst/>
          </a:prstGeom>
          <a:noFill/>
        </p:spPr>
        <p:txBody>
          <a:bodyPr wrap="square">
            <a:spAutoFit/>
          </a:bodyPr>
          <a:lstStyle/>
          <a:p>
            <a:pPr algn="l"/>
            <a:r>
              <a:rPr sz="850" b="0" i="0">
                <a:solidFill>
                  <a:srgbClr val="444444"/>
                </a:solidFill>
                <a:latin typeface="Noto Sans JP"/>
              </a:rPr>
              <a:t>賞与相当。支給額・日付を事前に税務署へ届け出ることで損金算入可。
届出期限：定時株主総会から1ヶ月以内 または 事業年度開始から4ヶ月以内。</a:t>
            </a:r>
          </a:p>
        </p:txBody>
      </p:sp>
      <p:sp>
        <p:nvSpPr>
          <p:cNvPr id="15" name="Rounded Rectangle 14"/>
          <p:cNvSpPr/>
          <p:nvPr/>
        </p:nvSpPr>
        <p:spPr>
          <a:xfrm>
            <a:off x="182880" y="4480560"/>
            <a:ext cx="5394960" cy="13716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4480560"/>
            <a:ext cx="182880" cy="13716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572000"/>
            <a:ext cx="5029200" cy="347472"/>
          </a:xfrm>
          <a:prstGeom prst="rect">
            <a:avLst/>
          </a:prstGeom>
          <a:noFill/>
        </p:spPr>
        <p:txBody>
          <a:bodyPr wrap="square">
            <a:spAutoFit/>
          </a:bodyPr>
          <a:lstStyle/>
          <a:p>
            <a:pPr algn="l"/>
            <a:r>
              <a:rPr sz="1100" b="1" i="0">
                <a:solidFill>
                  <a:srgbClr val="1A1A1A"/>
                </a:solidFill>
                <a:latin typeface="Noto Sans JP"/>
              </a:rPr>
              <a:t>業績連動給与</a:t>
            </a:r>
          </a:p>
        </p:txBody>
      </p:sp>
      <p:sp>
        <p:nvSpPr>
          <p:cNvPr id="18" name="TextBox 17"/>
          <p:cNvSpPr txBox="1"/>
          <p:nvPr/>
        </p:nvSpPr>
        <p:spPr>
          <a:xfrm>
            <a:off x="457200" y="4956048"/>
            <a:ext cx="5029200" cy="804672"/>
          </a:xfrm>
          <a:prstGeom prst="rect">
            <a:avLst/>
          </a:prstGeom>
          <a:noFill/>
        </p:spPr>
        <p:txBody>
          <a:bodyPr wrap="square">
            <a:spAutoFit/>
          </a:bodyPr>
          <a:lstStyle/>
          <a:p>
            <a:pPr algn="l"/>
            <a:r>
              <a:rPr sz="850" b="0" i="0">
                <a:solidFill>
                  <a:srgbClr val="444444"/>
                </a:solidFill>
                <a:latin typeface="Noto Sans JP"/>
              </a:rPr>
              <a:t>利益連動型。同族会社は原則不可。上場企業向けの特殊制度。</a:t>
            </a:r>
          </a:p>
        </p:txBody>
      </p:sp>
      <p:sp>
        <p:nvSpPr>
          <p:cNvPr id="19" name="TextBox 18"/>
          <p:cNvSpPr txBox="1"/>
          <p:nvPr/>
        </p:nvSpPr>
        <p:spPr>
          <a:xfrm>
            <a:off x="5852160" y="1005840"/>
            <a:ext cx="6126480" cy="365760"/>
          </a:xfrm>
          <a:prstGeom prst="rect">
            <a:avLst/>
          </a:prstGeom>
          <a:noFill/>
        </p:spPr>
        <p:txBody>
          <a:bodyPr wrap="square">
            <a:spAutoFit/>
          </a:bodyPr>
          <a:lstStyle/>
          <a:p>
            <a:pPr algn="l"/>
            <a:r>
              <a:rPr sz="1200" b="1" i="0">
                <a:solidFill>
                  <a:srgbClr val="1A1A1A"/>
                </a:solidFill>
                <a:latin typeface="Noto Sans JP"/>
              </a:rPr>
              <a:t>金額はどう決める？ 設定ガイド</a:t>
            </a:r>
          </a:p>
        </p:txBody>
      </p:sp>
      <p:sp>
        <p:nvSpPr>
          <p:cNvPr id="20" name="Rounded Rectangle 19"/>
          <p:cNvSpPr/>
          <p:nvPr/>
        </p:nvSpPr>
        <p:spPr>
          <a:xfrm>
            <a:off x="5852160" y="1463040"/>
            <a:ext cx="6126480" cy="1051560"/>
          </a:xfrm>
          <a:prstGeom prst="roundRect">
            <a:avLst>
              <a:gd name="adj" fmla="val 3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852160" y="1463040"/>
            <a:ext cx="822960" cy="105156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52160" y="1463040"/>
            <a:ext cx="822960" cy="1051560"/>
          </a:xfrm>
          <a:prstGeom prst="rect">
            <a:avLst/>
          </a:prstGeom>
          <a:noFill/>
        </p:spPr>
        <p:txBody>
          <a:bodyPr wrap="square">
            <a:spAutoFit/>
          </a:bodyPr>
          <a:lstStyle/>
          <a:p>
            <a:pPr algn="ctr"/>
            <a:r>
              <a:rPr sz="900" b="1" i="0">
                <a:solidFill>
                  <a:srgbClr val="FFFFFF"/>
                </a:solidFill>
                <a:latin typeface="Noto Sans JP"/>
              </a:rPr>
              <a:t>STEP 1</a:t>
            </a:r>
          </a:p>
        </p:txBody>
      </p:sp>
      <p:sp>
        <p:nvSpPr>
          <p:cNvPr id="23" name="TextBox 22"/>
          <p:cNvSpPr txBox="1"/>
          <p:nvPr/>
        </p:nvSpPr>
        <p:spPr>
          <a:xfrm>
            <a:off x="6766560" y="1554480"/>
            <a:ext cx="5120640" cy="347472"/>
          </a:xfrm>
          <a:prstGeom prst="rect">
            <a:avLst/>
          </a:prstGeom>
          <a:noFill/>
        </p:spPr>
        <p:txBody>
          <a:bodyPr wrap="square">
            <a:spAutoFit/>
          </a:bodyPr>
          <a:lstStyle/>
          <a:p>
            <a:pPr algn="l"/>
            <a:r>
              <a:rPr sz="1000" b="1" i="0">
                <a:solidFill>
                  <a:srgbClr val="1A1A1A"/>
                </a:solidFill>
                <a:latin typeface="Noto Sans JP"/>
              </a:rPr>
              <a:t>生活に必要な最低額から逆算する</a:t>
            </a:r>
          </a:p>
        </p:txBody>
      </p:sp>
      <p:sp>
        <p:nvSpPr>
          <p:cNvPr id="24" name="TextBox 23"/>
          <p:cNvSpPr txBox="1"/>
          <p:nvPr/>
        </p:nvSpPr>
        <p:spPr>
          <a:xfrm>
            <a:off x="6766560" y="1920240"/>
            <a:ext cx="5120640" cy="530352"/>
          </a:xfrm>
          <a:prstGeom prst="rect">
            <a:avLst/>
          </a:prstGeom>
          <a:noFill/>
        </p:spPr>
        <p:txBody>
          <a:bodyPr wrap="square">
            <a:spAutoFit/>
          </a:bodyPr>
          <a:lstStyle/>
          <a:p>
            <a:pPr algn="l"/>
            <a:r>
              <a:rPr sz="850" b="0" i="0">
                <a:solidFill>
                  <a:srgbClr val="444444"/>
                </a:solidFill>
                <a:latin typeface="Noto Sans JP"/>
              </a:rPr>
              <a:t>手取りで月〇〇万円必要 → 所得税・住民税・社会保険を逆算し、
総支給額（役員報酬）を算出します。生活費がベースラインです。</a:t>
            </a:r>
          </a:p>
        </p:txBody>
      </p:sp>
      <p:sp>
        <p:nvSpPr>
          <p:cNvPr id="25" name="Rounded Rectangle 24"/>
          <p:cNvSpPr/>
          <p:nvPr/>
        </p:nvSpPr>
        <p:spPr>
          <a:xfrm>
            <a:off x="5852160" y="2651760"/>
            <a:ext cx="6126480" cy="1051560"/>
          </a:xfrm>
          <a:prstGeom prst="roundRect">
            <a:avLst>
              <a:gd name="adj" fmla="val 3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852160" y="2651760"/>
            <a:ext cx="822960" cy="105156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52160" y="2651760"/>
            <a:ext cx="822960" cy="1051560"/>
          </a:xfrm>
          <a:prstGeom prst="rect">
            <a:avLst/>
          </a:prstGeom>
          <a:noFill/>
        </p:spPr>
        <p:txBody>
          <a:bodyPr wrap="square">
            <a:spAutoFit/>
          </a:bodyPr>
          <a:lstStyle/>
          <a:p>
            <a:pPr algn="ctr"/>
            <a:r>
              <a:rPr sz="900" b="1" i="0">
                <a:solidFill>
                  <a:srgbClr val="FFFFFF"/>
                </a:solidFill>
                <a:latin typeface="Noto Sans JP"/>
              </a:rPr>
              <a:t>STEP 2</a:t>
            </a:r>
          </a:p>
        </p:txBody>
      </p:sp>
      <p:sp>
        <p:nvSpPr>
          <p:cNvPr id="28" name="TextBox 27"/>
          <p:cNvSpPr txBox="1"/>
          <p:nvPr/>
        </p:nvSpPr>
        <p:spPr>
          <a:xfrm>
            <a:off x="6766560" y="2743200"/>
            <a:ext cx="5120640" cy="347472"/>
          </a:xfrm>
          <a:prstGeom prst="rect">
            <a:avLst/>
          </a:prstGeom>
          <a:noFill/>
        </p:spPr>
        <p:txBody>
          <a:bodyPr wrap="square">
            <a:spAutoFit/>
          </a:bodyPr>
          <a:lstStyle/>
          <a:p>
            <a:pPr algn="l"/>
            <a:r>
              <a:rPr sz="1000" b="1" i="0">
                <a:solidFill>
                  <a:srgbClr val="1A1A1A"/>
                </a:solidFill>
                <a:latin typeface="Noto Sans JP"/>
              </a:rPr>
              <a:t>社会保険料の「壁」を意識する</a:t>
            </a:r>
          </a:p>
        </p:txBody>
      </p:sp>
      <p:sp>
        <p:nvSpPr>
          <p:cNvPr id="29" name="TextBox 28"/>
          <p:cNvSpPr txBox="1"/>
          <p:nvPr/>
        </p:nvSpPr>
        <p:spPr>
          <a:xfrm>
            <a:off x="6766560" y="3108960"/>
            <a:ext cx="5120640" cy="530352"/>
          </a:xfrm>
          <a:prstGeom prst="rect">
            <a:avLst/>
          </a:prstGeom>
          <a:noFill/>
        </p:spPr>
        <p:txBody>
          <a:bodyPr wrap="square">
            <a:spAutoFit/>
          </a:bodyPr>
          <a:lstStyle/>
          <a:p>
            <a:pPr algn="l"/>
            <a:r>
              <a:rPr sz="850" b="0" i="0">
                <a:solidFill>
                  <a:srgbClr val="444444"/>
                </a:solidFill>
                <a:latin typeface="Noto Sans JP"/>
              </a:rPr>
              <a:t>標準報酬月額は等級ごとに上限あり（最高139万円）。
報酬が上がるほど社会保険料も増えるため、法人・個人の合算でシミュレーションします。</a:t>
            </a:r>
          </a:p>
        </p:txBody>
      </p:sp>
      <p:sp>
        <p:nvSpPr>
          <p:cNvPr id="30" name="Rounded Rectangle 29"/>
          <p:cNvSpPr/>
          <p:nvPr/>
        </p:nvSpPr>
        <p:spPr>
          <a:xfrm>
            <a:off x="5852160" y="3840480"/>
            <a:ext cx="6126480" cy="1051560"/>
          </a:xfrm>
          <a:prstGeom prst="roundRect">
            <a:avLst>
              <a:gd name="adj" fmla="val 3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852160" y="3840480"/>
            <a:ext cx="822960" cy="105156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52160" y="3840480"/>
            <a:ext cx="822960" cy="1051560"/>
          </a:xfrm>
          <a:prstGeom prst="rect">
            <a:avLst/>
          </a:prstGeom>
          <a:noFill/>
        </p:spPr>
        <p:txBody>
          <a:bodyPr wrap="square">
            <a:spAutoFit/>
          </a:bodyPr>
          <a:lstStyle/>
          <a:p>
            <a:pPr algn="ctr"/>
            <a:r>
              <a:rPr sz="900" b="1" i="0">
                <a:solidFill>
                  <a:srgbClr val="FFFFFF"/>
                </a:solidFill>
                <a:latin typeface="Noto Sans JP"/>
              </a:rPr>
              <a:t>STEP 3</a:t>
            </a:r>
          </a:p>
        </p:txBody>
      </p:sp>
      <p:sp>
        <p:nvSpPr>
          <p:cNvPr id="33" name="TextBox 32"/>
          <p:cNvSpPr txBox="1"/>
          <p:nvPr/>
        </p:nvSpPr>
        <p:spPr>
          <a:xfrm>
            <a:off x="6766560" y="3931920"/>
            <a:ext cx="5120640" cy="347472"/>
          </a:xfrm>
          <a:prstGeom prst="rect">
            <a:avLst/>
          </a:prstGeom>
          <a:noFill/>
        </p:spPr>
        <p:txBody>
          <a:bodyPr wrap="square">
            <a:spAutoFit/>
          </a:bodyPr>
          <a:lstStyle/>
          <a:p>
            <a:pPr algn="l"/>
            <a:r>
              <a:rPr sz="1000" b="1" i="0">
                <a:solidFill>
                  <a:srgbClr val="1A1A1A"/>
                </a:solidFill>
                <a:latin typeface="Noto Sans JP"/>
              </a:rPr>
              <a:t>法人の利益計画と照らし合わせる</a:t>
            </a:r>
          </a:p>
        </p:txBody>
      </p:sp>
      <p:sp>
        <p:nvSpPr>
          <p:cNvPr id="34" name="TextBox 33"/>
          <p:cNvSpPr txBox="1"/>
          <p:nvPr/>
        </p:nvSpPr>
        <p:spPr>
          <a:xfrm>
            <a:off x="6766560" y="4297680"/>
            <a:ext cx="5120640" cy="530352"/>
          </a:xfrm>
          <a:prstGeom prst="rect">
            <a:avLst/>
          </a:prstGeom>
          <a:noFill/>
        </p:spPr>
        <p:txBody>
          <a:bodyPr wrap="square">
            <a:spAutoFit/>
          </a:bodyPr>
          <a:lstStyle/>
          <a:p>
            <a:pPr algn="l"/>
            <a:r>
              <a:rPr sz="850" b="0" i="0">
                <a:solidFill>
                  <a:srgbClr val="444444"/>
                </a:solidFill>
                <a:latin typeface="Noto Sans JP"/>
              </a:rPr>
              <a:t>役員報酬を増やす → 法人税↓・個人所得税↑。
最適なバランスはその年の利益予測によって変わるため、期初に一緒に試算します。</a:t>
            </a:r>
          </a:p>
        </p:txBody>
      </p:sp>
      <p:sp>
        <p:nvSpPr>
          <p:cNvPr id="35" name="Rounded Rectangle 34"/>
          <p:cNvSpPr/>
          <p:nvPr/>
        </p:nvSpPr>
        <p:spPr>
          <a:xfrm>
            <a:off x="5852160" y="5029200"/>
            <a:ext cx="6126480" cy="1051560"/>
          </a:xfrm>
          <a:prstGeom prst="roundRect">
            <a:avLst>
              <a:gd name="adj" fmla="val 3000"/>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52160" y="5029200"/>
            <a:ext cx="822960" cy="105156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52160" y="5029200"/>
            <a:ext cx="822960" cy="1051560"/>
          </a:xfrm>
          <a:prstGeom prst="rect">
            <a:avLst/>
          </a:prstGeom>
          <a:noFill/>
        </p:spPr>
        <p:txBody>
          <a:bodyPr wrap="square">
            <a:spAutoFit/>
          </a:bodyPr>
          <a:lstStyle/>
          <a:p>
            <a:pPr algn="ctr"/>
            <a:r>
              <a:rPr sz="900" b="1" i="0">
                <a:solidFill>
                  <a:srgbClr val="FFFFFF"/>
                </a:solidFill>
                <a:latin typeface="Noto Sans JP"/>
              </a:rPr>
              <a:t>提案</a:t>
            </a:r>
          </a:p>
        </p:txBody>
      </p:sp>
      <p:sp>
        <p:nvSpPr>
          <p:cNvPr id="38" name="TextBox 37"/>
          <p:cNvSpPr txBox="1"/>
          <p:nvPr/>
        </p:nvSpPr>
        <p:spPr>
          <a:xfrm>
            <a:off x="6766560" y="5120640"/>
            <a:ext cx="5120640" cy="347472"/>
          </a:xfrm>
          <a:prstGeom prst="rect">
            <a:avLst/>
          </a:prstGeom>
          <a:noFill/>
        </p:spPr>
        <p:txBody>
          <a:bodyPr wrap="square">
            <a:spAutoFit/>
          </a:bodyPr>
          <a:lstStyle/>
          <a:p>
            <a:pPr algn="l"/>
            <a:r>
              <a:rPr sz="1000" b="1" i="0">
                <a:solidFill>
                  <a:srgbClr val="1A1A1A"/>
                </a:solidFill>
                <a:latin typeface="Noto Sans JP"/>
              </a:rPr>
              <a:t>初回キックオフ面談でシミュレーションいたします</a:t>
            </a:r>
          </a:p>
        </p:txBody>
      </p:sp>
      <p:sp>
        <p:nvSpPr>
          <p:cNvPr id="39" name="TextBox 38"/>
          <p:cNvSpPr txBox="1"/>
          <p:nvPr/>
        </p:nvSpPr>
        <p:spPr>
          <a:xfrm>
            <a:off x="6766560" y="5486400"/>
            <a:ext cx="5120640" cy="530352"/>
          </a:xfrm>
          <a:prstGeom prst="rect">
            <a:avLst/>
          </a:prstGeom>
          <a:noFill/>
        </p:spPr>
        <p:txBody>
          <a:bodyPr wrap="square">
            <a:spAutoFit/>
          </a:bodyPr>
          <a:lstStyle/>
          <a:p>
            <a:pPr algn="l"/>
            <a:r>
              <a:rPr sz="850" b="0" i="0">
                <a:solidFill>
                  <a:srgbClr val="444444"/>
                </a:solidFill>
                <a:latin typeface="Noto Sans JP"/>
              </a:rPr>
              <a:t>設立後すぐに「利益計画×役員報酬シミュレーション」を作成いたします。
「金額の決め方がわからない」というお悩みも、一緒に解決いたします。</a:t>
            </a:r>
          </a:p>
        </p:txBody>
      </p:sp>
      <p:sp>
        <p:nvSpPr>
          <p:cNvPr id="40" name="TextBox 39"/>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役員報酬の変更は期初3ヶ月以内が鉄則です。変更をご検討の際は、必ず事前にご相談ください。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6600"/>
                </a:solidFill>
                <a:latin typeface="Noto Sans JP"/>
              </a:rPr>
              <a:t>06</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会社と個人のお金の分離</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これが一番大事な基本ルール。最初に必ず押さえてください。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06</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06</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会社と個人のお金の分離</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960120"/>
            <a:ext cx="5760720" cy="548640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 y="960120"/>
            <a:ext cx="5760720" cy="50292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960120"/>
            <a:ext cx="5577840" cy="502920"/>
          </a:xfrm>
          <a:prstGeom prst="rect">
            <a:avLst/>
          </a:prstGeom>
          <a:noFill/>
        </p:spPr>
        <p:txBody>
          <a:bodyPr wrap="square">
            <a:spAutoFit/>
          </a:bodyPr>
          <a:lstStyle/>
          <a:p>
            <a:pPr algn="l"/>
            <a:r>
              <a:rPr sz="1300" b="1" i="0">
                <a:solidFill>
                  <a:srgbClr val="FFFFFF"/>
                </a:solidFill>
                <a:latin typeface="Noto Sans JP"/>
              </a:rPr>
              <a:t>NG  やってはいけない行動</a:t>
            </a:r>
          </a:p>
        </p:txBody>
      </p:sp>
      <p:sp>
        <p:nvSpPr>
          <p:cNvPr id="9" name="Rectangle 8"/>
          <p:cNvSpPr/>
          <p:nvPr/>
        </p:nvSpPr>
        <p:spPr>
          <a:xfrm>
            <a:off x="6217920" y="960120"/>
            <a:ext cx="5669280" cy="5486400"/>
          </a:xfrm>
          <a:prstGeom prst="rect">
            <a:avLst/>
          </a:prstGeom>
          <a:solidFill>
            <a:srgbClr val="F0F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960120"/>
            <a:ext cx="5669280" cy="50292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960120"/>
            <a:ext cx="5577840" cy="502920"/>
          </a:xfrm>
          <a:prstGeom prst="rect">
            <a:avLst/>
          </a:prstGeom>
          <a:noFill/>
        </p:spPr>
        <p:txBody>
          <a:bodyPr wrap="square">
            <a:spAutoFit/>
          </a:bodyPr>
          <a:lstStyle/>
          <a:p>
            <a:pPr algn="l"/>
            <a:r>
              <a:rPr sz="1300" b="1" i="0">
                <a:solidFill>
                  <a:srgbClr val="FFFFFF"/>
                </a:solidFill>
                <a:latin typeface="Noto Sans JP"/>
              </a:rPr>
              <a:t>OK  正しいやり方</a:t>
            </a:r>
          </a:p>
        </p:txBody>
      </p:sp>
      <p:sp>
        <p:nvSpPr>
          <p:cNvPr id="12" name="Rectangle 11"/>
          <p:cNvSpPr/>
          <p:nvPr/>
        </p:nvSpPr>
        <p:spPr>
          <a:xfrm>
            <a:off x="320040" y="1608768"/>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1594368"/>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14" name="TextBox 13"/>
          <p:cNvSpPr txBox="1"/>
          <p:nvPr/>
        </p:nvSpPr>
        <p:spPr>
          <a:xfrm>
            <a:off x="822960" y="1572768"/>
            <a:ext cx="5212080" cy="320040"/>
          </a:xfrm>
          <a:prstGeom prst="rect">
            <a:avLst/>
          </a:prstGeom>
          <a:noFill/>
        </p:spPr>
        <p:txBody>
          <a:bodyPr wrap="square">
            <a:spAutoFit/>
          </a:bodyPr>
          <a:lstStyle/>
          <a:p>
            <a:pPr algn="l"/>
            <a:r>
              <a:rPr sz="950" b="1" i="0">
                <a:solidFill>
                  <a:srgbClr val="BB0000"/>
                </a:solidFill>
                <a:latin typeface="Noto Sans JP"/>
              </a:rPr>
              <a:t>個人カードで会社の経費を払う</a:t>
            </a:r>
          </a:p>
        </p:txBody>
      </p:sp>
      <p:sp>
        <p:nvSpPr>
          <p:cNvPr id="15" name="TextBox 14"/>
          <p:cNvSpPr txBox="1"/>
          <p:nvPr/>
        </p:nvSpPr>
        <p:spPr>
          <a:xfrm>
            <a:off x="822960" y="1883664"/>
            <a:ext cx="5212080" cy="411480"/>
          </a:xfrm>
          <a:prstGeom prst="rect">
            <a:avLst/>
          </a:prstGeom>
          <a:noFill/>
        </p:spPr>
        <p:txBody>
          <a:bodyPr wrap="square">
            <a:spAutoFit/>
          </a:bodyPr>
          <a:lstStyle/>
          <a:p>
            <a:pPr algn="l"/>
            <a:r>
              <a:rPr sz="800" b="0" i="0">
                <a:solidFill>
                  <a:srgbClr val="444444"/>
                </a:solidFill>
                <a:latin typeface="Noto Sans JP"/>
              </a:rPr>
              <a:t>何が会社の経費か追えなくなります。税務調査で否認されるリスクが高まります。</a:t>
            </a:r>
          </a:p>
        </p:txBody>
      </p:sp>
      <p:sp>
        <p:nvSpPr>
          <p:cNvPr id="16" name="Rectangle 15"/>
          <p:cNvSpPr/>
          <p:nvPr/>
        </p:nvSpPr>
        <p:spPr>
          <a:xfrm>
            <a:off x="320040" y="2514024"/>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2499624"/>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18" name="TextBox 17"/>
          <p:cNvSpPr txBox="1"/>
          <p:nvPr/>
        </p:nvSpPr>
        <p:spPr>
          <a:xfrm>
            <a:off x="822960" y="2478024"/>
            <a:ext cx="5212080" cy="320040"/>
          </a:xfrm>
          <a:prstGeom prst="rect">
            <a:avLst/>
          </a:prstGeom>
          <a:noFill/>
        </p:spPr>
        <p:txBody>
          <a:bodyPr wrap="square">
            <a:spAutoFit/>
          </a:bodyPr>
          <a:lstStyle/>
          <a:p>
            <a:pPr algn="l"/>
            <a:r>
              <a:rPr sz="950" b="1" i="0">
                <a:solidFill>
                  <a:srgbClr val="BB0000"/>
                </a:solidFill>
                <a:latin typeface="Noto Sans JP"/>
              </a:rPr>
              <a:t>会社口座から生活費を引き出す</a:t>
            </a:r>
          </a:p>
        </p:txBody>
      </p:sp>
      <p:sp>
        <p:nvSpPr>
          <p:cNvPr id="19" name="TextBox 18"/>
          <p:cNvSpPr txBox="1"/>
          <p:nvPr/>
        </p:nvSpPr>
        <p:spPr>
          <a:xfrm>
            <a:off x="822960" y="2788920"/>
            <a:ext cx="5212080" cy="411480"/>
          </a:xfrm>
          <a:prstGeom prst="rect">
            <a:avLst/>
          </a:prstGeom>
          <a:noFill/>
        </p:spPr>
        <p:txBody>
          <a:bodyPr wrap="square">
            <a:spAutoFit/>
          </a:bodyPr>
          <a:lstStyle/>
          <a:p>
            <a:pPr algn="l"/>
            <a:r>
              <a:rPr sz="800" b="0" i="0">
                <a:solidFill>
                  <a:srgbClr val="444444"/>
                </a:solidFill>
                <a:latin typeface="Noto Sans JP"/>
              </a:rPr>
              <a:t>「役員貸付金」となり法人税上の問題が生じます。最悪の場合、認定利息課税も発生します。</a:t>
            </a:r>
          </a:p>
        </p:txBody>
      </p:sp>
      <p:sp>
        <p:nvSpPr>
          <p:cNvPr id="20" name="Rectangle 19"/>
          <p:cNvSpPr/>
          <p:nvPr/>
        </p:nvSpPr>
        <p:spPr>
          <a:xfrm>
            <a:off x="320040" y="3419280"/>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0040" y="3404880"/>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22" name="TextBox 21"/>
          <p:cNvSpPr txBox="1"/>
          <p:nvPr/>
        </p:nvSpPr>
        <p:spPr>
          <a:xfrm>
            <a:off x="822960" y="3383280"/>
            <a:ext cx="5212080" cy="320040"/>
          </a:xfrm>
          <a:prstGeom prst="rect">
            <a:avLst/>
          </a:prstGeom>
          <a:noFill/>
        </p:spPr>
        <p:txBody>
          <a:bodyPr wrap="square">
            <a:spAutoFit/>
          </a:bodyPr>
          <a:lstStyle/>
          <a:p>
            <a:pPr algn="l"/>
            <a:r>
              <a:rPr sz="950" b="1" i="0">
                <a:solidFill>
                  <a:srgbClr val="BB0000"/>
                </a:solidFill>
                <a:latin typeface="Noto Sans JP"/>
              </a:rPr>
              <a:t>個人と会社の口座を同じ通帳で管理</a:t>
            </a:r>
          </a:p>
        </p:txBody>
      </p:sp>
      <p:sp>
        <p:nvSpPr>
          <p:cNvPr id="23" name="TextBox 22"/>
          <p:cNvSpPr txBox="1"/>
          <p:nvPr/>
        </p:nvSpPr>
        <p:spPr>
          <a:xfrm>
            <a:off x="822960" y="3694176"/>
            <a:ext cx="5212080" cy="411480"/>
          </a:xfrm>
          <a:prstGeom prst="rect">
            <a:avLst/>
          </a:prstGeom>
          <a:noFill/>
        </p:spPr>
        <p:txBody>
          <a:bodyPr wrap="square">
            <a:spAutoFit/>
          </a:bodyPr>
          <a:lstStyle/>
          <a:p>
            <a:pPr algn="l"/>
            <a:r>
              <a:rPr sz="800" b="0" i="0">
                <a:solidFill>
                  <a:srgbClr val="444444"/>
                </a:solidFill>
                <a:latin typeface="Noto Sans JP"/>
              </a:rPr>
              <a:t>決算処理が複雑になり、正確な損益計算ができなくなります。</a:t>
            </a:r>
          </a:p>
        </p:txBody>
      </p:sp>
      <p:sp>
        <p:nvSpPr>
          <p:cNvPr id="24" name="Rectangle 23"/>
          <p:cNvSpPr/>
          <p:nvPr/>
        </p:nvSpPr>
        <p:spPr>
          <a:xfrm>
            <a:off x="320040" y="4324536"/>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4310136"/>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26" name="TextBox 25"/>
          <p:cNvSpPr txBox="1"/>
          <p:nvPr/>
        </p:nvSpPr>
        <p:spPr>
          <a:xfrm>
            <a:off x="822960" y="4288536"/>
            <a:ext cx="5212080" cy="320040"/>
          </a:xfrm>
          <a:prstGeom prst="rect">
            <a:avLst/>
          </a:prstGeom>
          <a:noFill/>
        </p:spPr>
        <p:txBody>
          <a:bodyPr wrap="square">
            <a:spAutoFit/>
          </a:bodyPr>
          <a:lstStyle/>
          <a:p>
            <a:pPr algn="l"/>
            <a:r>
              <a:rPr sz="950" b="1" i="0">
                <a:solidFill>
                  <a:srgbClr val="BB0000"/>
                </a:solidFill>
                <a:latin typeface="Noto Sans JP"/>
              </a:rPr>
              <a:t>個人名義の固定費を会社費用にする</a:t>
            </a:r>
          </a:p>
        </p:txBody>
      </p:sp>
      <p:sp>
        <p:nvSpPr>
          <p:cNvPr id="27" name="TextBox 26"/>
          <p:cNvSpPr txBox="1"/>
          <p:nvPr/>
        </p:nvSpPr>
        <p:spPr>
          <a:xfrm>
            <a:off x="822960" y="4599432"/>
            <a:ext cx="5212080" cy="411480"/>
          </a:xfrm>
          <a:prstGeom prst="rect">
            <a:avLst/>
          </a:prstGeom>
          <a:noFill/>
        </p:spPr>
        <p:txBody>
          <a:bodyPr wrap="square">
            <a:spAutoFit/>
          </a:bodyPr>
          <a:lstStyle/>
          <a:p>
            <a:pPr algn="l"/>
            <a:r>
              <a:rPr sz="800" b="0" i="0">
                <a:solidFill>
                  <a:srgbClr val="444444"/>
                </a:solidFill>
                <a:latin typeface="Noto Sans JP"/>
              </a:rPr>
              <a:t>按分や根拠がない場合、全額否認されることがあります。事前に必ずご相談ください。</a:t>
            </a:r>
          </a:p>
        </p:txBody>
      </p:sp>
      <p:sp>
        <p:nvSpPr>
          <p:cNvPr id="28" name="Rectangle 27"/>
          <p:cNvSpPr/>
          <p:nvPr/>
        </p:nvSpPr>
        <p:spPr>
          <a:xfrm>
            <a:off x="320040" y="5229792"/>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 y="5215392"/>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30" name="TextBox 29"/>
          <p:cNvSpPr txBox="1"/>
          <p:nvPr/>
        </p:nvSpPr>
        <p:spPr>
          <a:xfrm>
            <a:off x="822960" y="5193792"/>
            <a:ext cx="5212080" cy="320040"/>
          </a:xfrm>
          <a:prstGeom prst="rect">
            <a:avLst/>
          </a:prstGeom>
          <a:noFill/>
        </p:spPr>
        <p:txBody>
          <a:bodyPr wrap="square">
            <a:spAutoFit/>
          </a:bodyPr>
          <a:lstStyle/>
          <a:p>
            <a:pPr algn="l"/>
            <a:r>
              <a:rPr sz="950" b="1" i="0">
                <a:solidFill>
                  <a:srgbClr val="BB0000"/>
                </a:solidFill>
                <a:latin typeface="Noto Sans JP"/>
              </a:rPr>
              <a:t>レシート・領収書をすぐ捨てる</a:t>
            </a:r>
          </a:p>
        </p:txBody>
      </p:sp>
      <p:sp>
        <p:nvSpPr>
          <p:cNvPr id="31" name="TextBox 30"/>
          <p:cNvSpPr txBox="1"/>
          <p:nvPr/>
        </p:nvSpPr>
        <p:spPr>
          <a:xfrm>
            <a:off x="822960" y="5504688"/>
            <a:ext cx="5212080" cy="411480"/>
          </a:xfrm>
          <a:prstGeom prst="rect">
            <a:avLst/>
          </a:prstGeom>
          <a:noFill/>
        </p:spPr>
        <p:txBody>
          <a:bodyPr wrap="square">
            <a:spAutoFit/>
          </a:bodyPr>
          <a:lstStyle/>
          <a:p>
            <a:pPr algn="l"/>
            <a:r>
              <a:rPr sz="800" b="0" i="0">
                <a:solidFill>
                  <a:srgbClr val="444444"/>
                </a:solidFill>
                <a:latin typeface="Noto Sans JP"/>
              </a:rPr>
              <a:t>経費の証拠がなくなります。最低7年間の保存義務がございます。</a:t>
            </a:r>
          </a:p>
        </p:txBody>
      </p:sp>
      <p:sp>
        <p:nvSpPr>
          <p:cNvPr id="32" name="Rectangle 31"/>
          <p:cNvSpPr/>
          <p:nvPr/>
        </p:nvSpPr>
        <p:spPr>
          <a:xfrm>
            <a:off x="6355080" y="1608768"/>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80" y="1594368"/>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34" name="TextBox 33"/>
          <p:cNvSpPr txBox="1"/>
          <p:nvPr/>
        </p:nvSpPr>
        <p:spPr>
          <a:xfrm>
            <a:off x="6858000" y="1572768"/>
            <a:ext cx="5120640" cy="320040"/>
          </a:xfrm>
          <a:prstGeom prst="rect">
            <a:avLst/>
          </a:prstGeom>
          <a:noFill/>
        </p:spPr>
        <p:txBody>
          <a:bodyPr wrap="square">
            <a:spAutoFit/>
          </a:bodyPr>
          <a:lstStyle/>
          <a:p>
            <a:pPr algn="l"/>
            <a:r>
              <a:rPr sz="950" b="1" i="0">
                <a:solidFill>
                  <a:srgbClr val="008855"/>
                </a:solidFill>
                <a:latin typeface="Noto Sans JP"/>
              </a:rPr>
              <a:t>法人口座・法人カードを設立直後に開設</a:t>
            </a:r>
          </a:p>
        </p:txBody>
      </p:sp>
      <p:sp>
        <p:nvSpPr>
          <p:cNvPr id="35" name="TextBox 34"/>
          <p:cNvSpPr txBox="1"/>
          <p:nvPr/>
        </p:nvSpPr>
        <p:spPr>
          <a:xfrm>
            <a:off x="6858000" y="1883664"/>
            <a:ext cx="5120640" cy="411480"/>
          </a:xfrm>
          <a:prstGeom prst="rect">
            <a:avLst/>
          </a:prstGeom>
          <a:noFill/>
        </p:spPr>
        <p:txBody>
          <a:bodyPr wrap="square">
            <a:spAutoFit/>
          </a:bodyPr>
          <a:lstStyle/>
          <a:p>
            <a:pPr algn="l"/>
            <a:r>
              <a:rPr sz="800" b="0" i="0">
                <a:solidFill>
                  <a:srgbClr val="444444"/>
                </a:solidFill>
                <a:latin typeface="Noto Sans JP"/>
              </a:rPr>
              <a:t>経費はすべて法人カードでお支払いください。通帳は会社専用を維持してください。</a:t>
            </a:r>
          </a:p>
        </p:txBody>
      </p:sp>
      <p:sp>
        <p:nvSpPr>
          <p:cNvPr id="36" name="Rectangle 35"/>
          <p:cNvSpPr/>
          <p:nvPr/>
        </p:nvSpPr>
        <p:spPr>
          <a:xfrm>
            <a:off x="6355080" y="2514024"/>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2499624"/>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38" name="TextBox 37"/>
          <p:cNvSpPr txBox="1"/>
          <p:nvPr/>
        </p:nvSpPr>
        <p:spPr>
          <a:xfrm>
            <a:off x="6858000" y="2478024"/>
            <a:ext cx="5120640" cy="320040"/>
          </a:xfrm>
          <a:prstGeom prst="rect">
            <a:avLst/>
          </a:prstGeom>
          <a:noFill/>
        </p:spPr>
        <p:txBody>
          <a:bodyPr wrap="square">
            <a:spAutoFit/>
          </a:bodyPr>
          <a:lstStyle/>
          <a:p>
            <a:pPr algn="l"/>
            <a:r>
              <a:rPr sz="950" b="1" i="0">
                <a:solidFill>
                  <a:srgbClr val="008855"/>
                </a:solidFill>
                <a:latin typeface="Noto Sans JP"/>
              </a:rPr>
              <a:t>生活費は毎月の役員報酬から賄う</a:t>
            </a:r>
          </a:p>
        </p:txBody>
      </p:sp>
      <p:sp>
        <p:nvSpPr>
          <p:cNvPr id="39" name="TextBox 38"/>
          <p:cNvSpPr txBox="1"/>
          <p:nvPr/>
        </p:nvSpPr>
        <p:spPr>
          <a:xfrm>
            <a:off x="6858000" y="2788920"/>
            <a:ext cx="5120640" cy="411480"/>
          </a:xfrm>
          <a:prstGeom prst="rect">
            <a:avLst/>
          </a:prstGeom>
          <a:noFill/>
        </p:spPr>
        <p:txBody>
          <a:bodyPr wrap="square">
            <a:spAutoFit/>
          </a:bodyPr>
          <a:lstStyle/>
          <a:p>
            <a:pPr algn="l"/>
            <a:r>
              <a:rPr sz="800" b="0" i="0">
                <a:solidFill>
                  <a:srgbClr val="444444"/>
                </a:solidFill>
                <a:latin typeface="Noto Sans JP"/>
              </a:rPr>
              <a:t>報酬以外で個人口座へのご入金はお控えください。不足する場合は役員報酬額の見直しをご相談ください。</a:t>
            </a:r>
          </a:p>
        </p:txBody>
      </p:sp>
      <p:sp>
        <p:nvSpPr>
          <p:cNvPr id="40" name="Rectangle 39"/>
          <p:cNvSpPr/>
          <p:nvPr/>
        </p:nvSpPr>
        <p:spPr>
          <a:xfrm>
            <a:off x="6355080" y="3419280"/>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55080" y="3404880"/>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42" name="TextBox 41"/>
          <p:cNvSpPr txBox="1"/>
          <p:nvPr/>
        </p:nvSpPr>
        <p:spPr>
          <a:xfrm>
            <a:off x="6858000" y="3383280"/>
            <a:ext cx="5120640" cy="320040"/>
          </a:xfrm>
          <a:prstGeom prst="rect">
            <a:avLst/>
          </a:prstGeom>
          <a:noFill/>
        </p:spPr>
        <p:txBody>
          <a:bodyPr wrap="square">
            <a:spAutoFit/>
          </a:bodyPr>
          <a:lstStyle/>
          <a:p>
            <a:pPr algn="l"/>
            <a:r>
              <a:rPr sz="950" b="1" i="0">
                <a:solidFill>
                  <a:srgbClr val="008855"/>
                </a:solidFill>
                <a:latin typeface="Noto Sans JP"/>
              </a:rPr>
              <a:t>立替払いをした場合は「社員立替精算書」で処理</a:t>
            </a:r>
          </a:p>
        </p:txBody>
      </p:sp>
      <p:sp>
        <p:nvSpPr>
          <p:cNvPr id="43" name="TextBox 42"/>
          <p:cNvSpPr txBox="1"/>
          <p:nvPr/>
        </p:nvSpPr>
        <p:spPr>
          <a:xfrm>
            <a:off x="6858000" y="3694176"/>
            <a:ext cx="5120640" cy="411480"/>
          </a:xfrm>
          <a:prstGeom prst="rect">
            <a:avLst/>
          </a:prstGeom>
          <a:noFill/>
        </p:spPr>
        <p:txBody>
          <a:bodyPr wrap="square">
            <a:spAutoFit/>
          </a:bodyPr>
          <a:lstStyle/>
          <a:p>
            <a:pPr algn="l"/>
            <a:r>
              <a:rPr sz="800" b="0" i="0">
                <a:solidFill>
                  <a:srgbClr val="444444"/>
                </a:solidFill>
                <a:latin typeface="Noto Sans JP"/>
              </a:rPr>
              <a:t>やむを得ず個人払いをされた場合は記録を残し、月次でご精算ください。</a:t>
            </a:r>
          </a:p>
        </p:txBody>
      </p:sp>
      <p:sp>
        <p:nvSpPr>
          <p:cNvPr id="44" name="Rectangle 43"/>
          <p:cNvSpPr/>
          <p:nvPr/>
        </p:nvSpPr>
        <p:spPr>
          <a:xfrm>
            <a:off x="6355080" y="4324536"/>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55080" y="4310136"/>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46" name="TextBox 45"/>
          <p:cNvSpPr txBox="1"/>
          <p:nvPr/>
        </p:nvSpPr>
        <p:spPr>
          <a:xfrm>
            <a:off x="6858000" y="4288536"/>
            <a:ext cx="5120640" cy="320040"/>
          </a:xfrm>
          <a:prstGeom prst="rect">
            <a:avLst/>
          </a:prstGeom>
          <a:noFill/>
        </p:spPr>
        <p:txBody>
          <a:bodyPr wrap="square">
            <a:spAutoFit/>
          </a:bodyPr>
          <a:lstStyle/>
          <a:p>
            <a:pPr algn="l"/>
            <a:r>
              <a:rPr sz="950" b="1" i="0">
                <a:solidFill>
                  <a:srgbClr val="008855"/>
                </a:solidFill>
                <a:latin typeface="Noto Sans JP"/>
              </a:rPr>
              <a:t>個人・法人の費用を按分するときは根拠を記録</a:t>
            </a:r>
          </a:p>
        </p:txBody>
      </p:sp>
      <p:sp>
        <p:nvSpPr>
          <p:cNvPr id="47" name="TextBox 46"/>
          <p:cNvSpPr txBox="1"/>
          <p:nvPr/>
        </p:nvSpPr>
        <p:spPr>
          <a:xfrm>
            <a:off x="6858000" y="4599432"/>
            <a:ext cx="5120640" cy="411480"/>
          </a:xfrm>
          <a:prstGeom prst="rect">
            <a:avLst/>
          </a:prstGeom>
          <a:noFill/>
        </p:spPr>
        <p:txBody>
          <a:bodyPr wrap="square">
            <a:spAutoFit/>
          </a:bodyPr>
          <a:lstStyle/>
          <a:p>
            <a:pPr algn="l"/>
            <a:r>
              <a:rPr sz="800" b="0" i="0">
                <a:solidFill>
                  <a:srgbClr val="444444"/>
                </a:solidFill>
                <a:latin typeface="Noto Sans JP"/>
              </a:rPr>
              <a:t>自宅兼事務所・車両等は使用割合を計算し、書面でお残しください。</a:t>
            </a:r>
          </a:p>
        </p:txBody>
      </p:sp>
      <p:sp>
        <p:nvSpPr>
          <p:cNvPr id="48" name="Rectangle 47"/>
          <p:cNvSpPr/>
          <p:nvPr/>
        </p:nvSpPr>
        <p:spPr>
          <a:xfrm>
            <a:off x="6355080" y="5229792"/>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55080" y="5215392"/>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50" name="TextBox 49"/>
          <p:cNvSpPr txBox="1"/>
          <p:nvPr/>
        </p:nvSpPr>
        <p:spPr>
          <a:xfrm>
            <a:off x="6858000" y="5193792"/>
            <a:ext cx="5120640" cy="320040"/>
          </a:xfrm>
          <a:prstGeom prst="rect">
            <a:avLst/>
          </a:prstGeom>
          <a:noFill/>
        </p:spPr>
        <p:txBody>
          <a:bodyPr wrap="square">
            <a:spAutoFit/>
          </a:bodyPr>
          <a:lstStyle/>
          <a:p>
            <a:pPr algn="l"/>
            <a:r>
              <a:rPr sz="950" b="1" i="0">
                <a:solidFill>
                  <a:srgbClr val="008855"/>
                </a:solidFill>
                <a:latin typeface="Noto Sans JP"/>
              </a:rPr>
              <a:t>毎月MFクラウドで帳簿を最新状態に保つ</a:t>
            </a:r>
          </a:p>
        </p:txBody>
      </p:sp>
      <p:sp>
        <p:nvSpPr>
          <p:cNvPr id="51" name="TextBox 50"/>
          <p:cNvSpPr txBox="1"/>
          <p:nvPr/>
        </p:nvSpPr>
        <p:spPr>
          <a:xfrm>
            <a:off x="6858000" y="5504688"/>
            <a:ext cx="5120640" cy="411480"/>
          </a:xfrm>
          <a:prstGeom prst="rect">
            <a:avLst/>
          </a:prstGeom>
          <a:noFill/>
        </p:spPr>
        <p:txBody>
          <a:bodyPr wrap="square">
            <a:spAutoFit/>
          </a:bodyPr>
          <a:lstStyle/>
          <a:p>
            <a:pPr algn="l"/>
            <a:r>
              <a:rPr sz="800" b="0" i="0">
                <a:solidFill>
                  <a:srgbClr val="444444"/>
                </a:solidFill>
                <a:latin typeface="Noto Sans JP"/>
              </a:rPr>
              <a:t>リアルタイムの帳簿は税務調査対策にも、資金繰り管理にも大変有効です。</a:t>
            </a:r>
          </a:p>
        </p:txBody>
      </p:sp>
      <p:sp>
        <p:nvSpPr>
          <p:cNvPr id="52" name="TextBox 51"/>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公私混合が続くと決算処理が複雑になり、追加費用が発生します。最初の習慣づけが最も重要です。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2255CC"/>
                </a:solidFill>
                <a:latin typeface="Noto Sans JP"/>
              </a:rPr>
              <a:t>07</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SEVENRICHとのやり取り＆SOSリスト</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連絡方法・資料提出のルール・動く前に必ず相談すること</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07</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07</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SEVENRICHとのやり取り＆SOSリスト</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005840"/>
            <a:ext cx="5486400" cy="365760"/>
          </a:xfrm>
          <a:prstGeom prst="rect">
            <a:avLst/>
          </a:prstGeom>
          <a:noFill/>
        </p:spPr>
        <p:txBody>
          <a:bodyPr wrap="square">
            <a:spAutoFit/>
          </a:bodyPr>
          <a:lstStyle/>
          <a:p>
            <a:pPr algn="l"/>
            <a:r>
              <a:rPr sz="1200" b="1" i="0">
                <a:solidFill>
                  <a:srgbClr val="1A1A1A"/>
                </a:solidFill>
                <a:latin typeface="Noto Sans JP"/>
              </a:rPr>
              <a:t>コミュニケーションルール</a:t>
            </a:r>
          </a:p>
        </p:txBody>
      </p:sp>
      <p:sp>
        <p:nvSpPr>
          <p:cNvPr id="7" name="Rounded Rectangle 6"/>
          <p:cNvSpPr/>
          <p:nvPr/>
        </p:nvSpPr>
        <p:spPr>
          <a:xfrm>
            <a:off x="182880" y="1463040"/>
            <a:ext cx="548640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 y="1463040"/>
            <a:ext cx="164592" cy="1078992"/>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554480"/>
            <a:ext cx="5120640" cy="320040"/>
          </a:xfrm>
          <a:prstGeom prst="rect">
            <a:avLst/>
          </a:prstGeom>
          <a:noFill/>
        </p:spPr>
        <p:txBody>
          <a:bodyPr wrap="square">
            <a:spAutoFit/>
          </a:bodyPr>
          <a:lstStyle/>
          <a:p>
            <a:pPr algn="l"/>
            <a:r>
              <a:rPr sz="1000" b="1" i="0">
                <a:solidFill>
                  <a:srgbClr val="1A1A1A"/>
                </a:solidFill>
                <a:latin typeface="Noto Sans JP"/>
              </a:rPr>
              <a:t>連絡手段</a:t>
            </a:r>
          </a:p>
        </p:txBody>
      </p:sp>
      <p:sp>
        <p:nvSpPr>
          <p:cNvPr id="10" name="TextBox 9"/>
          <p:cNvSpPr txBox="1"/>
          <p:nvPr/>
        </p:nvSpPr>
        <p:spPr>
          <a:xfrm>
            <a:off x="438912" y="1920240"/>
            <a:ext cx="5120640" cy="548640"/>
          </a:xfrm>
          <a:prstGeom prst="rect">
            <a:avLst/>
          </a:prstGeom>
          <a:noFill/>
        </p:spPr>
        <p:txBody>
          <a:bodyPr wrap="square">
            <a:spAutoFit/>
          </a:bodyPr>
          <a:lstStyle/>
          <a:p>
            <a:pPr algn="l"/>
            <a:r>
              <a:rPr sz="850" b="0" i="0">
                <a:solidFill>
                  <a:srgbClr val="444444"/>
                </a:solidFill>
                <a:latin typeface="Noto Sans JP"/>
              </a:rPr>
              <a:t>専用の Slack チャンネルからいつでもお気軽にご連絡ください。
ご入社後に招待リンクをお送りいたします。</a:t>
            </a:r>
          </a:p>
        </p:txBody>
      </p:sp>
      <p:sp>
        <p:nvSpPr>
          <p:cNvPr id="11" name="Rounded Rectangle 10"/>
          <p:cNvSpPr/>
          <p:nvPr/>
        </p:nvSpPr>
        <p:spPr>
          <a:xfrm>
            <a:off x="182880" y="2651760"/>
            <a:ext cx="548640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 y="2651760"/>
            <a:ext cx="164592"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 y="2743200"/>
            <a:ext cx="5120640" cy="320040"/>
          </a:xfrm>
          <a:prstGeom prst="rect">
            <a:avLst/>
          </a:prstGeom>
          <a:noFill/>
        </p:spPr>
        <p:txBody>
          <a:bodyPr wrap="square">
            <a:spAutoFit/>
          </a:bodyPr>
          <a:lstStyle/>
          <a:p>
            <a:pPr algn="l"/>
            <a:r>
              <a:rPr sz="1000" b="1" i="0">
                <a:solidFill>
                  <a:srgbClr val="1A1A1A"/>
                </a:solidFill>
                <a:latin typeface="Noto Sans JP"/>
              </a:rPr>
              <a:t>資料の連携</a:t>
            </a:r>
          </a:p>
        </p:txBody>
      </p:sp>
      <p:sp>
        <p:nvSpPr>
          <p:cNvPr id="14" name="TextBox 13"/>
          <p:cNvSpPr txBox="1"/>
          <p:nvPr/>
        </p:nvSpPr>
        <p:spPr>
          <a:xfrm>
            <a:off x="438912" y="3108960"/>
            <a:ext cx="5120640" cy="548640"/>
          </a:xfrm>
          <a:prstGeom prst="rect">
            <a:avLst/>
          </a:prstGeom>
          <a:noFill/>
        </p:spPr>
        <p:txBody>
          <a:bodyPr wrap="square">
            <a:spAutoFit/>
          </a:bodyPr>
          <a:lstStyle/>
          <a:p>
            <a:pPr algn="l"/>
            <a:r>
              <a:rPr sz="850" b="0" i="0">
                <a:solidFill>
                  <a:srgbClr val="444444"/>
                </a:solidFill>
                <a:latin typeface="Noto Sans JP"/>
              </a:rPr>
              <a:t>毎月〇日までに、前月分の通帳データ・領収書・請求書を
MFクラウドまたは Slack にてご共有ください。</a:t>
            </a:r>
          </a:p>
        </p:txBody>
      </p:sp>
      <p:sp>
        <p:nvSpPr>
          <p:cNvPr id="15" name="Rounded Rectangle 14"/>
          <p:cNvSpPr/>
          <p:nvPr/>
        </p:nvSpPr>
        <p:spPr>
          <a:xfrm>
            <a:off x="182880" y="3840480"/>
            <a:ext cx="548640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3840480"/>
            <a:ext cx="164592" cy="1078992"/>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 y="3931920"/>
            <a:ext cx="5120640" cy="320040"/>
          </a:xfrm>
          <a:prstGeom prst="rect">
            <a:avLst/>
          </a:prstGeom>
          <a:noFill/>
        </p:spPr>
        <p:txBody>
          <a:bodyPr wrap="square">
            <a:spAutoFit/>
          </a:bodyPr>
          <a:lstStyle/>
          <a:p>
            <a:pPr algn="l"/>
            <a:r>
              <a:rPr sz="1000" b="1" i="0">
                <a:solidFill>
                  <a:srgbClr val="1A1A1A"/>
                </a:solidFill>
                <a:latin typeface="Noto Sans JP"/>
              </a:rPr>
              <a:t>返信の目安</a:t>
            </a:r>
          </a:p>
        </p:txBody>
      </p:sp>
      <p:sp>
        <p:nvSpPr>
          <p:cNvPr id="18" name="TextBox 17"/>
          <p:cNvSpPr txBox="1"/>
          <p:nvPr/>
        </p:nvSpPr>
        <p:spPr>
          <a:xfrm>
            <a:off x="438912" y="4297680"/>
            <a:ext cx="5120640" cy="548640"/>
          </a:xfrm>
          <a:prstGeom prst="rect">
            <a:avLst/>
          </a:prstGeom>
          <a:noFill/>
        </p:spPr>
        <p:txBody>
          <a:bodyPr wrap="square">
            <a:spAutoFit/>
          </a:bodyPr>
          <a:lstStyle/>
          <a:p>
            <a:pPr algn="l"/>
            <a:r>
              <a:rPr sz="850" b="0" i="0">
                <a:solidFill>
                  <a:srgbClr val="444444"/>
                </a:solidFill>
                <a:latin typeface="Noto Sans JP"/>
              </a:rPr>
              <a:t>通常のメッセージには2営業日以内にご返信いたします。
税務上の判断が必要な場合は、お時間をいただく場合がございます。</a:t>
            </a:r>
          </a:p>
        </p:txBody>
      </p:sp>
      <p:sp>
        <p:nvSpPr>
          <p:cNvPr id="19" name="Rounded Rectangle 18"/>
          <p:cNvSpPr/>
          <p:nvPr/>
        </p:nvSpPr>
        <p:spPr>
          <a:xfrm>
            <a:off x="182880" y="5029200"/>
            <a:ext cx="548640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2880" y="5029200"/>
            <a:ext cx="164592" cy="107899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 y="5120640"/>
            <a:ext cx="5120640" cy="320040"/>
          </a:xfrm>
          <a:prstGeom prst="rect">
            <a:avLst/>
          </a:prstGeom>
          <a:noFill/>
        </p:spPr>
        <p:txBody>
          <a:bodyPr wrap="square">
            <a:spAutoFit/>
          </a:bodyPr>
          <a:lstStyle/>
          <a:p>
            <a:pPr algn="l"/>
            <a:r>
              <a:rPr sz="1000" b="1" i="0">
                <a:solidFill>
                  <a:srgbClr val="1A1A1A"/>
                </a:solidFill>
                <a:latin typeface="Noto Sans JP"/>
              </a:rPr>
              <a:t>月次面談</a:t>
            </a:r>
          </a:p>
        </p:txBody>
      </p:sp>
      <p:sp>
        <p:nvSpPr>
          <p:cNvPr id="22" name="TextBox 21"/>
          <p:cNvSpPr txBox="1"/>
          <p:nvPr/>
        </p:nvSpPr>
        <p:spPr>
          <a:xfrm>
            <a:off x="438912" y="5486400"/>
            <a:ext cx="5120640" cy="548640"/>
          </a:xfrm>
          <a:prstGeom prst="rect">
            <a:avLst/>
          </a:prstGeom>
          <a:noFill/>
        </p:spPr>
        <p:txBody>
          <a:bodyPr wrap="square">
            <a:spAutoFit/>
          </a:bodyPr>
          <a:lstStyle/>
          <a:p>
            <a:pPr algn="l"/>
            <a:r>
              <a:rPr sz="850" b="0" i="0">
                <a:solidFill>
                  <a:srgbClr val="444444"/>
                </a:solidFill>
                <a:latin typeface="Noto Sans JP"/>
              </a:rPr>
              <a:t>毎月1回、試算表をもとに30分の確認ミーティングを実施いたします。
数字の見方・節税策・資金繰りを一緒に確認してまいります。</a:t>
            </a:r>
          </a:p>
        </p:txBody>
      </p:sp>
      <p:sp>
        <p:nvSpPr>
          <p:cNvPr id="23" name="TextBox 22"/>
          <p:cNvSpPr txBox="1"/>
          <p:nvPr/>
        </p:nvSpPr>
        <p:spPr>
          <a:xfrm>
            <a:off x="5943600" y="1005840"/>
            <a:ext cx="6035040" cy="365760"/>
          </a:xfrm>
          <a:prstGeom prst="rect">
            <a:avLst/>
          </a:prstGeom>
          <a:noFill/>
        </p:spPr>
        <p:txBody>
          <a:bodyPr wrap="square">
            <a:spAutoFit/>
          </a:bodyPr>
          <a:lstStyle/>
          <a:p>
            <a:pPr algn="l"/>
            <a:r>
              <a:rPr sz="1200" b="1" i="0">
                <a:solidFill>
                  <a:srgbClr val="1A1A1A"/>
                </a:solidFill>
                <a:latin typeface="Noto Sans JP"/>
              </a:rPr>
              <a:t>ご実施前に必ずひとことご相談ください！ SOSリスト</a:t>
            </a:r>
          </a:p>
        </p:txBody>
      </p:sp>
      <p:sp>
        <p:nvSpPr>
          <p:cNvPr id="24" name="Rectangle 23"/>
          <p:cNvSpPr/>
          <p:nvPr/>
        </p:nvSpPr>
        <p:spPr>
          <a:xfrm>
            <a:off x="5943600" y="1463040"/>
            <a:ext cx="6035040" cy="411480"/>
          </a:xfrm>
          <a:prstGeom prst="rect">
            <a:avLst/>
          </a:prstGeom>
          <a:solidFill>
            <a:srgbClr val="FF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35040" y="1481328"/>
            <a:ext cx="5852160" cy="347472"/>
          </a:xfrm>
          <a:prstGeom prst="rect">
            <a:avLst/>
          </a:prstGeom>
          <a:noFill/>
        </p:spPr>
        <p:txBody>
          <a:bodyPr wrap="square">
            <a:spAutoFit/>
          </a:bodyPr>
          <a:lstStyle/>
          <a:p>
            <a:pPr algn="l"/>
            <a:r>
              <a:rPr sz="850" b="1" i="0">
                <a:solidFill>
                  <a:srgbClr val="CC0000"/>
                </a:solidFill>
                <a:latin typeface="Noto Sans JP"/>
              </a:rPr>
              <a:t>事後のご報告では税務上のメリットを受けられないケースがございます。必ず「ご実施前に」チャットでひとことご連絡ください。</a:t>
            </a:r>
          </a:p>
        </p:txBody>
      </p:sp>
      <p:sp>
        <p:nvSpPr>
          <p:cNvPr id="26" name="Rounded Rectangle 25"/>
          <p:cNvSpPr/>
          <p:nvPr/>
        </p:nvSpPr>
        <p:spPr>
          <a:xfrm>
            <a:off x="5943600" y="20116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943600" y="20116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99632" y="2084832"/>
            <a:ext cx="2468880" cy="320040"/>
          </a:xfrm>
          <a:prstGeom prst="rect">
            <a:avLst/>
          </a:prstGeom>
          <a:noFill/>
        </p:spPr>
        <p:txBody>
          <a:bodyPr wrap="square">
            <a:spAutoFit/>
          </a:bodyPr>
          <a:lstStyle/>
          <a:p>
            <a:pPr algn="l"/>
            <a:r>
              <a:rPr sz="950" b="1" i="0">
                <a:solidFill>
                  <a:srgbClr val="1A1A1A"/>
                </a:solidFill>
                <a:latin typeface="Noto Sans JP"/>
              </a:rPr>
              <a:t>役員報酬を変更したい</a:t>
            </a:r>
          </a:p>
        </p:txBody>
      </p:sp>
      <p:sp>
        <p:nvSpPr>
          <p:cNvPr id="29" name="TextBox 28"/>
          <p:cNvSpPr txBox="1"/>
          <p:nvPr/>
        </p:nvSpPr>
        <p:spPr>
          <a:xfrm>
            <a:off x="6199632" y="2450592"/>
            <a:ext cx="2468880" cy="320040"/>
          </a:xfrm>
          <a:prstGeom prst="rect">
            <a:avLst/>
          </a:prstGeom>
          <a:noFill/>
        </p:spPr>
        <p:txBody>
          <a:bodyPr wrap="square">
            <a:spAutoFit/>
          </a:bodyPr>
          <a:lstStyle/>
          <a:p>
            <a:pPr algn="l"/>
            <a:r>
              <a:rPr sz="750" b="0" i="0">
                <a:solidFill>
                  <a:srgbClr val="444444"/>
                </a:solidFill>
                <a:latin typeface="Noto Sans JP"/>
              </a:rPr>
              <a:t>変更タイミングが損金算入の可否を決めます</a:t>
            </a:r>
          </a:p>
        </p:txBody>
      </p:sp>
      <p:sp>
        <p:nvSpPr>
          <p:cNvPr id="30" name="Rounded Rectangle 29"/>
          <p:cNvSpPr/>
          <p:nvPr/>
        </p:nvSpPr>
        <p:spPr>
          <a:xfrm>
            <a:off x="5943600" y="29260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943600" y="29260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99632" y="2999232"/>
            <a:ext cx="2468880" cy="320040"/>
          </a:xfrm>
          <a:prstGeom prst="rect">
            <a:avLst/>
          </a:prstGeom>
          <a:noFill/>
        </p:spPr>
        <p:txBody>
          <a:bodyPr wrap="square">
            <a:spAutoFit/>
          </a:bodyPr>
          <a:lstStyle/>
          <a:p>
            <a:pPr algn="l"/>
            <a:r>
              <a:rPr sz="950" b="1" i="0">
                <a:solidFill>
                  <a:srgbClr val="1A1A1A"/>
                </a:solidFill>
                <a:latin typeface="Noto Sans JP"/>
              </a:rPr>
              <a:t>従業員を雇うことになった</a:t>
            </a:r>
          </a:p>
        </p:txBody>
      </p:sp>
      <p:sp>
        <p:nvSpPr>
          <p:cNvPr id="33" name="TextBox 32"/>
          <p:cNvSpPr txBox="1"/>
          <p:nvPr/>
        </p:nvSpPr>
        <p:spPr>
          <a:xfrm>
            <a:off x="6199632" y="3364992"/>
            <a:ext cx="2468880" cy="320040"/>
          </a:xfrm>
          <a:prstGeom prst="rect">
            <a:avLst/>
          </a:prstGeom>
          <a:noFill/>
        </p:spPr>
        <p:txBody>
          <a:bodyPr wrap="square">
            <a:spAutoFit/>
          </a:bodyPr>
          <a:lstStyle/>
          <a:p>
            <a:pPr algn="l"/>
            <a:r>
              <a:rPr sz="750" b="0" i="0">
                <a:solidFill>
                  <a:srgbClr val="444444"/>
                </a:solidFill>
                <a:latin typeface="Noto Sans JP"/>
              </a:rPr>
              <a:t>社会保険・雇用保険の手続きが必要となります</a:t>
            </a:r>
          </a:p>
        </p:txBody>
      </p:sp>
      <p:sp>
        <p:nvSpPr>
          <p:cNvPr id="34" name="Rounded Rectangle 33"/>
          <p:cNvSpPr/>
          <p:nvPr/>
        </p:nvSpPr>
        <p:spPr>
          <a:xfrm>
            <a:off x="5943600" y="38404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943600" y="38404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99632" y="3913632"/>
            <a:ext cx="2468880" cy="320040"/>
          </a:xfrm>
          <a:prstGeom prst="rect">
            <a:avLst/>
          </a:prstGeom>
          <a:noFill/>
        </p:spPr>
        <p:txBody>
          <a:bodyPr wrap="square">
            <a:spAutoFit/>
          </a:bodyPr>
          <a:lstStyle/>
          <a:p>
            <a:pPr algn="l"/>
            <a:r>
              <a:rPr sz="950" b="1" i="0">
                <a:solidFill>
                  <a:srgbClr val="1A1A1A"/>
                </a:solidFill>
                <a:latin typeface="Noto Sans JP"/>
              </a:rPr>
              <a:t>オフィス・登記住所を移転する</a:t>
            </a:r>
          </a:p>
        </p:txBody>
      </p:sp>
      <p:sp>
        <p:nvSpPr>
          <p:cNvPr id="37" name="TextBox 36"/>
          <p:cNvSpPr txBox="1"/>
          <p:nvPr/>
        </p:nvSpPr>
        <p:spPr>
          <a:xfrm>
            <a:off x="6199632" y="4279392"/>
            <a:ext cx="2468880" cy="320040"/>
          </a:xfrm>
          <a:prstGeom prst="rect">
            <a:avLst/>
          </a:prstGeom>
          <a:noFill/>
        </p:spPr>
        <p:txBody>
          <a:bodyPr wrap="square">
            <a:spAutoFit/>
          </a:bodyPr>
          <a:lstStyle/>
          <a:p>
            <a:pPr algn="l"/>
            <a:r>
              <a:rPr sz="750" b="0" i="0">
                <a:solidFill>
                  <a:srgbClr val="444444"/>
                </a:solidFill>
                <a:latin typeface="Noto Sans JP"/>
              </a:rPr>
              <a:t>税務署・自治体・法務局への届出が必要となります</a:t>
            </a:r>
          </a:p>
        </p:txBody>
      </p:sp>
      <p:sp>
        <p:nvSpPr>
          <p:cNvPr id="38" name="Rounded Rectangle 37"/>
          <p:cNvSpPr/>
          <p:nvPr/>
        </p:nvSpPr>
        <p:spPr>
          <a:xfrm>
            <a:off x="5943600" y="47548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943600" y="47548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199632" y="4828032"/>
            <a:ext cx="2468880" cy="320040"/>
          </a:xfrm>
          <a:prstGeom prst="rect">
            <a:avLst/>
          </a:prstGeom>
          <a:noFill/>
        </p:spPr>
        <p:txBody>
          <a:bodyPr wrap="square">
            <a:spAutoFit/>
          </a:bodyPr>
          <a:lstStyle/>
          <a:p>
            <a:pPr algn="l"/>
            <a:r>
              <a:rPr sz="950" b="1" i="0">
                <a:solidFill>
                  <a:srgbClr val="1A1A1A"/>
                </a:solidFill>
                <a:latin typeface="Noto Sans JP"/>
              </a:rPr>
              <a:t>100万円以上の大きな買い物をした</a:t>
            </a:r>
          </a:p>
        </p:txBody>
      </p:sp>
      <p:sp>
        <p:nvSpPr>
          <p:cNvPr id="41" name="TextBox 40"/>
          <p:cNvSpPr txBox="1"/>
          <p:nvPr/>
        </p:nvSpPr>
        <p:spPr>
          <a:xfrm>
            <a:off x="6199632" y="5193792"/>
            <a:ext cx="2468880" cy="320040"/>
          </a:xfrm>
          <a:prstGeom prst="rect">
            <a:avLst/>
          </a:prstGeom>
          <a:noFill/>
        </p:spPr>
        <p:txBody>
          <a:bodyPr wrap="square">
            <a:spAutoFit/>
          </a:bodyPr>
          <a:lstStyle/>
          <a:p>
            <a:pPr algn="l"/>
            <a:r>
              <a:rPr sz="750" b="0" i="0">
                <a:solidFill>
                  <a:srgbClr val="444444"/>
                </a:solidFill>
                <a:latin typeface="Noto Sans JP"/>
              </a:rPr>
              <a:t>資産計上か経費かの判断が必要となります</a:t>
            </a:r>
          </a:p>
        </p:txBody>
      </p:sp>
      <p:sp>
        <p:nvSpPr>
          <p:cNvPr id="42" name="Rounded Rectangle 41"/>
          <p:cNvSpPr/>
          <p:nvPr/>
        </p:nvSpPr>
        <p:spPr>
          <a:xfrm>
            <a:off x="5943600" y="56692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943600" y="56692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99632" y="5742432"/>
            <a:ext cx="2468880" cy="320040"/>
          </a:xfrm>
          <a:prstGeom prst="rect">
            <a:avLst/>
          </a:prstGeom>
          <a:noFill/>
        </p:spPr>
        <p:txBody>
          <a:bodyPr wrap="square">
            <a:spAutoFit/>
          </a:bodyPr>
          <a:lstStyle/>
          <a:p>
            <a:pPr algn="l"/>
            <a:r>
              <a:rPr sz="950" b="1" i="0">
                <a:solidFill>
                  <a:srgbClr val="1A1A1A"/>
                </a:solidFill>
                <a:latin typeface="Noto Sans JP"/>
              </a:rPr>
              <a:t>銀行から借入・出資を受けたい</a:t>
            </a:r>
          </a:p>
        </p:txBody>
      </p:sp>
      <p:sp>
        <p:nvSpPr>
          <p:cNvPr id="45" name="TextBox 44"/>
          <p:cNvSpPr txBox="1"/>
          <p:nvPr/>
        </p:nvSpPr>
        <p:spPr>
          <a:xfrm>
            <a:off x="6199632" y="6108192"/>
            <a:ext cx="2468880" cy="320040"/>
          </a:xfrm>
          <a:prstGeom prst="rect">
            <a:avLst/>
          </a:prstGeom>
          <a:noFill/>
        </p:spPr>
        <p:txBody>
          <a:bodyPr wrap="square">
            <a:spAutoFit/>
          </a:bodyPr>
          <a:lstStyle/>
          <a:p>
            <a:pPr algn="l"/>
            <a:r>
              <a:rPr sz="750" b="0" i="0">
                <a:solidFill>
                  <a:srgbClr val="444444"/>
                </a:solidFill>
                <a:latin typeface="Noto Sans JP"/>
              </a:rPr>
              <a:t>返済計画と税務の両面からアドバイスいたします</a:t>
            </a:r>
          </a:p>
        </p:txBody>
      </p:sp>
      <p:sp>
        <p:nvSpPr>
          <p:cNvPr id="46" name="Rounded Rectangle 45"/>
          <p:cNvSpPr/>
          <p:nvPr/>
        </p:nvSpPr>
        <p:spPr>
          <a:xfrm>
            <a:off x="8961120" y="20116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961120" y="20116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217152" y="2084832"/>
            <a:ext cx="2468880" cy="320040"/>
          </a:xfrm>
          <a:prstGeom prst="rect">
            <a:avLst/>
          </a:prstGeom>
          <a:noFill/>
        </p:spPr>
        <p:txBody>
          <a:bodyPr wrap="square">
            <a:spAutoFit/>
          </a:bodyPr>
          <a:lstStyle/>
          <a:p>
            <a:pPr algn="l"/>
            <a:r>
              <a:rPr sz="950" b="1" i="0">
                <a:solidFill>
                  <a:srgbClr val="1A1A1A"/>
                </a:solidFill>
                <a:latin typeface="Noto Sans JP"/>
              </a:rPr>
              <a:t>会社名・事業内容を変更したい</a:t>
            </a:r>
          </a:p>
        </p:txBody>
      </p:sp>
      <p:sp>
        <p:nvSpPr>
          <p:cNvPr id="49" name="TextBox 48"/>
          <p:cNvSpPr txBox="1"/>
          <p:nvPr/>
        </p:nvSpPr>
        <p:spPr>
          <a:xfrm>
            <a:off x="9217152" y="2450592"/>
            <a:ext cx="2468880" cy="320040"/>
          </a:xfrm>
          <a:prstGeom prst="rect">
            <a:avLst/>
          </a:prstGeom>
          <a:noFill/>
        </p:spPr>
        <p:txBody>
          <a:bodyPr wrap="square">
            <a:spAutoFit/>
          </a:bodyPr>
          <a:lstStyle/>
          <a:p>
            <a:pPr algn="l"/>
            <a:r>
              <a:rPr sz="750" b="0" i="0">
                <a:solidFill>
                  <a:srgbClr val="444444"/>
                </a:solidFill>
                <a:latin typeface="Noto Sans JP"/>
              </a:rPr>
              <a:t>定款変更・登記・税務届出が伴います</a:t>
            </a:r>
          </a:p>
        </p:txBody>
      </p:sp>
      <p:sp>
        <p:nvSpPr>
          <p:cNvPr id="50" name="Rounded Rectangle 49"/>
          <p:cNvSpPr/>
          <p:nvPr/>
        </p:nvSpPr>
        <p:spPr>
          <a:xfrm>
            <a:off x="8961120" y="29260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961120" y="29260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217152" y="2999232"/>
            <a:ext cx="2468880" cy="320040"/>
          </a:xfrm>
          <a:prstGeom prst="rect">
            <a:avLst/>
          </a:prstGeom>
          <a:noFill/>
        </p:spPr>
        <p:txBody>
          <a:bodyPr wrap="square">
            <a:spAutoFit/>
          </a:bodyPr>
          <a:lstStyle/>
          <a:p>
            <a:pPr algn="l"/>
            <a:r>
              <a:rPr sz="950" b="1" i="0">
                <a:solidFill>
                  <a:srgbClr val="1A1A1A"/>
                </a:solidFill>
                <a:latin typeface="Noto Sans JP"/>
              </a:rPr>
              <a:t>役員を追加・変更したい</a:t>
            </a:r>
          </a:p>
        </p:txBody>
      </p:sp>
      <p:sp>
        <p:nvSpPr>
          <p:cNvPr id="53" name="TextBox 52"/>
          <p:cNvSpPr txBox="1"/>
          <p:nvPr/>
        </p:nvSpPr>
        <p:spPr>
          <a:xfrm>
            <a:off x="9217152" y="3364992"/>
            <a:ext cx="2468880" cy="320040"/>
          </a:xfrm>
          <a:prstGeom prst="rect">
            <a:avLst/>
          </a:prstGeom>
          <a:noFill/>
        </p:spPr>
        <p:txBody>
          <a:bodyPr wrap="square">
            <a:spAutoFit/>
          </a:bodyPr>
          <a:lstStyle/>
          <a:p>
            <a:pPr algn="l"/>
            <a:r>
              <a:rPr sz="750" b="0" i="0">
                <a:solidFill>
                  <a:srgbClr val="444444"/>
                </a:solidFill>
                <a:latin typeface="Noto Sans JP"/>
              </a:rPr>
              <a:t>株主総会議事録・社会保険の手続きが必要となります</a:t>
            </a:r>
          </a:p>
        </p:txBody>
      </p:sp>
      <p:sp>
        <p:nvSpPr>
          <p:cNvPr id="54" name="Rounded Rectangle 53"/>
          <p:cNvSpPr/>
          <p:nvPr/>
        </p:nvSpPr>
        <p:spPr>
          <a:xfrm>
            <a:off x="8961120" y="38404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961120" y="38404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217152" y="3913632"/>
            <a:ext cx="2468880" cy="320040"/>
          </a:xfrm>
          <a:prstGeom prst="rect">
            <a:avLst/>
          </a:prstGeom>
          <a:noFill/>
        </p:spPr>
        <p:txBody>
          <a:bodyPr wrap="square">
            <a:spAutoFit/>
          </a:bodyPr>
          <a:lstStyle/>
          <a:p>
            <a:pPr algn="l"/>
            <a:r>
              <a:rPr sz="950" b="1" i="0">
                <a:solidFill>
                  <a:srgbClr val="1A1A1A"/>
                </a:solidFill>
                <a:latin typeface="Noto Sans JP"/>
              </a:rPr>
              <a:t>廃業・会社清算を考えている</a:t>
            </a:r>
          </a:p>
        </p:txBody>
      </p:sp>
      <p:sp>
        <p:nvSpPr>
          <p:cNvPr id="57" name="TextBox 56"/>
          <p:cNvSpPr txBox="1"/>
          <p:nvPr/>
        </p:nvSpPr>
        <p:spPr>
          <a:xfrm>
            <a:off x="9217152" y="4279392"/>
            <a:ext cx="2468880" cy="320040"/>
          </a:xfrm>
          <a:prstGeom prst="rect">
            <a:avLst/>
          </a:prstGeom>
          <a:noFill/>
        </p:spPr>
        <p:txBody>
          <a:bodyPr wrap="square">
            <a:spAutoFit/>
          </a:bodyPr>
          <a:lstStyle/>
          <a:p>
            <a:pPr algn="l"/>
            <a:r>
              <a:rPr sz="750" b="0" i="0">
                <a:solidFill>
                  <a:srgbClr val="444444"/>
                </a:solidFill>
                <a:latin typeface="Noto Sans JP"/>
              </a:rPr>
              <a:t>タイミングにより税負担が大きく変わります</a:t>
            </a:r>
          </a:p>
        </p:txBody>
      </p:sp>
      <p:sp>
        <p:nvSpPr>
          <p:cNvPr id="58" name="Rounded Rectangle 57"/>
          <p:cNvSpPr/>
          <p:nvPr/>
        </p:nvSpPr>
        <p:spPr>
          <a:xfrm>
            <a:off x="8961120" y="47548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961120" y="47548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217152" y="4828032"/>
            <a:ext cx="2468880" cy="320040"/>
          </a:xfrm>
          <a:prstGeom prst="rect">
            <a:avLst/>
          </a:prstGeom>
          <a:noFill/>
        </p:spPr>
        <p:txBody>
          <a:bodyPr wrap="square">
            <a:spAutoFit/>
          </a:bodyPr>
          <a:lstStyle/>
          <a:p>
            <a:pPr algn="l"/>
            <a:r>
              <a:rPr sz="950" b="1" i="0">
                <a:solidFill>
                  <a:srgbClr val="1A1A1A"/>
                </a:solidFill>
                <a:latin typeface="Noto Sans JP"/>
              </a:rPr>
              <a:t>大きな投資や保険の加入を検討中</a:t>
            </a:r>
          </a:p>
        </p:txBody>
      </p:sp>
      <p:sp>
        <p:nvSpPr>
          <p:cNvPr id="61" name="TextBox 60"/>
          <p:cNvSpPr txBox="1"/>
          <p:nvPr/>
        </p:nvSpPr>
        <p:spPr>
          <a:xfrm>
            <a:off x="9217152" y="5193792"/>
            <a:ext cx="2468880" cy="320040"/>
          </a:xfrm>
          <a:prstGeom prst="rect">
            <a:avLst/>
          </a:prstGeom>
          <a:noFill/>
        </p:spPr>
        <p:txBody>
          <a:bodyPr wrap="square">
            <a:spAutoFit/>
          </a:bodyPr>
          <a:lstStyle/>
          <a:p>
            <a:pPr algn="l"/>
            <a:r>
              <a:rPr sz="750" b="0" i="0">
                <a:solidFill>
                  <a:srgbClr val="444444"/>
                </a:solidFill>
                <a:latin typeface="Noto Sans JP"/>
              </a:rPr>
              <a:t>節税効果のシミュレーションを事前にご提案いたします</a:t>
            </a:r>
          </a:p>
        </p:txBody>
      </p:sp>
      <p:sp>
        <p:nvSpPr>
          <p:cNvPr id="62" name="TextBox 61"/>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「こんなことでも相談していいのかな？」と思われたことでも、どうぞお気軽にご連絡ください。早めのご相談ほど、より多くの選択肢をご提案できます。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2255CC"/>
                </a:solidFill>
                <a:latin typeface="Noto Sans JP"/>
              </a:rPr>
              <a:t>08</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法人口座・クレジットカード</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設立後すぐに開設！口座4種類の使い分けとおすすめ銀行・カード</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08</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08</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法人口座・クレジットカード</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005840"/>
            <a:ext cx="5486400" cy="365760"/>
          </a:xfrm>
          <a:prstGeom prst="rect">
            <a:avLst/>
          </a:prstGeom>
          <a:noFill/>
        </p:spPr>
        <p:txBody>
          <a:bodyPr wrap="square">
            <a:spAutoFit/>
          </a:bodyPr>
          <a:lstStyle/>
          <a:p>
            <a:pPr algn="l"/>
            <a:r>
              <a:rPr sz="1200" b="1" i="0">
                <a:solidFill>
                  <a:srgbClr val="1A1A1A"/>
                </a:solidFill>
                <a:latin typeface="Noto Sans JP"/>
              </a:rPr>
              <a:t>法人口座の作り方</a:t>
            </a:r>
          </a:p>
        </p:txBody>
      </p:sp>
      <p:sp>
        <p:nvSpPr>
          <p:cNvPr id="7" name="Rounded Rectangle 6"/>
          <p:cNvSpPr/>
          <p:nvPr/>
        </p:nvSpPr>
        <p:spPr>
          <a:xfrm>
            <a:off x="182880" y="1463040"/>
            <a:ext cx="5486400"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 y="1463040"/>
            <a:ext cx="182880" cy="713232"/>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36192"/>
            <a:ext cx="5166360" cy="292608"/>
          </a:xfrm>
          <a:prstGeom prst="rect">
            <a:avLst/>
          </a:prstGeom>
          <a:noFill/>
        </p:spPr>
        <p:txBody>
          <a:bodyPr wrap="square">
            <a:spAutoFit/>
          </a:bodyPr>
          <a:lstStyle/>
          <a:p>
            <a:pPr algn="l"/>
            <a:r>
              <a:rPr sz="1000" b="1" i="0">
                <a:solidFill>
                  <a:srgbClr val="1A1A1A"/>
                </a:solidFill>
                <a:latin typeface="Noto Sans JP"/>
              </a:rPr>
              <a:t>入金用口座</a:t>
            </a:r>
          </a:p>
        </p:txBody>
      </p:sp>
      <p:sp>
        <p:nvSpPr>
          <p:cNvPr id="10" name="TextBox 9"/>
          <p:cNvSpPr txBox="1"/>
          <p:nvPr/>
        </p:nvSpPr>
        <p:spPr>
          <a:xfrm>
            <a:off x="457200" y="1847088"/>
            <a:ext cx="5166360" cy="274320"/>
          </a:xfrm>
          <a:prstGeom prst="rect">
            <a:avLst/>
          </a:prstGeom>
          <a:noFill/>
        </p:spPr>
        <p:txBody>
          <a:bodyPr wrap="square">
            <a:spAutoFit/>
          </a:bodyPr>
          <a:lstStyle/>
          <a:p>
            <a:pPr algn="l"/>
            <a:r>
              <a:rPr sz="800" b="0" i="0">
                <a:solidFill>
                  <a:srgbClr val="444444"/>
                </a:solidFill>
                <a:latin typeface="Noto Sans JP"/>
              </a:rPr>
              <a:t>売上・入金の受け取り先。法人口座のメイン。</a:t>
            </a:r>
          </a:p>
        </p:txBody>
      </p:sp>
      <p:sp>
        <p:nvSpPr>
          <p:cNvPr id="11" name="Rounded Rectangle 10"/>
          <p:cNvSpPr/>
          <p:nvPr/>
        </p:nvSpPr>
        <p:spPr>
          <a:xfrm>
            <a:off x="182880" y="2231136"/>
            <a:ext cx="5486400"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 y="2231136"/>
            <a:ext cx="182880" cy="71323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304288"/>
            <a:ext cx="5166360" cy="292608"/>
          </a:xfrm>
          <a:prstGeom prst="rect">
            <a:avLst/>
          </a:prstGeom>
          <a:noFill/>
        </p:spPr>
        <p:txBody>
          <a:bodyPr wrap="square">
            <a:spAutoFit/>
          </a:bodyPr>
          <a:lstStyle/>
          <a:p>
            <a:pPr algn="l"/>
            <a:r>
              <a:rPr sz="1000" b="1" i="0">
                <a:solidFill>
                  <a:srgbClr val="1A1A1A"/>
                </a:solidFill>
                <a:latin typeface="Noto Sans JP"/>
              </a:rPr>
              <a:t>支払用口座</a:t>
            </a:r>
          </a:p>
        </p:txBody>
      </p:sp>
      <p:sp>
        <p:nvSpPr>
          <p:cNvPr id="14" name="TextBox 13"/>
          <p:cNvSpPr txBox="1"/>
          <p:nvPr/>
        </p:nvSpPr>
        <p:spPr>
          <a:xfrm>
            <a:off x="457200" y="2615184"/>
            <a:ext cx="5166360" cy="274320"/>
          </a:xfrm>
          <a:prstGeom prst="rect">
            <a:avLst/>
          </a:prstGeom>
          <a:noFill/>
        </p:spPr>
        <p:txBody>
          <a:bodyPr wrap="square">
            <a:spAutoFit/>
          </a:bodyPr>
          <a:lstStyle/>
          <a:p>
            <a:pPr algn="l"/>
            <a:r>
              <a:rPr sz="800" b="0" i="0">
                <a:solidFill>
                  <a:srgbClr val="444444"/>
                </a:solidFill>
                <a:latin typeface="Noto Sans JP"/>
              </a:rPr>
              <a:t>経費・人件費などの支払い専用。毎月入金口座から移動。</a:t>
            </a:r>
          </a:p>
        </p:txBody>
      </p:sp>
      <p:sp>
        <p:nvSpPr>
          <p:cNvPr id="15" name="Rounded Rectangle 14"/>
          <p:cNvSpPr/>
          <p:nvPr/>
        </p:nvSpPr>
        <p:spPr>
          <a:xfrm>
            <a:off x="182880" y="2999232"/>
            <a:ext cx="5486400"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2999232"/>
            <a:ext cx="182880" cy="71323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072384"/>
            <a:ext cx="5166360" cy="292608"/>
          </a:xfrm>
          <a:prstGeom prst="rect">
            <a:avLst/>
          </a:prstGeom>
          <a:noFill/>
        </p:spPr>
        <p:txBody>
          <a:bodyPr wrap="square">
            <a:spAutoFit/>
          </a:bodyPr>
          <a:lstStyle/>
          <a:p>
            <a:pPr algn="l"/>
            <a:r>
              <a:rPr sz="1000" b="1" i="0">
                <a:solidFill>
                  <a:srgbClr val="1A1A1A"/>
                </a:solidFill>
                <a:latin typeface="Noto Sans JP"/>
              </a:rPr>
              <a:t>納税用口座</a:t>
            </a:r>
          </a:p>
        </p:txBody>
      </p:sp>
      <p:sp>
        <p:nvSpPr>
          <p:cNvPr id="18" name="TextBox 17"/>
          <p:cNvSpPr txBox="1"/>
          <p:nvPr/>
        </p:nvSpPr>
        <p:spPr>
          <a:xfrm>
            <a:off x="457200" y="3383280"/>
            <a:ext cx="5166360" cy="274320"/>
          </a:xfrm>
          <a:prstGeom prst="rect">
            <a:avLst/>
          </a:prstGeom>
          <a:noFill/>
        </p:spPr>
        <p:txBody>
          <a:bodyPr wrap="square">
            <a:spAutoFit/>
          </a:bodyPr>
          <a:lstStyle/>
          <a:p>
            <a:pPr algn="l"/>
            <a:r>
              <a:rPr sz="800" b="0" i="0">
                <a:solidFill>
                  <a:srgbClr val="444444"/>
                </a:solidFill>
                <a:latin typeface="Noto Sans JP"/>
              </a:rPr>
              <a:t>法人税・消費税の積立専用。決して取り崩さない。</a:t>
            </a:r>
          </a:p>
        </p:txBody>
      </p:sp>
      <p:sp>
        <p:nvSpPr>
          <p:cNvPr id="19" name="Rounded Rectangle 18"/>
          <p:cNvSpPr/>
          <p:nvPr/>
        </p:nvSpPr>
        <p:spPr>
          <a:xfrm>
            <a:off x="182880" y="3767328"/>
            <a:ext cx="5486400"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2880" y="3767328"/>
            <a:ext cx="182880" cy="713232"/>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840480"/>
            <a:ext cx="5166360" cy="292608"/>
          </a:xfrm>
          <a:prstGeom prst="rect">
            <a:avLst/>
          </a:prstGeom>
          <a:noFill/>
        </p:spPr>
        <p:txBody>
          <a:bodyPr wrap="square">
            <a:spAutoFit/>
          </a:bodyPr>
          <a:lstStyle/>
          <a:p>
            <a:pPr algn="l"/>
            <a:r>
              <a:rPr sz="1000" b="1" i="0">
                <a:solidFill>
                  <a:srgbClr val="1A1A1A"/>
                </a:solidFill>
                <a:latin typeface="Noto Sans JP"/>
              </a:rPr>
              <a:t>設備投資用口座</a:t>
            </a:r>
          </a:p>
        </p:txBody>
      </p:sp>
      <p:sp>
        <p:nvSpPr>
          <p:cNvPr id="22" name="TextBox 21"/>
          <p:cNvSpPr txBox="1"/>
          <p:nvPr/>
        </p:nvSpPr>
        <p:spPr>
          <a:xfrm>
            <a:off x="457200" y="4151376"/>
            <a:ext cx="5166360" cy="274320"/>
          </a:xfrm>
          <a:prstGeom prst="rect">
            <a:avLst/>
          </a:prstGeom>
          <a:noFill/>
        </p:spPr>
        <p:txBody>
          <a:bodyPr wrap="square">
            <a:spAutoFit/>
          </a:bodyPr>
          <a:lstStyle/>
          <a:p>
            <a:pPr algn="l"/>
            <a:r>
              <a:rPr sz="800" b="0" i="0">
                <a:solidFill>
                  <a:srgbClr val="444444"/>
                </a:solidFill>
                <a:latin typeface="Noto Sans JP"/>
              </a:rPr>
              <a:t>大型購入・将来の投資のための積立口座。</a:t>
            </a:r>
          </a:p>
        </p:txBody>
      </p:sp>
      <p:sp>
        <p:nvSpPr>
          <p:cNvPr id="23" name="Rounded Rectangle 22"/>
          <p:cNvSpPr/>
          <p:nvPr/>
        </p:nvSpPr>
        <p:spPr>
          <a:xfrm>
            <a:off x="182880" y="4645152"/>
            <a:ext cx="1780032" cy="1207008"/>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82880" y="4645152"/>
            <a:ext cx="1780032" cy="292608"/>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82880" y="4645152"/>
            <a:ext cx="1780032" cy="292608"/>
          </a:xfrm>
          <a:prstGeom prst="rect">
            <a:avLst/>
          </a:prstGeom>
          <a:noFill/>
        </p:spPr>
        <p:txBody>
          <a:bodyPr wrap="square">
            <a:spAutoFit/>
          </a:bodyPr>
          <a:lstStyle/>
          <a:p>
            <a:pPr algn="ctr"/>
            <a:r>
              <a:rPr sz="900" b="1" i="0">
                <a:solidFill>
                  <a:srgbClr val="FFFFFF"/>
                </a:solidFill>
                <a:latin typeface="Noto Sans JP"/>
              </a:rPr>
              <a:t>都市銀行</a:t>
            </a:r>
          </a:p>
        </p:txBody>
      </p:sp>
      <p:sp>
        <p:nvSpPr>
          <p:cNvPr id="26" name="TextBox 25"/>
          <p:cNvSpPr txBox="1"/>
          <p:nvPr/>
        </p:nvSpPr>
        <p:spPr>
          <a:xfrm>
            <a:off x="254880" y="4992624"/>
            <a:ext cx="1636032" cy="292608"/>
          </a:xfrm>
          <a:prstGeom prst="rect">
            <a:avLst/>
          </a:prstGeom>
          <a:noFill/>
        </p:spPr>
        <p:txBody>
          <a:bodyPr wrap="square">
            <a:spAutoFit/>
          </a:bodyPr>
          <a:lstStyle/>
          <a:p>
            <a:pPr algn="l"/>
            <a:r>
              <a:rPr sz="850" b="1" i="0">
                <a:solidFill>
                  <a:srgbClr val="1A1A1A"/>
                </a:solidFill>
                <a:latin typeface="Noto Sans JP"/>
              </a:rPr>
              <a:t>三井住友銀行 Trunk</a:t>
            </a:r>
          </a:p>
        </p:txBody>
      </p:sp>
      <p:sp>
        <p:nvSpPr>
          <p:cNvPr id="27" name="TextBox 26"/>
          <p:cNvSpPr txBox="1"/>
          <p:nvPr/>
        </p:nvSpPr>
        <p:spPr>
          <a:xfrm>
            <a:off x="254880" y="5321808"/>
            <a:ext cx="1636032" cy="457200"/>
          </a:xfrm>
          <a:prstGeom prst="rect">
            <a:avLst/>
          </a:prstGeom>
          <a:noFill/>
        </p:spPr>
        <p:txBody>
          <a:bodyPr wrap="square">
            <a:spAutoFit/>
          </a:bodyPr>
          <a:lstStyle/>
          <a:p>
            <a:pPr algn="l"/>
            <a:r>
              <a:rPr sz="750" b="0" i="0">
                <a:solidFill>
                  <a:srgbClr val="444444"/>
                </a:solidFill>
                <a:latin typeface="Noto Sans JP"/>
              </a:rPr>
              <a:t>他行宛145円・月額無料
融資・補助金・対外信用◎</a:t>
            </a:r>
          </a:p>
        </p:txBody>
      </p:sp>
      <p:sp>
        <p:nvSpPr>
          <p:cNvPr id="28" name="Rounded Rectangle 27"/>
          <p:cNvSpPr/>
          <p:nvPr/>
        </p:nvSpPr>
        <p:spPr>
          <a:xfrm>
            <a:off x="2036064" y="4645152"/>
            <a:ext cx="1780032" cy="1207008"/>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036064" y="4645152"/>
            <a:ext cx="1780032" cy="292608"/>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36064" y="4645152"/>
            <a:ext cx="1780032" cy="292608"/>
          </a:xfrm>
          <a:prstGeom prst="rect">
            <a:avLst/>
          </a:prstGeom>
          <a:noFill/>
        </p:spPr>
        <p:txBody>
          <a:bodyPr wrap="square">
            <a:spAutoFit/>
          </a:bodyPr>
          <a:lstStyle/>
          <a:p>
            <a:pPr algn="ctr"/>
            <a:r>
              <a:rPr sz="900" b="1" i="0">
                <a:solidFill>
                  <a:srgbClr val="FFFFFF"/>
                </a:solidFill>
                <a:latin typeface="Noto Sans JP"/>
              </a:rPr>
              <a:t>ネット銀行</a:t>
            </a:r>
          </a:p>
        </p:txBody>
      </p:sp>
      <p:sp>
        <p:nvSpPr>
          <p:cNvPr id="31" name="TextBox 30"/>
          <p:cNvSpPr txBox="1"/>
          <p:nvPr/>
        </p:nvSpPr>
        <p:spPr>
          <a:xfrm>
            <a:off x="2108064" y="4992624"/>
            <a:ext cx="1636032" cy="292608"/>
          </a:xfrm>
          <a:prstGeom prst="rect">
            <a:avLst/>
          </a:prstGeom>
          <a:noFill/>
        </p:spPr>
        <p:txBody>
          <a:bodyPr wrap="square">
            <a:spAutoFit/>
          </a:bodyPr>
          <a:lstStyle/>
          <a:p>
            <a:pPr algn="l"/>
            <a:r>
              <a:rPr sz="850" b="1" i="0">
                <a:solidFill>
                  <a:srgbClr val="1A1A1A"/>
                </a:solidFill>
                <a:latin typeface="Noto Sans JP"/>
              </a:rPr>
              <a:t>GMOあおぞらネット銀行</a:t>
            </a:r>
          </a:p>
        </p:txBody>
      </p:sp>
      <p:sp>
        <p:nvSpPr>
          <p:cNvPr id="32" name="TextBox 31"/>
          <p:cNvSpPr txBox="1"/>
          <p:nvPr/>
        </p:nvSpPr>
        <p:spPr>
          <a:xfrm>
            <a:off x="2108064" y="5321808"/>
            <a:ext cx="1636032" cy="457200"/>
          </a:xfrm>
          <a:prstGeom prst="rect">
            <a:avLst/>
          </a:prstGeom>
          <a:noFill/>
        </p:spPr>
        <p:txBody>
          <a:bodyPr wrap="square">
            <a:spAutoFit/>
          </a:bodyPr>
          <a:lstStyle/>
          <a:p>
            <a:pPr algn="l"/>
            <a:r>
              <a:rPr sz="750" b="0" i="0">
                <a:solidFill>
                  <a:srgbClr val="444444"/>
                </a:solidFill>
                <a:latin typeface="Noto Sans JP"/>
              </a:rPr>
              <a:t>他行宛130円（業界最安）
Pay-easy対応・翌営業日開設</a:t>
            </a:r>
          </a:p>
        </p:txBody>
      </p:sp>
      <p:sp>
        <p:nvSpPr>
          <p:cNvPr id="33" name="Rounded Rectangle 32"/>
          <p:cNvSpPr/>
          <p:nvPr/>
        </p:nvSpPr>
        <p:spPr>
          <a:xfrm>
            <a:off x="3889248" y="4645152"/>
            <a:ext cx="1780032" cy="1207008"/>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889248" y="4645152"/>
            <a:ext cx="1780032" cy="292608"/>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89248" y="4645152"/>
            <a:ext cx="1780032" cy="292608"/>
          </a:xfrm>
          <a:prstGeom prst="rect">
            <a:avLst/>
          </a:prstGeom>
          <a:noFill/>
        </p:spPr>
        <p:txBody>
          <a:bodyPr wrap="square">
            <a:spAutoFit/>
          </a:bodyPr>
          <a:lstStyle/>
          <a:p>
            <a:pPr algn="ctr"/>
            <a:r>
              <a:rPr sz="900" b="1" i="0">
                <a:solidFill>
                  <a:srgbClr val="FFFFFF"/>
                </a:solidFill>
                <a:latin typeface="Noto Sans JP"/>
              </a:rPr>
              <a:t>地方銀行</a:t>
            </a:r>
          </a:p>
        </p:txBody>
      </p:sp>
      <p:sp>
        <p:nvSpPr>
          <p:cNvPr id="36" name="TextBox 35"/>
          <p:cNvSpPr txBox="1"/>
          <p:nvPr/>
        </p:nvSpPr>
        <p:spPr>
          <a:xfrm>
            <a:off x="3961248" y="4992624"/>
            <a:ext cx="1636032" cy="292608"/>
          </a:xfrm>
          <a:prstGeom prst="rect">
            <a:avLst/>
          </a:prstGeom>
          <a:noFill/>
        </p:spPr>
        <p:txBody>
          <a:bodyPr wrap="square">
            <a:spAutoFit/>
          </a:bodyPr>
          <a:lstStyle/>
          <a:p>
            <a:pPr algn="l"/>
            <a:r>
              <a:rPr sz="850" b="1" i="0">
                <a:solidFill>
                  <a:srgbClr val="1A1A1A"/>
                </a:solidFill>
                <a:latin typeface="Noto Sans JP"/>
              </a:rPr>
              <a:t>地元の信用金庫（任意）</a:t>
            </a:r>
          </a:p>
        </p:txBody>
      </p:sp>
      <p:sp>
        <p:nvSpPr>
          <p:cNvPr id="37" name="TextBox 36"/>
          <p:cNvSpPr txBox="1"/>
          <p:nvPr/>
        </p:nvSpPr>
        <p:spPr>
          <a:xfrm>
            <a:off x="3961248" y="5321808"/>
            <a:ext cx="1636032" cy="457200"/>
          </a:xfrm>
          <a:prstGeom prst="rect">
            <a:avLst/>
          </a:prstGeom>
          <a:noFill/>
        </p:spPr>
        <p:txBody>
          <a:bodyPr wrap="square">
            <a:spAutoFit/>
          </a:bodyPr>
          <a:lstStyle/>
          <a:p>
            <a:pPr algn="l"/>
            <a:r>
              <a:rPr sz="750" b="0" i="0">
                <a:solidFill>
                  <a:srgbClr val="444444"/>
                </a:solidFill>
                <a:latin typeface="Noto Sans JP"/>
              </a:rPr>
              <a:t>融資関係が目的の場合のみ
日常口座には不向き</a:t>
            </a:r>
          </a:p>
        </p:txBody>
      </p:sp>
      <p:sp>
        <p:nvSpPr>
          <p:cNvPr id="38" name="TextBox 37"/>
          <p:cNvSpPr txBox="1"/>
          <p:nvPr/>
        </p:nvSpPr>
        <p:spPr>
          <a:xfrm>
            <a:off x="5943600" y="1005840"/>
            <a:ext cx="6035040" cy="365760"/>
          </a:xfrm>
          <a:prstGeom prst="rect">
            <a:avLst/>
          </a:prstGeom>
          <a:noFill/>
        </p:spPr>
        <p:txBody>
          <a:bodyPr wrap="square">
            <a:spAutoFit/>
          </a:bodyPr>
          <a:lstStyle/>
          <a:p>
            <a:pPr algn="l"/>
            <a:r>
              <a:rPr sz="1200" b="1" i="0">
                <a:solidFill>
                  <a:srgbClr val="1A1A1A"/>
                </a:solidFill>
                <a:latin typeface="Noto Sans JP"/>
              </a:rPr>
              <a:t>法人クレジットカード</a:t>
            </a:r>
          </a:p>
        </p:txBody>
      </p:sp>
      <p:sp>
        <p:nvSpPr>
          <p:cNvPr id="39" name="Rounded Rectangle 38"/>
          <p:cNvSpPr/>
          <p:nvPr/>
        </p:nvSpPr>
        <p:spPr>
          <a:xfrm>
            <a:off x="5943600" y="1463040"/>
            <a:ext cx="6035040" cy="1152144"/>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943600" y="1463040"/>
            <a:ext cx="182880" cy="1152144"/>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17920" y="1545336"/>
            <a:ext cx="2103120" cy="936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7920" y="1527048"/>
            <a:ext cx="2103120" cy="100800"/>
          </a:xfrm>
          <a:prstGeom prst="rect">
            <a:avLst/>
          </a:prstGeom>
          <a:noFill/>
        </p:spPr>
        <p:txBody>
          <a:bodyPr wrap="square">
            <a:spAutoFit/>
          </a:bodyPr>
          <a:lstStyle/>
          <a:p>
            <a:pPr algn="l"/>
            <a:r>
              <a:rPr sz="700" b="1" i="0">
                <a:solidFill>
                  <a:srgbClr val="FFFFFF"/>
                </a:solidFill>
                <a:latin typeface="Noto Sans JP"/>
              </a:rPr>
              <a:t>当事務所 第1推奨</a:t>
            </a:r>
          </a:p>
        </p:txBody>
      </p:sp>
      <p:sp>
        <p:nvSpPr>
          <p:cNvPr id="43" name="TextBox 42"/>
          <p:cNvSpPr txBox="1"/>
          <p:nvPr/>
        </p:nvSpPr>
        <p:spPr>
          <a:xfrm>
            <a:off x="6217920" y="1828800"/>
            <a:ext cx="5577840" cy="310896"/>
          </a:xfrm>
          <a:prstGeom prst="rect">
            <a:avLst/>
          </a:prstGeom>
          <a:noFill/>
        </p:spPr>
        <p:txBody>
          <a:bodyPr wrap="square">
            <a:spAutoFit/>
          </a:bodyPr>
          <a:lstStyle/>
          <a:p>
            <a:pPr algn="l"/>
            <a:r>
              <a:rPr sz="1300" b="1" i="0">
                <a:solidFill>
                  <a:srgbClr val="1A1A1A"/>
                </a:solidFill>
                <a:latin typeface="Noto Sans JP"/>
              </a:rPr>
              <a:t>MFビジネスカード</a:t>
            </a:r>
          </a:p>
        </p:txBody>
      </p:sp>
      <p:sp>
        <p:nvSpPr>
          <p:cNvPr id="44" name="TextBox 43"/>
          <p:cNvSpPr txBox="1"/>
          <p:nvPr/>
        </p:nvSpPr>
        <p:spPr>
          <a:xfrm>
            <a:off x="6217920" y="2157984"/>
            <a:ext cx="5577840" cy="310896"/>
          </a:xfrm>
          <a:prstGeom prst="rect">
            <a:avLst/>
          </a:prstGeom>
          <a:noFill/>
        </p:spPr>
        <p:txBody>
          <a:bodyPr wrap="square">
            <a:spAutoFit/>
          </a:bodyPr>
          <a:lstStyle/>
          <a:p>
            <a:pPr algn="l"/>
            <a:r>
              <a:rPr sz="800" b="0" i="0">
                <a:solidFill>
                  <a:srgbClr val="444444"/>
                </a:solidFill>
                <a:latin typeface="Noto Sans JP"/>
              </a:rPr>
              <a:t>MFクラウド会計とAPI完全連携。利用→明細自動取得→仕訳自動生成が途切れない。年会費実質無料・個人事業主も申込可。</a:t>
            </a:r>
          </a:p>
        </p:txBody>
      </p:sp>
      <p:sp>
        <p:nvSpPr>
          <p:cNvPr id="45" name="TextBox 44"/>
          <p:cNvSpPr txBox="1"/>
          <p:nvPr/>
        </p:nvSpPr>
        <p:spPr>
          <a:xfrm>
            <a:off x="6217920" y="2468880"/>
            <a:ext cx="5577840" cy="164592"/>
          </a:xfrm>
          <a:prstGeom prst="rect">
            <a:avLst/>
          </a:prstGeom>
          <a:noFill/>
        </p:spPr>
        <p:txBody>
          <a:bodyPr wrap="square">
            <a:spAutoFit/>
          </a:bodyPr>
          <a:lstStyle/>
          <a:p>
            <a:pPr algn="l"/>
            <a:r>
              <a:rPr sz="750" b="1" i="0">
                <a:solidFill>
                  <a:srgbClr val="008855"/>
                </a:solidFill>
                <a:latin typeface="Noto Sans JP"/>
              </a:rPr>
              <a:t>→ MFクラウドを使う方 全員に推奨（当事務所推奨）</a:t>
            </a:r>
          </a:p>
        </p:txBody>
      </p:sp>
      <p:sp>
        <p:nvSpPr>
          <p:cNvPr id="46" name="Rounded Rectangle 45"/>
          <p:cNvSpPr/>
          <p:nvPr/>
        </p:nvSpPr>
        <p:spPr>
          <a:xfrm>
            <a:off x="5943600" y="2670048"/>
            <a:ext cx="6035040" cy="1152144"/>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943600" y="2670048"/>
            <a:ext cx="182880" cy="1152144"/>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17920" y="2752344"/>
            <a:ext cx="2103120" cy="936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17920" y="2734056"/>
            <a:ext cx="2103120" cy="100800"/>
          </a:xfrm>
          <a:prstGeom prst="rect">
            <a:avLst/>
          </a:prstGeom>
          <a:noFill/>
        </p:spPr>
        <p:txBody>
          <a:bodyPr wrap="square">
            <a:spAutoFit/>
          </a:bodyPr>
          <a:lstStyle/>
          <a:p>
            <a:pPr algn="l"/>
            <a:r>
              <a:rPr sz="700" b="1" i="0">
                <a:solidFill>
                  <a:srgbClr val="FFFFFF"/>
                </a:solidFill>
                <a:latin typeface="Noto Sans JP"/>
              </a:rPr>
              <a:t>スタートアップ向け・高還元</a:t>
            </a:r>
          </a:p>
        </p:txBody>
      </p:sp>
      <p:sp>
        <p:nvSpPr>
          <p:cNvPr id="50" name="TextBox 49"/>
          <p:cNvSpPr txBox="1"/>
          <p:nvPr/>
        </p:nvSpPr>
        <p:spPr>
          <a:xfrm>
            <a:off x="6217920" y="3035808"/>
            <a:ext cx="5577840" cy="310896"/>
          </a:xfrm>
          <a:prstGeom prst="rect">
            <a:avLst/>
          </a:prstGeom>
          <a:noFill/>
        </p:spPr>
        <p:txBody>
          <a:bodyPr wrap="square">
            <a:spAutoFit/>
          </a:bodyPr>
          <a:lstStyle/>
          <a:p>
            <a:pPr algn="l"/>
            <a:r>
              <a:rPr sz="1300" b="1" i="0">
                <a:solidFill>
                  <a:srgbClr val="1A1A1A"/>
                </a:solidFill>
                <a:latin typeface="Noto Sans JP"/>
              </a:rPr>
              <a:t>UPSIDER</a:t>
            </a:r>
          </a:p>
        </p:txBody>
      </p:sp>
      <p:sp>
        <p:nvSpPr>
          <p:cNvPr id="51" name="TextBox 50"/>
          <p:cNvSpPr txBox="1"/>
          <p:nvPr/>
        </p:nvSpPr>
        <p:spPr>
          <a:xfrm>
            <a:off x="6217920" y="3364992"/>
            <a:ext cx="5577840" cy="310896"/>
          </a:xfrm>
          <a:prstGeom prst="rect">
            <a:avLst/>
          </a:prstGeom>
          <a:noFill/>
        </p:spPr>
        <p:txBody>
          <a:bodyPr wrap="square">
            <a:spAutoFit/>
          </a:bodyPr>
          <a:lstStyle/>
          <a:p>
            <a:pPr algn="l"/>
            <a:r>
              <a:rPr sz="800" b="0" i="0">
                <a:solidFill>
                  <a:srgbClr val="444444"/>
                </a:solidFill>
                <a:latin typeface="Noto Sans JP"/>
              </a:rPr>
              <a:t>還元率1〜1.5%・決算書不要で審査最短10分。設立直後の法人でも通過率が高く、限度額は最大10億円。</a:t>
            </a:r>
          </a:p>
        </p:txBody>
      </p:sp>
      <p:sp>
        <p:nvSpPr>
          <p:cNvPr id="52" name="TextBox 51"/>
          <p:cNvSpPr txBox="1"/>
          <p:nvPr/>
        </p:nvSpPr>
        <p:spPr>
          <a:xfrm>
            <a:off x="6217920" y="3675888"/>
            <a:ext cx="5577840" cy="164592"/>
          </a:xfrm>
          <a:prstGeom prst="rect">
            <a:avLst/>
          </a:prstGeom>
          <a:noFill/>
        </p:spPr>
        <p:txBody>
          <a:bodyPr wrap="square">
            <a:spAutoFit/>
          </a:bodyPr>
          <a:lstStyle/>
          <a:p>
            <a:pPr algn="l"/>
            <a:r>
              <a:rPr sz="750" b="1" i="0">
                <a:solidFill>
                  <a:srgbClr val="CC6600"/>
                </a:solidFill>
                <a:latin typeface="Noto Sans JP"/>
              </a:rPr>
              <a:t>→ 設立間もない法人・審査が不安な方</a:t>
            </a:r>
          </a:p>
        </p:txBody>
      </p:sp>
      <p:sp>
        <p:nvSpPr>
          <p:cNvPr id="53" name="Rounded Rectangle 52"/>
          <p:cNvSpPr/>
          <p:nvPr/>
        </p:nvSpPr>
        <p:spPr>
          <a:xfrm>
            <a:off x="5943600" y="3877056"/>
            <a:ext cx="6035040" cy="1152144"/>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943600" y="3877056"/>
            <a:ext cx="182880" cy="1152144"/>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217920" y="3959352"/>
            <a:ext cx="2103120" cy="936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17920" y="3941064"/>
            <a:ext cx="2103120" cy="100800"/>
          </a:xfrm>
          <a:prstGeom prst="rect">
            <a:avLst/>
          </a:prstGeom>
          <a:noFill/>
        </p:spPr>
        <p:txBody>
          <a:bodyPr wrap="square">
            <a:spAutoFit/>
          </a:bodyPr>
          <a:lstStyle/>
          <a:p>
            <a:pPr algn="l"/>
            <a:r>
              <a:rPr sz="700" b="1" i="0">
                <a:solidFill>
                  <a:srgbClr val="FFFFFF"/>
                </a:solidFill>
                <a:latin typeface="Noto Sans JP"/>
              </a:rPr>
              <a:t>経理DX・中規模企業向け</a:t>
            </a:r>
          </a:p>
        </p:txBody>
      </p:sp>
      <p:sp>
        <p:nvSpPr>
          <p:cNvPr id="57" name="TextBox 56"/>
          <p:cNvSpPr txBox="1"/>
          <p:nvPr/>
        </p:nvSpPr>
        <p:spPr>
          <a:xfrm>
            <a:off x="6217920" y="4242816"/>
            <a:ext cx="5577840" cy="310896"/>
          </a:xfrm>
          <a:prstGeom prst="rect">
            <a:avLst/>
          </a:prstGeom>
          <a:noFill/>
        </p:spPr>
        <p:txBody>
          <a:bodyPr wrap="square">
            <a:spAutoFit/>
          </a:bodyPr>
          <a:lstStyle/>
          <a:p>
            <a:pPr algn="l"/>
            <a:r>
              <a:rPr sz="1300" b="1" i="0">
                <a:solidFill>
                  <a:srgbClr val="1A1A1A"/>
                </a:solidFill>
                <a:latin typeface="Noto Sans JP"/>
              </a:rPr>
              <a:t>バクラク</a:t>
            </a:r>
          </a:p>
        </p:txBody>
      </p:sp>
      <p:sp>
        <p:nvSpPr>
          <p:cNvPr id="58" name="TextBox 57"/>
          <p:cNvSpPr txBox="1"/>
          <p:nvPr/>
        </p:nvSpPr>
        <p:spPr>
          <a:xfrm>
            <a:off x="6217920" y="4572000"/>
            <a:ext cx="5577840" cy="310896"/>
          </a:xfrm>
          <a:prstGeom prst="rect">
            <a:avLst/>
          </a:prstGeom>
          <a:noFill/>
        </p:spPr>
        <p:txBody>
          <a:bodyPr wrap="square">
            <a:spAutoFit/>
          </a:bodyPr>
          <a:lstStyle/>
          <a:p>
            <a:pPr algn="l"/>
            <a:r>
              <a:rPr sz="800" b="0" i="0">
                <a:solidFill>
                  <a:srgbClr val="444444"/>
                </a:solidFill>
                <a:latin typeface="Noto Sans JP"/>
              </a:rPr>
              <a:t>キャッシュバック1%（半年間1.5%）。請求書・経費精算・支払管理を一元化。電子帳簿保存法対応済み。</a:t>
            </a:r>
          </a:p>
        </p:txBody>
      </p:sp>
      <p:sp>
        <p:nvSpPr>
          <p:cNvPr id="59" name="TextBox 58"/>
          <p:cNvSpPr txBox="1"/>
          <p:nvPr/>
        </p:nvSpPr>
        <p:spPr>
          <a:xfrm>
            <a:off x="6217920" y="4882896"/>
            <a:ext cx="5577840" cy="164592"/>
          </a:xfrm>
          <a:prstGeom prst="rect">
            <a:avLst/>
          </a:prstGeom>
          <a:noFill/>
        </p:spPr>
        <p:txBody>
          <a:bodyPr wrap="square">
            <a:spAutoFit/>
          </a:bodyPr>
          <a:lstStyle/>
          <a:p>
            <a:pPr algn="l"/>
            <a:r>
              <a:rPr sz="750" b="1" i="0">
                <a:solidFill>
                  <a:srgbClr val="6622AA"/>
                </a:solidFill>
                <a:latin typeface="Noto Sans JP"/>
              </a:rPr>
              <a:t>→ 経費精算をシステム化・組織化したい方</a:t>
            </a:r>
          </a:p>
        </p:txBody>
      </p:sp>
      <p:sp>
        <p:nvSpPr>
          <p:cNvPr id="60" name="Rounded Rectangle 59"/>
          <p:cNvSpPr/>
          <p:nvPr/>
        </p:nvSpPr>
        <p:spPr>
          <a:xfrm>
            <a:off x="5943600" y="5084064"/>
            <a:ext cx="6035040" cy="1152144"/>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943600" y="5084064"/>
            <a:ext cx="182880" cy="1152144"/>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217920" y="5166360"/>
            <a:ext cx="210312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17920" y="5148072"/>
            <a:ext cx="2103120" cy="100800"/>
          </a:xfrm>
          <a:prstGeom prst="rect">
            <a:avLst/>
          </a:prstGeom>
          <a:noFill/>
        </p:spPr>
        <p:txBody>
          <a:bodyPr wrap="square">
            <a:spAutoFit/>
          </a:bodyPr>
          <a:lstStyle/>
          <a:p>
            <a:pPr algn="l"/>
            <a:r>
              <a:rPr sz="700" b="1" i="0">
                <a:solidFill>
                  <a:srgbClr val="FFFFFF"/>
                </a:solidFill>
                <a:latin typeface="Noto Sans JP"/>
              </a:rPr>
              <a:t>海外出張・ステータス用途のみ</a:t>
            </a:r>
          </a:p>
        </p:txBody>
      </p:sp>
      <p:sp>
        <p:nvSpPr>
          <p:cNvPr id="64" name="TextBox 63"/>
          <p:cNvSpPr txBox="1"/>
          <p:nvPr/>
        </p:nvSpPr>
        <p:spPr>
          <a:xfrm>
            <a:off x="6217920" y="5449824"/>
            <a:ext cx="5577840" cy="310896"/>
          </a:xfrm>
          <a:prstGeom prst="rect">
            <a:avLst/>
          </a:prstGeom>
          <a:noFill/>
        </p:spPr>
        <p:txBody>
          <a:bodyPr wrap="square">
            <a:spAutoFit/>
          </a:bodyPr>
          <a:lstStyle/>
          <a:p>
            <a:pPr algn="l"/>
            <a:r>
              <a:rPr sz="1300" b="1" i="0">
                <a:solidFill>
                  <a:srgbClr val="1A1A1A"/>
                </a:solidFill>
                <a:latin typeface="Noto Sans JP"/>
              </a:rPr>
              <a:t>AMEX（参考）</a:t>
            </a:r>
          </a:p>
        </p:txBody>
      </p:sp>
      <p:sp>
        <p:nvSpPr>
          <p:cNvPr id="65" name="TextBox 64"/>
          <p:cNvSpPr txBox="1"/>
          <p:nvPr/>
        </p:nvSpPr>
        <p:spPr>
          <a:xfrm>
            <a:off x="6217920" y="5779008"/>
            <a:ext cx="5577840" cy="310896"/>
          </a:xfrm>
          <a:prstGeom prst="rect">
            <a:avLst/>
          </a:prstGeom>
          <a:noFill/>
        </p:spPr>
        <p:txBody>
          <a:bodyPr wrap="square">
            <a:spAutoFit/>
          </a:bodyPr>
          <a:lstStyle/>
          <a:p>
            <a:pPr algn="l"/>
            <a:r>
              <a:rPr sz="800" b="0" i="0">
                <a:solidFill>
                  <a:srgbClr val="444444"/>
                </a:solidFill>
                <a:latin typeface="Noto Sans JP"/>
              </a:rPr>
              <a:t>ブランド力・旅行保険・ラウンジは充実。ただしMFクラウドとのAPI連携が非対応・年会費3.6万円〜のため主軸カードには非推奨。</a:t>
            </a:r>
          </a:p>
        </p:txBody>
      </p:sp>
      <p:sp>
        <p:nvSpPr>
          <p:cNvPr id="66" name="TextBox 65"/>
          <p:cNvSpPr txBox="1"/>
          <p:nvPr/>
        </p:nvSpPr>
        <p:spPr>
          <a:xfrm>
            <a:off x="6217920" y="6089904"/>
            <a:ext cx="5577840" cy="164592"/>
          </a:xfrm>
          <a:prstGeom prst="rect">
            <a:avLst/>
          </a:prstGeom>
          <a:noFill/>
        </p:spPr>
        <p:txBody>
          <a:bodyPr wrap="square">
            <a:spAutoFit/>
          </a:bodyPr>
          <a:lstStyle/>
          <a:p>
            <a:pPr algn="l"/>
            <a:r>
              <a:rPr sz="750" b="1" i="0">
                <a:solidFill>
                  <a:srgbClr val="2255CC"/>
                </a:solidFill>
                <a:latin typeface="Noto Sans JP"/>
              </a:rPr>
              <a:t>→ 海外出張が多い方のサブカードとして</a:t>
            </a:r>
          </a:p>
        </p:txBody>
      </p:sp>
      <p:sp>
        <p:nvSpPr>
          <p:cNvPr id="67" name="TextBox 66"/>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口座開設・クレジットカード発行の代行も承ります。口座1行：30,000円 / 追加口座またはカード発行：各10,000円（すべて税抜）</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09</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よくある質問（FAQ）</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新規顧客からよく頂く質問と回答をまとめました</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09</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09</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よくある質問（FAQ）</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82880" y="1005840"/>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 y="1005840"/>
            <a:ext cx="164592" cy="15727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 y="1097280"/>
            <a:ext cx="198000" cy="19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088136"/>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10" name="TextBox 9"/>
          <p:cNvSpPr txBox="1"/>
          <p:nvPr/>
        </p:nvSpPr>
        <p:spPr>
          <a:xfrm>
            <a:off x="960120" y="1097280"/>
            <a:ext cx="4663440" cy="411480"/>
          </a:xfrm>
          <a:prstGeom prst="rect">
            <a:avLst/>
          </a:prstGeom>
          <a:noFill/>
        </p:spPr>
        <p:txBody>
          <a:bodyPr wrap="square">
            <a:spAutoFit/>
          </a:bodyPr>
          <a:lstStyle/>
          <a:p>
            <a:pPr algn="l"/>
            <a:r>
              <a:rPr sz="1000" b="1" i="0">
                <a:solidFill>
                  <a:srgbClr val="1A1A1A"/>
                </a:solidFill>
                <a:latin typeface="Noto Sans JP"/>
              </a:rPr>
              <a:t>会計ソフトは何を使えばいいですか？</a:t>
            </a:r>
          </a:p>
        </p:txBody>
      </p:sp>
      <p:sp>
        <p:nvSpPr>
          <p:cNvPr id="11" name="Rectangle 10"/>
          <p:cNvSpPr/>
          <p:nvPr/>
        </p:nvSpPr>
        <p:spPr>
          <a:xfrm>
            <a:off x="438912" y="1673352"/>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1664208"/>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13" name="TextBox 12"/>
          <p:cNvSpPr txBox="1"/>
          <p:nvPr/>
        </p:nvSpPr>
        <p:spPr>
          <a:xfrm>
            <a:off x="960120" y="1673352"/>
            <a:ext cx="4663440" cy="777240"/>
          </a:xfrm>
          <a:prstGeom prst="rect">
            <a:avLst/>
          </a:prstGeom>
          <a:noFill/>
        </p:spPr>
        <p:txBody>
          <a:bodyPr wrap="square">
            <a:spAutoFit/>
          </a:bodyPr>
          <a:lstStyle/>
          <a:p>
            <a:pPr algn="l"/>
            <a:r>
              <a:rPr sz="850" b="0" i="0">
                <a:solidFill>
                  <a:srgbClr val="444444"/>
                </a:solidFill>
                <a:latin typeface="Noto Sans JP"/>
              </a:rPr>
              <a:t>当事務所ではMFクラウド会計を推奨しております。銀行・クレカと自動連携でき、月次仕訳を大幅に効率化できます。初期設定は当事務所が一緒に行いますのでご安心ください。</a:t>
            </a:r>
          </a:p>
        </p:txBody>
      </p:sp>
      <p:sp>
        <p:nvSpPr>
          <p:cNvPr id="14" name="Rounded Rectangle 13"/>
          <p:cNvSpPr/>
          <p:nvPr/>
        </p:nvSpPr>
        <p:spPr>
          <a:xfrm>
            <a:off x="6035040" y="1005840"/>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005840"/>
            <a:ext cx="164592" cy="1572768"/>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91072" y="1097280"/>
            <a:ext cx="198000" cy="1980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91072" y="1088136"/>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18" name="TextBox 17"/>
          <p:cNvSpPr txBox="1"/>
          <p:nvPr/>
        </p:nvSpPr>
        <p:spPr>
          <a:xfrm>
            <a:off x="6812280" y="1097280"/>
            <a:ext cx="4663440" cy="411480"/>
          </a:xfrm>
          <a:prstGeom prst="rect">
            <a:avLst/>
          </a:prstGeom>
          <a:noFill/>
        </p:spPr>
        <p:txBody>
          <a:bodyPr wrap="square">
            <a:spAutoFit/>
          </a:bodyPr>
          <a:lstStyle/>
          <a:p>
            <a:pPr algn="l"/>
            <a:r>
              <a:rPr sz="1000" b="1" i="0">
                <a:solidFill>
                  <a:srgbClr val="1A1A1A"/>
                </a:solidFill>
                <a:latin typeface="Noto Sans JP"/>
              </a:rPr>
              <a:t>領収書や請求書はどう管理すればいいですか？</a:t>
            </a:r>
          </a:p>
        </p:txBody>
      </p:sp>
      <p:sp>
        <p:nvSpPr>
          <p:cNvPr id="19" name="Rectangle 18"/>
          <p:cNvSpPr/>
          <p:nvPr/>
        </p:nvSpPr>
        <p:spPr>
          <a:xfrm>
            <a:off x="6291072" y="1673352"/>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1072" y="1664208"/>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21" name="TextBox 20"/>
          <p:cNvSpPr txBox="1"/>
          <p:nvPr/>
        </p:nvSpPr>
        <p:spPr>
          <a:xfrm>
            <a:off x="6812280" y="1673352"/>
            <a:ext cx="4663440" cy="777240"/>
          </a:xfrm>
          <a:prstGeom prst="rect">
            <a:avLst/>
          </a:prstGeom>
          <a:noFill/>
        </p:spPr>
        <p:txBody>
          <a:bodyPr wrap="square">
            <a:spAutoFit/>
          </a:bodyPr>
          <a:lstStyle/>
          <a:p>
            <a:pPr algn="l"/>
            <a:r>
              <a:rPr sz="850" b="0" i="0">
                <a:solidFill>
                  <a:srgbClr val="444444"/>
                </a:solidFill>
                <a:latin typeface="Noto Sans JP"/>
              </a:rPr>
              <a:t>電子取引のデータは原則データでの保存が必要です（電子帳簿保存法）。紙の領収書はMFクラウドでの写真保存が便利です。まずは「捨てない」「専用の箱に入れる」ことから始めてみてください。</a:t>
            </a:r>
          </a:p>
        </p:txBody>
      </p:sp>
      <p:sp>
        <p:nvSpPr>
          <p:cNvPr id="22" name="Rounded Rectangle 21"/>
          <p:cNvSpPr/>
          <p:nvPr/>
        </p:nvSpPr>
        <p:spPr>
          <a:xfrm>
            <a:off x="182880" y="2633472"/>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82880" y="2633472"/>
            <a:ext cx="164592" cy="1572768"/>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8912" y="2724912"/>
            <a:ext cx="198000" cy="1980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 y="2715768"/>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26" name="TextBox 25"/>
          <p:cNvSpPr txBox="1"/>
          <p:nvPr/>
        </p:nvSpPr>
        <p:spPr>
          <a:xfrm>
            <a:off x="960120" y="2724912"/>
            <a:ext cx="4663440" cy="411480"/>
          </a:xfrm>
          <a:prstGeom prst="rect">
            <a:avLst/>
          </a:prstGeom>
          <a:noFill/>
        </p:spPr>
        <p:txBody>
          <a:bodyPr wrap="square">
            <a:spAutoFit/>
          </a:bodyPr>
          <a:lstStyle/>
          <a:p>
            <a:pPr algn="l"/>
            <a:r>
              <a:rPr sz="1000" b="1" i="0">
                <a:solidFill>
                  <a:srgbClr val="1A1A1A"/>
                </a:solidFill>
                <a:latin typeface="Noto Sans JP"/>
              </a:rPr>
              <a:t>消費税の免税はいつまで続きますか？</a:t>
            </a:r>
          </a:p>
        </p:txBody>
      </p:sp>
      <p:sp>
        <p:nvSpPr>
          <p:cNvPr id="27" name="Rectangle 26"/>
          <p:cNvSpPr/>
          <p:nvPr/>
        </p:nvSpPr>
        <p:spPr>
          <a:xfrm>
            <a:off x="438912" y="3300984"/>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 y="3291840"/>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29" name="TextBox 28"/>
          <p:cNvSpPr txBox="1"/>
          <p:nvPr/>
        </p:nvSpPr>
        <p:spPr>
          <a:xfrm>
            <a:off x="960120" y="3300984"/>
            <a:ext cx="4663440" cy="777240"/>
          </a:xfrm>
          <a:prstGeom prst="rect">
            <a:avLst/>
          </a:prstGeom>
          <a:noFill/>
        </p:spPr>
        <p:txBody>
          <a:bodyPr wrap="square">
            <a:spAutoFit/>
          </a:bodyPr>
          <a:lstStyle/>
          <a:p>
            <a:pPr algn="l"/>
            <a:r>
              <a:rPr sz="850" b="0" i="0">
                <a:solidFill>
                  <a:srgbClr val="444444"/>
                </a:solidFill>
                <a:latin typeface="Noto Sans JP"/>
              </a:rPr>
              <a:t>原則、設立後2期は免税となります（資本金1,000万円未満・特定期間売上1,000万円以下の場合）。ただしインボイス登録をされると、免税期間中でも課税事業者となりますのでご注意ください。</a:t>
            </a:r>
          </a:p>
        </p:txBody>
      </p:sp>
      <p:sp>
        <p:nvSpPr>
          <p:cNvPr id="30" name="Rounded Rectangle 29"/>
          <p:cNvSpPr/>
          <p:nvPr/>
        </p:nvSpPr>
        <p:spPr>
          <a:xfrm>
            <a:off x="6035040" y="2633472"/>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35040" y="2633472"/>
            <a:ext cx="164592" cy="15727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91072" y="2724912"/>
            <a:ext cx="198000" cy="19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91072" y="2715768"/>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34" name="TextBox 33"/>
          <p:cNvSpPr txBox="1"/>
          <p:nvPr/>
        </p:nvSpPr>
        <p:spPr>
          <a:xfrm>
            <a:off x="6812280" y="2724912"/>
            <a:ext cx="4663440" cy="411480"/>
          </a:xfrm>
          <a:prstGeom prst="rect">
            <a:avLst/>
          </a:prstGeom>
          <a:noFill/>
        </p:spPr>
        <p:txBody>
          <a:bodyPr wrap="square">
            <a:spAutoFit/>
          </a:bodyPr>
          <a:lstStyle/>
          <a:p>
            <a:pPr algn="l"/>
            <a:r>
              <a:rPr sz="1000" b="1" i="0">
                <a:solidFill>
                  <a:srgbClr val="1A1A1A"/>
                </a:solidFill>
                <a:latin typeface="Noto Sans JP"/>
              </a:rPr>
              <a:t>役員報酬はいつでも変更できますか？</a:t>
            </a:r>
          </a:p>
        </p:txBody>
      </p:sp>
      <p:sp>
        <p:nvSpPr>
          <p:cNvPr id="35" name="Rectangle 34"/>
          <p:cNvSpPr/>
          <p:nvPr/>
        </p:nvSpPr>
        <p:spPr>
          <a:xfrm>
            <a:off x="6291072" y="3300984"/>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1072" y="3291840"/>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37" name="TextBox 36"/>
          <p:cNvSpPr txBox="1"/>
          <p:nvPr/>
        </p:nvSpPr>
        <p:spPr>
          <a:xfrm>
            <a:off x="6812280" y="3300984"/>
            <a:ext cx="4663440" cy="777240"/>
          </a:xfrm>
          <a:prstGeom prst="rect">
            <a:avLst/>
          </a:prstGeom>
          <a:noFill/>
        </p:spPr>
        <p:txBody>
          <a:bodyPr wrap="square">
            <a:spAutoFit/>
          </a:bodyPr>
          <a:lstStyle/>
          <a:p>
            <a:pPr algn="l"/>
            <a:r>
              <a:rPr sz="850" b="0" i="0">
                <a:solidFill>
                  <a:srgbClr val="444444"/>
                </a:solidFill>
                <a:latin typeface="Noto Sans JP"/>
              </a:rPr>
              <a:t>定期同額給与として損金算入するには、事業年度開始から3ヶ月以内に変更する必要があります。期間外の変更分は損金不算入となります。変更をご検討の際は、必ず事前にご相談ください。</a:t>
            </a:r>
          </a:p>
        </p:txBody>
      </p:sp>
      <p:sp>
        <p:nvSpPr>
          <p:cNvPr id="38" name="Rounded Rectangle 37"/>
          <p:cNvSpPr/>
          <p:nvPr/>
        </p:nvSpPr>
        <p:spPr>
          <a:xfrm>
            <a:off x="182880" y="4261104"/>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82880" y="4261104"/>
            <a:ext cx="164592" cy="1572768"/>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38912" y="4352544"/>
            <a:ext cx="198000" cy="1980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8912" y="4343400"/>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42" name="TextBox 41"/>
          <p:cNvSpPr txBox="1"/>
          <p:nvPr/>
        </p:nvSpPr>
        <p:spPr>
          <a:xfrm>
            <a:off x="960120" y="4352544"/>
            <a:ext cx="4663440" cy="411480"/>
          </a:xfrm>
          <a:prstGeom prst="rect">
            <a:avLst/>
          </a:prstGeom>
          <a:noFill/>
        </p:spPr>
        <p:txBody>
          <a:bodyPr wrap="square">
            <a:spAutoFit/>
          </a:bodyPr>
          <a:lstStyle/>
          <a:p>
            <a:pPr algn="l"/>
            <a:r>
              <a:rPr sz="1000" b="1" i="0">
                <a:solidFill>
                  <a:srgbClr val="1A1A1A"/>
                </a:solidFill>
                <a:latin typeface="Noto Sans JP"/>
              </a:rPr>
              <a:t>赤字でも税金はかかりますか？</a:t>
            </a:r>
          </a:p>
        </p:txBody>
      </p:sp>
      <p:sp>
        <p:nvSpPr>
          <p:cNvPr id="43" name="Rectangle 42"/>
          <p:cNvSpPr/>
          <p:nvPr/>
        </p:nvSpPr>
        <p:spPr>
          <a:xfrm>
            <a:off x="438912" y="4928616"/>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38912" y="4919472"/>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45" name="TextBox 44"/>
          <p:cNvSpPr txBox="1"/>
          <p:nvPr/>
        </p:nvSpPr>
        <p:spPr>
          <a:xfrm>
            <a:off x="960120" y="4928616"/>
            <a:ext cx="4663440" cy="777240"/>
          </a:xfrm>
          <a:prstGeom prst="rect">
            <a:avLst/>
          </a:prstGeom>
          <a:noFill/>
        </p:spPr>
        <p:txBody>
          <a:bodyPr wrap="square">
            <a:spAutoFit/>
          </a:bodyPr>
          <a:lstStyle/>
          <a:p>
            <a:pPr algn="l"/>
            <a:r>
              <a:rPr sz="850" b="0" i="0">
                <a:solidFill>
                  <a:srgbClr val="444444"/>
                </a:solidFill>
                <a:latin typeface="Noto Sans JP"/>
              </a:rPr>
              <a:t>法人税・事業税は所得ゼロであれば課税されませんが、法人住民税の均等割（年約7万円〜）は赤字でも発生いたします。また消費税は売上・仕入の状況により別途課税される場合がございます。</a:t>
            </a:r>
          </a:p>
        </p:txBody>
      </p:sp>
      <p:sp>
        <p:nvSpPr>
          <p:cNvPr id="46" name="Rounded Rectangle 45"/>
          <p:cNvSpPr/>
          <p:nvPr/>
        </p:nvSpPr>
        <p:spPr>
          <a:xfrm>
            <a:off x="6035040" y="4261104"/>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035040" y="4261104"/>
            <a:ext cx="164592" cy="1572768"/>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91072" y="4352544"/>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91072" y="4343400"/>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50" name="TextBox 49"/>
          <p:cNvSpPr txBox="1"/>
          <p:nvPr/>
        </p:nvSpPr>
        <p:spPr>
          <a:xfrm>
            <a:off x="6812280" y="4352544"/>
            <a:ext cx="4663440" cy="411480"/>
          </a:xfrm>
          <a:prstGeom prst="rect">
            <a:avLst/>
          </a:prstGeom>
          <a:noFill/>
        </p:spPr>
        <p:txBody>
          <a:bodyPr wrap="square">
            <a:spAutoFit/>
          </a:bodyPr>
          <a:lstStyle/>
          <a:p>
            <a:pPr algn="l"/>
            <a:r>
              <a:rPr sz="1000" b="1" i="0">
                <a:solidFill>
                  <a:srgbClr val="1A1A1A"/>
                </a:solidFill>
                <a:latin typeface="Noto Sans JP"/>
              </a:rPr>
              <a:t>SEVENRICHには何をお任せできますか？</a:t>
            </a:r>
          </a:p>
        </p:txBody>
      </p:sp>
      <p:sp>
        <p:nvSpPr>
          <p:cNvPr id="51" name="Rectangle 50"/>
          <p:cNvSpPr/>
          <p:nvPr/>
        </p:nvSpPr>
        <p:spPr>
          <a:xfrm>
            <a:off x="6291072" y="4928616"/>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1072" y="4919472"/>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53" name="TextBox 52"/>
          <p:cNvSpPr txBox="1"/>
          <p:nvPr/>
        </p:nvSpPr>
        <p:spPr>
          <a:xfrm>
            <a:off x="6812280" y="4928616"/>
            <a:ext cx="4663440" cy="777240"/>
          </a:xfrm>
          <a:prstGeom prst="rect">
            <a:avLst/>
          </a:prstGeom>
          <a:noFill/>
        </p:spPr>
        <p:txBody>
          <a:bodyPr wrap="square">
            <a:spAutoFit/>
          </a:bodyPr>
          <a:lstStyle/>
          <a:p>
            <a:pPr algn="l"/>
            <a:r>
              <a:rPr sz="850" b="0" i="0">
                <a:solidFill>
                  <a:srgbClr val="444444"/>
                </a:solidFill>
                <a:latin typeface="Noto Sans JP"/>
              </a:rPr>
              <a:t>月次仕訳チェック・試算表作成・税務相談・決算申告・給与計算サポートなどをご提供しております。経営判断に関わる数字のご相談も、いつでもお気軽にお声がけください。</a:t>
            </a:r>
          </a:p>
        </p:txBody>
      </p:sp>
      <p:sp>
        <p:nvSpPr>
          <p:cNvPr id="54" name="TextBox 53"/>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ご不明な点は何でもお気軽にご相談ください。  SEVENRICH 会計事務所  ｜  専用 Slack チャンネルよりご連絡ください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828800"/>
            <a:ext cx="10058400" cy="914400"/>
          </a:xfrm>
          <a:prstGeom prst="rect">
            <a:avLst/>
          </a:prstGeom>
          <a:noFill/>
        </p:spPr>
        <p:txBody>
          <a:bodyPr wrap="square">
            <a:spAutoFit/>
          </a:bodyPr>
          <a:lstStyle/>
          <a:p>
            <a:pPr algn="ctr"/>
            <a:r>
              <a:rPr sz="3200" b="1" i="0">
                <a:solidFill>
                  <a:srgbClr val="FFFFFF"/>
                </a:solidFill>
                <a:latin typeface="Noto Sans JP"/>
              </a:rPr>
              <a:t>ともに、成長してまいりましょう。</a:t>
            </a:r>
          </a:p>
        </p:txBody>
      </p:sp>
      <p:sp>
        <p:nvSpPr>
          <p:cNvPr id="4" name="TextBox 3"/>
          <p:cNvSpPr txBox="1"/>
          <p:nvPr/>
        </p:nvSpPr>
        <p:spPr>
          <a:xfrm>
            <a:off x="1371600" y="2834640"/>
            <a:ext cx="9418320" cy="731520"/>
          </a:xfrm>
          <a:prstGeom prst="rect">
            <a:avLst/>
          </a:prstGeom>
          <a:noFill/>
        </p:spPr>
        <p:txBody>
          <a:bodyPr wrap="square">
            <a:spAutoFit/>
          </a:bodyPr>
          <a:lstStyle/>
          <a:p>
            <a:pPr algn="ctr"/>
            <a:r>
              <a:rPr sz="1200" b="0" i="0">
                <a:solidFill>
                  <a:srgbClr val="888888"/>
                </a:solidFill>
                <a:latin typeface="Noto Sans JP"/>
              </a:rPr>
              <a:t>ご不明な点・ご相談はいつでもお気軽にお声がけください。
些細なことでも、早めのご相談ほどより多くのご提案ができます。</a:t>
            </a:r>
          </a:p>
        </p:txBody>
      </p:sp>
      <p:sp>
        <p:nvSpPr>
          <p:cNvPr id="5" name="Rectangle 4"/>
          <p:cNvSpPr/>
          <p:nvPr/>
        </p:nvSpPr>
        <p:spPr>
          <a:xfrm>
            <a:off x="3017520" y="3931920"/>
            <a:ext cx="6126480" cy="164592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017520" y="3931920"/>
            <a:ext cx="6126480" cy="54864"/>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17520" y="4023360"/>
            <a:ext cx="6126480" cy="411480"/>
          </a:xfrm>
          <a:prstGeom prst="rect">
            <a:avLst/>
          </a:prstGeom>
          <a:noFill/>
        </p:spPr>
        <p:txBody>
          <a:bodyPr wrap="square">
            <a:spAutoFit/>
          </a:bodyPr>
          <a:lstStyle/>
          <a:p>
            <a:pPr algn="ctr"/>
            <a:r>
              <a:rPr sz="1500" b="1" i="0">
                <a:solidFill>
                  <a:srgbClr val="FFFFFF"/>
                </a:solidFill>
                <a:latin typeface="Noto Sans JP"/>
              </a:rPr>
              <a:t>SEVENRICH 会計事務所</a:t>
            </a:r>
          </a:p>
        </p:txBody>
      </p:sp>
      <p:sp>
        <p:nvSpPr>
          <p:cNvPr id="8" name="TextBox 7"/>
          <p:cNvSpPr txBox="1"/>
          <p:nvPr/>
        </p:nvSpPr>
        <p:spPr>
          <a:xfrm>
            <a:off x="3017520" y="4526280"/>
            <a:ext cx="6126480" cy="365760"/>
          </a:xfrm>
          <a:prstGeom prst="rect">
            <a:avLst/>
          </a:prstGeom>
          <a:noFill/>
        </p:spPr>
        <p:txBody>
          <a:bodyPr wrap="square">
            <a:spAutoFit/>
          </a:bodyPr>
          <a:lstStyle/>
          <a:p>
            <a:pPr algn="ctr"/>
            <a:r>
              <a:rPr sz="1100" b="0" i="0">
                <a:solidFill>
                  <a:srgbClr val="888888"/>
                </a:solidFill>
                <a:latin typeface="Noto Sans JP"/>
              </a:rPr>
              <a:t>専用 Slack チャンネルよりお気軽にご連絡ください</a:t>
            </a:r>
          </a:p>
        </p:txBody>
      </p:sp>
      <p:sp>
        <p:nvSpPr>
          <p:cNvPr id="9" name="TextBox 8"/>
          <p:cNvSpPr txBox="1"/>
          <p:nvPr/>
        </p:nvSpPr>
        <p:spPr>
          <a:xfrm>
            <a:off x="274320" y="6400800"/>
            <a:ext cx="2743200" cy="320040"/>
          </a:xfrm>
          <a:prstGeom prst="rect">
            <a:avLst/>
          </a:prstGeom>
          <a:noFill/>
        </p:spPr>
        <p:txBody>
          <a:bodyPr wrap="square">
            <a:spAutoFit/>
          </a:bodyPr>
          <a:lstStyle/>
          <a:p>
            <a:pPr algn="l"/>
            <a:r>
              <a:rPr sz="900" b="0" i="0">
                <a:solidFill>
                  <a:srgbClr val="555555"/>
                </a:solidFill>
                <a:latin typeface="Noto Sans JP"/>
              </a:rPr>
              <a:t>2026年版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